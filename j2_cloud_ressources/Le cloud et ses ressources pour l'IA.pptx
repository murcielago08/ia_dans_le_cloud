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23.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513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cours réunit les principes fondamentaux du cloud (types de cloud, modèles de service, calcul, réseau, stockage) et leur application concrète aux projets d'IA chez les principaux fournisseurs.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cinq objectifs. Insister sur le fil rouge : à chaque notion générale (calcul, réseau, stockage), on regarde comment elle se décline chez les fournisseurs et ce qu'elle implique pour un projet d'IA.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parties. Les trois parties centrales (calcul, réseau, stockage) sont les trois familles de ressources que l'on retrouve chez tous les fournisseurs. La dernière partie applique tout cela à un projet d'IA et se termine par l'exercice.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 stockage et réseau sont les trois familles de ressources qui structurent la suite du cours. Les trois propriétés en bas de slide expliquent pourquoi le cloud change la façon de concevoir une infrastructure : on ne dimensionne plus pour le pic, on suit le besoin.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d'abord répondre la salle aux trois questions avant d'afficher les réponses. Point de vigilance : le cloud n'est pas automatiquement moins cher. Pour une charge stable et prévisible sur plusieurs années, du matériel acheté peut revenir moins cher, et certaines entreprises rapatrient une partie de leurs charges on-premise. L'arbitrage se fait au cas par cas.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schéma : avec du matériel acheté (ligne pointillée), on est soit en sous-capacité pendant l'entraînement (au-dessus de la ligne), soit en surcapacité inutilisée pendant l'inférence (en dessous). Le cloud permet de suivre la courbe. La forme de la courbe est illustrative : elle montre une tendance, pas des valeurs mesurées.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public : même en mutualisé, on peut réserver des serveurs dédiés si besoin. Cloud privé interne : coût initial, maintenance, gestion de la scalabilité et besoin de compétences fortes. Cloud privé externe : machines hébergées chez un provider mais dédiées et encadrées par contrat. Le multi-cloud est souvent choisi pour éviter la dépendance à un seul fournisseur, au prix d'une complexité accrue.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modèle de responsabilité partagée. Plus on va vers la droite, plus le fournisseur prend en charge de couches : on gagne en simplicité, on perd en contrôle fin. Les données restent toujours sous votre responsabilité, même en SaaS. Cas limite : le Kubernetes managé (EKS, AKS, GKE) est souvent classé en PaaS, mais on gère encore une partie des nœuds ; on parle aussi de CaaS (Container as a Service), entre IaaS et PaaS. Exemples IaaS : AWS EC2, Google Compute Engine, Azure Virtual Machines. PaaS : Red Hat OpenShift, Azure App Service, Google App Engine. SaaS : Microsoft 365, Gmail, Salesforce, ou l'API d'un modèle déjà entraîné.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Concevoir cloud native permet de profiter au maximum du paiement à l'usage, de la scalabilité et de la gestion multi-instances. Chaque micro-service joue un rôle bien défini et est souvent packagé dans un conteneur (Docker). Mais un micro-service n'est indépendant que si ses données et ses interfaces le sont : des services qui partagent la même base ou s'appellent en chaîne recréent un monolithe distribué, plus difficile à opérer. Ensuite : adapter le type de cloud et de ressource au besoin, monitorer ses usages et faire évoluer l'infrastructure.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parts de marché évoluent chaque trimestre : ce sont des ordres de grandeur. Le périmètre mesuré par Synergy couvre l'IaaS, le PaaS et le cloud privé hébergé.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d'un fournisseur n'est pas que technique : pour des données de santé, des données publiques sensibles ou un système d'IA à haut risque, le cadre juridique peut imposer un hébergement qualifié. Le Cloud Act explique pourquoi la localisation des données en Europe ne suffit pas toujours : c'est la nationalité du fournisseur qui compte. Ces acteurs font partie des choix possibles pour l'exercice de fin de cours.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vocabulaire est commun aux trois grands fournisseurs. Le choix de la région a aussi un impact juridique (où sont stockées les données), de latence (proximité des utilisateurs) et de prix (les tarifs varient d'une région à l'autre). Toutes les régions Azure n'ont pas de zones de disponibilité. C'est le même principe de résilience que la répartition des pods sur plusieurs nœuds dans Kubernetes.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VM est un ordinateur logiciel, instancié et géré par l'hyperviseur qui lui alloue des ressources. Elle permet de faire tourner différents OS sur le même matériel (macOS fait exception : sa licence impose du matériel Apple). Un conteneur virtualise l'OS et non le matériel : les namespaces isolent les processus, le système de fichiers et le réseau, les cgroups limitent le CPU et la mémoire. Conséquence : un conteneur Linux a besoin d'un noyau Linux, c'est pourquoi Docker Desktop sous Windows ou Mac s'appuie sur une VM. Dans le cloud, les conteneurs tournent le plus souvent dans des VMs : les deux approches se combinent.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clouds publics utilisent des hyperviseurs de type 1 : c'est ce qui permet de découper un serveur physique en VMs louées à plusieurs clients. L'option « bare metal » chez un fournisseur, c'est l'inverse : on loue le serveur physique entier, sans hyperviseur partagé. Piège classique : WSL2 sous Windows n'est pas un exemple de type 2, il repose sur Hyper-V, qui est de type 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 AKS et GKE sont le Kubernetes managé vu au cours précédent : le fournisseur héberge et maintient le control plane, vous gérez vos workloads. Fargate n'est pas « sans cluster » au sens strict : c'est un moteur d'exécution pour ECS ou EKS, dans lequel vous ne gérez aucun serveur. Cloud Functions s'appelle désormais Cloud Run functions chez Google.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l'axe de gauche à droite : à chaque étape, le fournisseur prend en charge une couche de plus. Le bon choix dépend du composant : un entraînement long sur GPU a besoin de contrôle, une API d'inférence au trafic irrégulier profite du serverless.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noms d'instances changent à chaque génération de GPU : retenir la logique (familles entraînement / inférence / puces maison) plutôt que les références. Pour l'estimation de coût de l'exercice, comparer des instances de gamme équivalente, dans la même région, au tarif à la demande.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schéma de gauche à droite. Le trafic entrant passe par l'Internet Gateway puis le load balancer, seul composant exposé, dans un subnet public. L'application et la base de données sont dans des subnets privés : elles n'ont pas d'adresse publique. Pour sortir vers Internet (mises à jour, appels d'API), l'application passe par la NAT Gateway, qui ne laisse rien entrer. Chaque couche est dupliquée sur deux zones de disponibilité pour résister à une panne. Équivalents : VPC chez AWS et Google Cloud, Virtual Network (VNet) chez Azure.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VPC abstrait une grande partie de la complexité réseau : pas de câblage ni d'équipements physiques, mais les mêmes concepts qu'un réseau d'entreprise. La règle de conception reste toujours la même : configurer selon les besoins et les contraintes, et n'exposer que le strict nécessaire. Un chevauchement de plages d'adresses devient bloquant le jour où l'on veut relier le VPC à un réseau on-premise ou à un autre VPC.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couches complémentaires : le firewall filtre le trafic réseau, l'IAM contrôle les actions sur les ressources. Exemple du schéma : le service d'entraînement a seulement le droit de lire le bucket de données. S'il est compromis ou bogué, il ne peut pas supprimer le dataset. Équivalents : IAM chez AWS et Google Cloud, Microsoft Entra ID et RBAC chez Azure.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aussi distinguer le stockage temporaire (instance store, disque local) qui disparaît à l'arrêt de la VM, du stockage permanent présenté ici. Le stockage objet a une latence plus élevée mais un débit massif : c'est la base des data lakes (S3, ADLS, GCS) et des moteurs analytiques modernes. Facturation : on paie l'espace consommé, la classe de stockage (chaud, froid, archive) et les frais de sortie des données (egress), souvent oubliés.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un bucket, un objet est en réalité répliqué sur plusieurs serveurs physiques : la durabilité et la disponibilité sont excellentes. Mais la réplication recopie aussi les erreurs : une suppression ou un fichier corrompu est répliqué partout en quelques secondes. Les snapshots sont souvent incrémentaux (seules les modifications sont stockées). Le versioning d'un bucket est proche de l'idée de git : on garde l'historique de chaque objet.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logique que pour IaaS / PaaS : la DBaaS abstrait la complexité technique et réduit la responsabilité du client. Les performances d'une base managée sont généralement bonnes ; le vrai compromis porte sur le contrôle (versions, extensions, paramètres), la dépendance au fournisseur et le coût. Avec une DBaaS, vous choisissez encore la fenêtre de sauvegarde et la durée de rétention.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schéma relie tout le cours : le stockage objet (partie 5) alimente l'entraînement sur GPU (partie 3), le tout dans un VPC avec des droits IAM minimaux (partie 4). Les plateformes ML managées (slide suivante) couvrent les étapes 2 à 5 dans une même interface. La boucle se referme en production : si les données réelles dérivent, on réentraîne le modèle.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étudiants trouveront encore beaucoup de tutoriels qui parlent de Vertex AI : c'est le même service, renommé et élargi par Google en avril 2026 (Google Cloud Next '26). Microsoft Foundry est l'ancien Azure AI Foundry. Ces catalogues évoluent vite : retenir la fonction (une plateforme qui couvre tout le cycle de vie d'un modèle), pas le nom.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niveau SaaS du schéma IaaS / PaaS / SaaS appliqué à l'IA. Les modèles de fondation couvrent aujourd'hui une partie des usages des services spécialisés (vision, langage) : le choix se fait sur le coût, la latence, la précision attendue et les contraintes de confidentialité des données envoyées.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est qualitatif : il montre une tendance, pas des prix. Le choix se fait selon la tolérance du workload à l'interruption. Un entraînement qui sauvegarde régulièrement son état (checkpoints) peut reprendre là où il s'était arrêté si l'instance spot est reprise. Une API d'inférence en production doit rester disponible : on évite le spot. Les niveaux gratuits des fournisseurs n'incluent pas de GPU.</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Maîtriser un fournisseur en profondeur facilite beaucoup l'apprentissage des autres : les concepts (région, VPC, IAM, stockage objet) sont communs, seuls les noms changent. Entraîner un modèle, déployer une API existante ou intégrer un service IA managé sont trois besoins différents, qui n'orientent pas forcément vers le même fournisseur ni le même niveau de service.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Revenir sur les sept points avec la salle avant de lancer l'exercice. Bon test : demander pour chaque point l'exemple concret vu dans le cours.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Fixer la même configuration de référence pour l'estimation de coût (région, gamme de GPU, durée, tarif à la demande) pour que les groupes puissent comparer leurs résultats. Bon courage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groupes ont à peine commencé le fil rouge : on attend une première architecture argumentée avec les notions du cours, pas une solution mesurée. Chaque point d'interrogation est un choix à justifier. Éléments attendus : un fournisseur européen ou qualifié SecNumCloud, ou un hyperscaler en région UE avec une analyse du Cloud Act ; les fichiers en stockage objet avec suppression automatique ; une file d'attente avec des workers et un statut par traitement (qui donne aussi les métriques non terminées et échouées) ; le choix CPU ou GPU justifié par le délai et les 10 traitements en parallèle (la mesure viendra plus tard dans le projet) ; des subnets privés pour les workers et la base, l'IAM au moindre privilège ; une politique de redémarrage automatique. Le levier principal pour tenir le budget est d'éteindre ou de réduire le calcul hors heures ouvrées : les groupes doivent le découvrir en interrogeant le PO.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les questions entre les trois membres du groupe pour gagner du temps : un sur le fournisseur et le coût, un sur le calcul, un sur le stockage et le réseau. Si un groupe est bloqué, le renvoyer à la slide indiquée plutôt que de donner la réponse.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58"/>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231B3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8797"/>
            <a:ext cx="10566400" cy="4216403"/>
          </a:xfrm>
          <a:prstGeom prst="rect">
            <a:avLst/>
          </a:prstGeom>
          <a:noFill/>
          <a:ln/>
        </p:spPr>
        <p:txBody>
          <a:bodyPr wrap="square" lIns="0" tIns="0" rIns="0" bIns="0" rtlCol="0" anchor="t"/>
          <a:lstStyle>
            <a:lvl1pPr marL="0" indent="0" algn="l">
              <a:lnSpc>
                <a:spcPct val="140000"/>
              </a:lnSpc>
              <a:buNone/>
              <a:defRPr lang="en-US" sz="1600" dirty="0">
                <a:solidFill>
                  <a:srgbClr val="231B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58"/>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231B3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8797"/>
            <a:ext cx="10566400" cy="4216403"/>
          </a:xfrm>
          <a:prstGeom prst="rect">
            <a:avLst/>
          </a:prstGeom>
          <a:noFill/>
          <a:ln/>
        </p:spPr>
        <p:txBody>
          <a:bodyPr wrap="square" lIns="0" tIns="0" rIns="0" bIns="0" rtlCol="0" anchor="t"/>
          <a:lstStyle>
            <a:lvl1pPr marL="0" indent="0" algn="l">
              <a:lnSpc>
                <a:spcPct val="140000"/>
              </a:lnSpc>
              <a:buNone/>
              <a:defRPr lang="en-US" sz="1600" dirty="0">
                <a:solidFill>
                  <a:srgbClr val="231B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53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6" b="-6"/>
          <a:stretch/>
        </p:blipFill>
        <p:spPr>
          <a:xfrm>
            <a:off x="6731000" y="0"/>
            <a:ext cx="5461000" cy="6858000"/>
          </a:xfrm>
          <a:prstGeom prst="rect">
            <a:avLst/>
          </a:prstGeom>
        </p:spPr>
      </p:pic>
      <p:sp>
        <p:nvSpPr>
          <p:cNvPr id="3" name="Text 0"/>
          <p:cNvSpPr/>
          <p:nvPr/>
        </p:nvSpPr>
        <p:spPr>
          <a:xfrm>
            <a:off x="812800" y="2150110"/>
            <a:ext cx="7194550"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7FD3DF"/>
                </a:solidFill>
                <a:latin typeface="IBM Plex Sans" pitchFamily="34" charset="0"/>
                <a:ea typeface="IBM Plex Sans" pitchFamily="34" charset="-122"/>
                <a:cs typeface="IBM Plex Sans" pitchFamily="34" charset="-120"/>
              </a:rPr>
              <a:t>MODULE : L'IA DANS LE CLOUD</a:t>
            </a:r>
            <a:endParaRPr lang="en-US" sz="1400" dirty="0"/>
          </a:p>
        </p:txBody>
      </p:sp>
      <p:sp>
        <p:nvSpPr>
          <p:cNvPr id="4" name="Text 1"/>
          <p:cNvSpPr>
            <a:spLocks noGrp="1"/>
          </p:cNvSpPr>
          <p:nvPr>
            <p:ph type="title"/>
          </p:nvPr>
        </p:nvSpPr>
        <p:spPr>
          <a:xfrm>
            <a:off x="812800" y="2551430"/>
            <a:ext cx="7194550" cy="141224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4F1FA"/>
                </a:solidFill>
                <a:latin typeface="IBM Plex Sans" pitchFamily="34" charset="0"/>
                <a:ea typeface="IBM Plex Sans" pitchFamily="34" charset="-122"/>
                <a:cs typeface="IBM Plex Sans" pitchFamily="34" charset="-120"/>
              </a:rPr>
              <a:t>Le cloud et ses ressources pour l'IA</a:t>
            </a:r>
            <a:endParaRPr lang="en-US" sz="5200" dirty="0"/>
          </a:p>
        </p:txBody>
      </p:sp>
      <p:sp>
        <p:nvSpPr>
          <p:cNvPr id="5" name="Text 2"/>
          <p:cNvSpPr/>
          <p:nvPr/>
        </p:nvSpPr>
        <p:spPr>
          <a:xfrm>
            <a:off x="812800" y="4090670"/>
            <a:ext cx="7194550" cy="64262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C9C1E0"/>
                </a:solidFill>
                <a:latin typeface="IBM Plex Sans" pitchFamily="34" charset="0"/>
                <a:ea typeface="IBM Plex Sans" pitchFamily="34" charset="-122"/>
                <a:cs typeface="IBM Plex Sans" pitchFamily="34" charset="-120"/>
              </a:rPr>
              <a:t>Principes fondamentaux, AWS, Azure et Google Cloud, et les ressources qui font tourner l'IA aujourd'hui</a:t>
            </a:r>
            <a:endParaRPr lang="en-US" sz="1800" dirty="0"/>
          </a:p>
        </p:txBody>
      </p:sp>
      <p:sp>
        <p:nvSpPr>
          <p:cNvPr id="6" name="Text 3"/>
          <p:cNvSpPr/>
          <p:nvPr/>
        </p:nvSpPr>
        <p:spPr>
          <a:xfrm>
            <a:off x="812800" y="5999480"/>
            <a:ext cx="65405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1E0"/>
                </a:solidFill>
                <a:latin typeface="IBM Plex Sans" pitchFamily="34" charset="0"/>
                <a:ea typeface="IBM Plex Sans" pitchFamily="34" charset="-122"/>
                <a:cs typeface="IBM Plex Sans" pitchFamily="34" charset="-120"/>
              </a:rPr>
              <a:t>Scalian · Ynov Bordeaux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AVANT DE COMMENCER</a:t>
            </a:r>
            <a:endParaRPr lang="en-US" sz="1200" dirty="0"/>
          </a:p>
        </p:txBody>
      </p:sp>
      <p:sp>
        <p:nvSpPr>
          <p:cNvPr id="3" name="Text 1"/>
          <p:cNvSpPr>
            <a:spLocks noGrp="1"/>
          </p:cNvSpPr>
          <p:nvPr>
            <p:ph type="title"/>
          </p:nvPr>
        </p:nvSpPr>
        <p:spPr>
          <a:xfrm>
            <a:off x="812800" y="10769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Objectifs de la séance</a:t>
            </a:r>
            <a:endParaRPr lang="en-US" sz="3200" dirty="0"/>
          </a:p>
        </p:txBody>
      </p:sp>
      <p:sp>
        <p:nvSpPr>
          <p:cNvPr id="4" name="Text 2"/>
          <p:cNvSpPr/>
          <p:nvPr/>
        </p:nvSpPr>
        <p:spPr>
          <a:xfrm>
            <a:off x="812800" y="1795463"/>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1</a:t>
            </a:r>
            <a:endParaRPr lang="en-US" sz="1400" dirty="0"/>
          </a:p>
        </p:txBody>
      </p:sp>
      <p:sp>
        <p:nvSpPr>
          <p:cNvPr id="5" name="Text 3"/>
          <p:cNvSpPr/>
          <p:nvPr/>
        </p:nvSpPr>
        <p:spPr>
          <a:xfrm>
            <a:off x="1371600" y="1727200"/>
            <a:ext cx="103078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Comprendre ce que le cloud apporte</a:t>
            </a:r>
            <a:endParaRPr lang="en-US" sz="1600" dirty="0"/>
          </a:p>
        </p:txBody>
      </p:sp>
      <p:sp>
        <p:nvSpPr>
          <p:cNvPr id="6" name="Text 4"/>
          <p:cNvSpPr/>
          <p:nvPr/>
        </p:nvSpPr>
        <p:spPr>
          <a:xfrm>
            <a:off x="1371600" y="1996440"/>
            <a:ext cx="10307828"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Et pourquoi il est particulièrement adapté aux besoins de l'IA : GPU, scalabilité, coûts.</a:t>
            </a:r>
            <a:endParaRPr lang="en-US" sz="1300" dirty="0"/>
          </a:p>
        </p:txBody>
      </p:sp>
      <p:sp>
        <p:nvSpPr>
          <p:cNvPr id="7" name="Text 5"/>
          <p:cNvSpPr/>
          <p:nvPr/>
        </p:nvSpPr>
        <p:spPr>
          <a:xfrm>
            <a:off x="812800" y="246538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37485"/>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2</a:t>
            </a:r>
            <a:endParaRPr lang="en-US" sz="1400" dirty="0"/>
          </a:p>
        </p:txBody>
      </p:sp>
      <p:sp>
        <p:nvSpPr>
          <p:cNvPr id="8" name="Text 6"/>
          <p:cNvSpPr/>
          <p:nvPr/>
        </p:nvSpPr>
        <p:spPr>
          <a:xfrm>
            <a:off x="1371600" y="2397125"/>
            <a:ext cx="103078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Maîtriser les modèles et le vocabulaire</a:t>
            </a:r>
            <a:endParaRPr lang="en-US" sz="1600" dirty="0"/>
          </a:p>
        </p:txBody>
      </p:sp>
      <p:sp>
        <p:nvSpPr>
          <p:cNvPr id="9" name="Text 7"/>
          <p:cNvSpPr/>
          <p:nvPr/>
        </p:nvSpPr>
        <p:spPr>
          <a:xfrm>
            <a:off x="1371600" y="2666365"/>
            <a:ext cx="10307828"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Public, privé, hybride ; IaaS, PaaS, SaaS ; région, zone de disponibilité, VPC, IAM.</a:t>
            </a:r>
            <a:endParaRPr lang="en-US" sz="1300" dirty="0"/>
          </a:p>
        </p:txBody>
      </p:sp>
      <p:sp>
        <p:nvSpPr>
          <p:cNvPr id="10" name="Text 8"/>
          <p:cNvSpPr/>
          <p:nvPr/>
        </p:nvSpPr>
        <p:spPr>
          <a:xfrm>
            <a:off x="812800" y="3135313"/>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3</a:t>
            </a:r>
            <a:endParaRPr lang="en-US" sz="1400" dirty="0"/>
          </a:p>
        </p:txBody>
      </p:sp>
      <p:sp>
        <p:nvSpPr>
          <p:cNvPr id="11" name="Text 9"/>
          <p:cNvSpPr/>
          <p:nvPr/>
        </p:nvSpPr>
        <p:spPr>
          <a:xfrm>
            <a:off x="1371600" y="3067050"/>
            <a:ext cx="103078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Comparer les ressources de calcul, de réseau et de stockage</a:t>
            </a:r>
            <a:endParaRPr lang="en-US" sz="1600" dirty="0"/>
          </a:p>
        </p:txBody>
      </p:sp>
      <p:sp>
        <p:nvSpPr>
          <p:cNvPr id="12" name="Text 10"/>
          <p:cNvSpPr/>
          <p:nvPr/>
        </p:nvSpPr>
        <p:spPr>
          <a:xfrm>
            <a:off x="1371600" y="3336290"/>
            <a:ext cx="10307828"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Savoir nommer et choisir les bons services, y compris les instances GPU dédiées à l'IA.</a:t>
            </a:r>
            <a:endParaRPr lang="en-US" sz="1300" dirty="0"/>
          </a:p>
        </p:txBody>
      </p:sp>
      <p:sp>
        <p:nvSpPr>
          <p:cNvPr id="13" name="Text 11"/>
          <p:cNvSpPr/>
          <p:nvPr/>
        </p:nvSpPr>
        <p:spPr>
          <a:xfrm>
            <a:off x="812800" y="3805237"/>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37485"/>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4</a:t>
            </a:r>
            <a:endParaRPr lang="en-US" sz="1400" dirty="0"/>
          </a:p>
        </p:txBody>
      </p:sp>
      <p:sp>
        <p:nvSpPr>
          <p:cNvPr id="14" name="Text 12"/>
          <p:cNvSpPr/>
          <p:nvPr/>
        </p:nvSpPr>
        <p:spPr>
          <a:xfrm>
            <a:off x="1371600" y="3736975"/>
            <a:ext cx="103078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Distinguer les services IA managés</a:t>
            </a:r>
            <a:endParaRPr lang="en-US" sz="1600" dirty="0"/>
          </a:p>
        </p:txBody>
      </p:sp>
      <p:sp>
        <p:nvSpPr>
          <p:cNvPr id="15" name="Text 13"/>
          <p:cNvSpPr/>
          <p:nvPr/>
        </p:nvSpPr>
        <p:spPr>
          <a:xfrm>
            <a:off x="1371600" y="4006215"/>
            <a:ext cx="10307828"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Entraîner son propre modèle ou consommer un modèle déjà entraîné via une API.</a:t>
            </a:r>
            <a:endParaRPr lang="en-US" sz="1300" dirty="0"/>
          </a:p>
        </p:txBody>
      </p:sp>
      <p:sp>
        <p:nvSpPr>
          <p:cNvPr id="16" name="Text 14"/>
          <p:cNvSpPr/>
          <p:nvPr/>
        </p:nvSpPr>
        <p:spPr>
          <a:xfrm>
            <a:off x="812800" y="4475163"/>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5</a:t>
            </a:r>
            <a:endParaRPr lang="en-US" sz="1400" dirty="0"/>
          </a:p>
        </p:txBody>
      </p:sp>
      <p:sp>
        <p:nvSpPr>
          <p:cNvPr id="17" name="Text 15"/>
          <p:cNvSpPr/>
          <p:nvPr/>
        </p:nvSpPr>
        <p:spPr>
          <a:xfrm>
            <a:off x="1371600" y="4406900"/>
            <a:ext cx="103078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Choisir un provider en connaissance de cause</a:t>
            </a:r>
            <a:endParaRPr lang="en-US" sz="1600" dirty="0"/>
          </a:p>
        </p:txBody>
      </p:sp>
      <p:sp>
        <p:nvSpPr>
          <p:cNvPr id="18" name="Text 16"/>
          <p:cNvSpPr/>
          <p:nvPr/>
        </p:nvSpPr>
        <p:spPr>
          <a:xfrm>
            <a:off x="1371600" y="4676140"/>
            <a:ext cx="10307828"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Selon le besoin, l'écosystème existant, le coût et les contraintes de souveraineté.</a:t>
            </a:r>
            <a:endParaRPr lang="en-US" sz="1300" dirty="0"/>
          </a:p>
        </p:txBody>
      </p:sp>
      <p:sp>
        <p:nvSpPr>
          <p:cNvPr id="19" name="Text 17"/>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PLAN DE LA SÉANCE</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Sommaire</a:t>
            </a:r>
            <a:endParaRPr lang="en-US" sz="3200" dirty="0"/>
          </a:p>
        </p:txBody>
      </p:sp>
      <p:sp>
        <p:nvSpPr>
          <p:cNvPr id="4" name="Shape 2"/>
          <p:cNvSpPr/>
          <p:nvPr/>
        </p:nvSpPr>
        <p:spPr>
          <a:xfrm>
            <a:off x="812800" y="1727200"/>
            <a:ext cx="5194300" cy="911225"/>
          </a:xfrm>
          <a:prstGeom prst="roundRect">
            <a:avLst>
              <a:gd name="adj" fmla="val 11150"/>
            </a:avLst>
          </a:prstGeom>
          <a:solidFill>
            <a:srgbClr val="ECE7F6"/>
          </a:solidFill>
          <a:ln/>
        </p:spPr>
        <p:txBody>
          <a:bodyPr/>
          <a:lstStyle/>
          <a:p>
            <a:endParaRPr lang="fr-FR"/>
          </a:p>
        </p:txBody>
      </p:sp>
      <p:sp>
        <p:nvSpPr>
          <p:cNvPr id="5" name="Text 3"/>
          <p:cNvSpPr/>
          <p:nvPr/>
        </p:nvSpPr>
        <p:spPr>
          <a:xfrm>
            <a:off x="1016000" y="2005013"/>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1</a:t>
            </a:r>
            <a:endParaRPr lang="en-US" sz="1400" dirty="0"/>
          </a:p>
        </p:txBody>
      </p:sp>
      <p:sp>
        <p:nvSpPr>
          <p:cNvPr id="6" name="Text 4"/>
          <p:cNvSpPr/>
          <p:nvPr/>
        </p:nvSpPr>
        <p:spPr>
          <a:xfrm>
            <a:off x="1524000" y="1930400"/>
            <a:ext cx="440829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Le cloud : définitions et modèles</a:t>
            </a:r>
            <a:endParaRPr lang="en-US" sz="1600" dirty="0"/>
          </a:p>
        </p:txBody>
      </p:sp>
      <p:sp>
        <p:nvSpPr>
          <p:cNvPr id="7" name="Text 5"/>
          <p:cNvSpPr/>
          <p:nvPr/>
        </p:nvSpPr>
        <p:spPr>
          <a:xfrm>
            <a:off x="1524000" y="2212339"/>
            <a:ext cx="4408297"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Types de cloud, IaaS/PaaS/SaaS, cloud native</a:t>
            </a:r>
            <a:endParaRPr lang="en-US" sz="1300" dirty="0"/>
          </a:p>
        </p:txBody>
      </p:sp>
      <p:sp>
        <p:nvSpPr>
          <p:cNvPr id="8" name="Shape 6"/>
          <p:cNvSpPr/>
          <p:nvPr/>
        </p:nvSpPr>
        <p:spPr>
          <a:xfrm>
            <a:off x="6184900" y="1727200"/>
            <a:ext cx="5194300" cy="911225"/>
          </a:xfrm>
          <a:prstGeom prst="roundRect">
            <a:avLst>
              <a:gd name="adj" fmla="val 11150"/>
            </a:avLst>
          </a:prstGeom>
          <a:solidFill>
            <a:srgbClr val="D3EDF1"/>
          </a:solidFill>
          <a:ln/>
        </p:spPr>
        <p:txBody>
          <a:bodyPr/>
          <a:lstStyle/>
          <a:p>
            <a:endParaRPr lang="fr-FR"/>
          </a:p>
        </p:txBody>
      </p:sp>
      <p:sp>
        <p:nvSpPr>
          <p:cNvPr id="9" name="Text 7"/>
          <p:cNvSpPr/>
          <p:nvPr/>
        </p:nvSpPr>
        <p:spPr>
          <a:xfrm>
            <a:off x="6388100" y="2005013"/>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37485"/>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2</a:t>
            </a:r>
            <a:endParaRPr lang="en-US" sz="1400" dirty="0"/>
          </a:p>
        </p:txBody>
      </p:sp>
      <p:sp>
        <p:nvSpPr>
          <p:cNvPr id="10" name="Text 8"/>
          <p:cNvSpPr/>
          <p:nvPr/>
        </p:nvSpPr>
        <p:spPr>
          <a:xfrm>
            <a:off x="6896100" y="1930400"/>
            <a:ext cx="440829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Les fournisseurs</a:t>
            </a:r>
            <a:endParaRPr lang="en-US" sz="1600" dirty="0"/>
          </a:p>
        </p:txBody>
      </p:sp>
      <p:sp>
        <p:nvSpPr>
          <p:cNvPr id="11" name="Text 9"/>
          <p:cNvSpPr/>
          <p:nvPr/>
        </p:nvSpPr>
        <p:spPr>
          <a:xfrm>
            <a:off x="6896100" y="2212339"/>
            <a:ext cx="4408297"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Panorama, souveraineté, régions et zones</a:t>
            </a:r>
            <a:endParaRPr lang="en-US" sz="1300" dirty="0"/>
          </a:p>
        </p:txBody>
      </p:sp>
      <p:sp>
        <p:nvSpPr>
          <p:cNvPr id="12" name="Shape 10"/>
          <p:cNvSpPr/>
          <p:nvPr/>
        </p:nvSpPr>
        <p:spPr>
          <a:xfrm>
            <a:off x="812800" y="2816225"/>
            <a:ext cx="5194300" cy="911225"/>
          </a:xfrm>
          <a:prstGeom prst="roundRect">
            <a:avLst>
              <a:gd name="adj" fmla="val 11150"/>
            </a:avLst>
          </a:prstGeom>
          <a:solidFill>
            <a:srgbClr val="ECE7F6"/>
          </a:solidFill>
          <a:ln/>
        </p:spPr>
        <p:txBody>
          <a:bodyPr/>
          <a:lstStyle/>
          <a:p>
            <a:endParaRPr lang="fr-FR"/>
          </a:p>
        </p:txBody>
      </p:sp>
      <p:sp>
        <p:nvSpPr>
          <p:cNvPr id="13" name="Text 11"/>
          <p:cNvSpPr/>
          <p:nvPr/>
        </p:nvSpPr>
        <p:spPr>
          <a:xfrm>
            <a:off x="1016000" y="309403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3</a:t>
            </a:r>
            <a:endParaRPr lang="en-US" sz="1400" dirty="0"/>
          </a:p>
        </p:txBody>
      </p:sp>
      <p:sp>
        <p:nvSpPr>
          <p:cNvPr id="14" name="Text 12"/>
          <p:cNvSpPr/>
          <p:nvPr/>
        </p:nvSpPr>
        <p:spPr>
          <a:xfrm>
            <a:off x="1524000" y="3019425"/>
            <a:ext cx="440829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Le calcul</a:t>
            </a:r>
            <a:endParaRPr lang="en-US" sz="1600" dirty="0"/>
          </a:p>
        </p:txBody>
      </p:sp>
      <p:sp>
        <p:nvSpPr>
          <p:cNvPr id="15" name="Text 13"/>
          <p:cNvSpPr/>
          <p:nvPr/>
        </p:nvSpPr>
        <p:spPr>
          <a:xfrm>
            <a:off x="1524000" y="3301364"/>
            <a:ext cx="4408297"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VMs, conteneurs, serverless, GPU</a:t>
            </a:r>
            <a:endParaRPr lang="en-US" sz="1300" dirty="0"/>
          </a:p>
        </p:txBody>
      </p:sp>
      <p:sp>
        <p:nvSpPr>
          <p:cNvPr id="16" name="Shape 14"/>
          <p:cNvSpPr/>
          <p:nvPr/>
        </p:nvSpPr>
        <p:spPr>
          <a:xfrm>
            <a:off x="6184900" y="2816225"/>
            <a:ext cx="5194300" cy="911225"/>
          </a:xfrm>
          <a:prstGeom prst="roundRect">
            <a:avLst>
              <a:gd name="adj" fmla="val 11150"/>
            </a:avLst>
          </a:prstGeom>
          <a:solidFill>
            <a:srgbClr val="D3EDF1"/>
          </a:solidFill>
          <a:ln/>
        </p:spPr>
        <p:txBody>
          <a:bodyPr/>
          <a:lstStyle/>
          <a:p>
            <a:endParaRPr lang="fr-FR"/>
          </a:p>
        </p:txBody>
      </p:sp>
      <p:sp>
        <p:nvSpPr>
          <p:cNvPr id="17" name="Text 15"/>
          <p:cNvSpPr/>
          <p:nvPr/>
        </p:nvSpPr>
        <p:spPr>
          <a:xfrm>
            <a:off x="6388100" y="309403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37485"/>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4</a:t>
            </a:r>
            <a:endParaRPr lang="en-US" sz="1400" dirty="0"/>
          </a:p>
        </p:txBody>
      </p:sp>
      <p:sp>
        <p:nvSpPr>
          <p:cNvPr id="18" name="Text 16"/>
          <p:cNvSpPr/>
          <p:nvPr/>
        </p:nvSpPr>
        <p:spPr>
          <a:xfrm>
            <a:off x="6896100" y="3019425"/>
            <a:ext cx="440829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Réseau et sécurité</a:t>
            </a:r>
            <a:endParaRPr lang="en-US" sz="1600" dirty="0"/>
          </a:p>
        </p:txBody>
      </p:sp>
      <p:sp>
        <p:nvSpPr>
          <p:cNvPr id="19" name="Text 17"/>
          <p:cNvSpPr/>
          <p:nvPr/>
        </p:nvSpPr>
        <p:spPr>
          <a:xfrm>
            <a:off x="6896100" y="3301364"/>
            <a:ext cx="4408297"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VPC, subnets, firewalls, IAM</a:t>
            </a:r>
            <a:endParaRPr lang="en-US" sz="1300" dirty="0"/>
          </a:p>
        </p:txBody>
      </p:sp>
      <p:sp>
        <p:nvSpPr>
          <p:cNvPr id="20" name="Shape 18"/>
          <p:cNvSpPr/>
          <p:nvPr/>
        </p:nvSpPr>
        <p:spPr>
          <a:xfrm>
            <a:off x="812800" y="3905250"/>
            <a:ext cx="5194300" cy="911225"/>
          </a:xfrm>
          <a:prstGeom prst="roundRect">
            <a:avLst>
              <a:gd name="adj" fmla="val 11150"/>
            </a:avLst>
          </a:prstGeom>
          <a:solidFill>
            <a:srgbClr val="ECE7F6"/>
          </a:solidFill>
          <a:ln/>
        </p:spPr>
        <p:txBody>
          <a:bodyPr/>
          <a:lstStyle/>
          <a:p>
            <a:endParaRPr lang="fr-FR"/>
          </a:p>
        </p:txBody>
      </p:sp>
      <p:sp>
        <p:nvSpPr>
          <p:cNvPr id="21" name="Text 19"/>
          <p:cNvSpPr/>
          <p:nvPr/>
        </p:nvSpPr>
        <p:spPr>
          <a:xfrm>
            <a:off x="1016000" y="4183063"/>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5</a:t>
            </a:r>
            <a:endParaRPr lang="en-US" sz="1400" dirty="0"/>
          </a:p>
        </p:txBody>
      </p:sp>
      <p:sp>
        <p:nvSpPr>
          <p:cNvPr id="22" name="Text 20"/>
          <p:cNvSpPr/>
          <p:nvPr/>
        </p:nvSpPr>
        <p:spPr>
          <a:xfrm>
            <a:off x="1524000" y="4108450"/>
            <a:ext cx="440829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Le stockage</a:t>
            </a:r>
            <a:endParaRPr lang="en-US" sz="1600" dirty="0"/>
          </a:p>
        </p:txBody>
      </p:sp>
      <p:sp>
        <p:nvSpPr>
          <p:cNvPr id="23" name="Text 21"/>
          <p:cNvSpPr/>
          <p:nvPr/>
        </p:nvSpPr>
        <p:spPr>
          <a:xfrm>
            <a:off x="1524000" y="4390389"/>
            <a:ext cx="4408297"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Bloc, fichier, objet, sauvegardes, DBaaS</a:t>
            </a:r>
            <a:endParaRPr lang="en-US" sz="1300" dirty="0"/>
          </a:p>
        </p:txBody>
      </p:sp>
      <p:sp>
        <p:nvSpPr>
          <p:cNvPr id="24" name="Shape 22"/>
          <p:cNvSpPr/>
          <p:nvPr/>
        </p:nvSpPr>
        <p:spPr>
          <a:xfrm>
            <a:off x="6184900" y="3905250"/>
            <a:ext cx="5194300" cy="911225"/>
          </a:xfrm>
          <a:prstGeom prst="roundRect">
            <a:avLst>
              <a:gd name="adj" fmla="val 11150"/>
            </a:avLst>
          </a:prstGeom>
          <a:solidFill>
            <a:srgbClr val="D3EDF1"/>
          </a:solidFill>
          <a:ln/>
        </p:spPr>
        <p:txBody>
          <a:bodyPr/>
          <a:lstStyle/>
          <a:p>
            <a:endParaRPr lang="fr-FR"/>
          </a:p>
        </p:txBody>
      </p:sp>
      <p:sp>
        <p:nvSpPr>
          <p:cNvPr id="25" name="Text 23"/>
          <p:cNvSpPr/>
          <p:nvPr/>
        </p:nvSpPr>
        <p:spPr>
          <a:xfrm>
            <a:off x="6388100" y="4183063"/>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37485"/>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6</a:t>
            </a:r>
            <a:endParaRPr lang="en-US" sz="1400" dirty="0"/>
          </a:p>
        </p:txBody>
      </p:sp>
      <p:sp>
        <p:nvSpPr>
          <p:cNvPr id="26" name="Text 24"/>
          <p:cNvSpPr/>
          <p:nvPr/>
        </p:nvSpPr>
        <p:spPr>
          <a:xfrm>
            <a:off x="6896100" y="4108450"/>
            <a:ext cx="440829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L'IA dans le cloud</a:t>
            </a:r>
            <a:endParaRPr lang="en-US" sz="1600" dirty="0"/>
          </a:p>
        </p:txBody>
      </p:sp>
      <p:sp>
        <p:nvSpPr>
          <p:cNvPr id="27" name="Text 25"/>
          <p:cNvSpPr/>
          <p:nvPr/>
        </p:nvSpPr>
        <p:spPr>
          <a:xfrm>
            <a:off x="6896100" y="4390389"/>
            <a:ext cx="4408297"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Pipeline, services managés, coûts, choix</a:t>
            </a:r>
            <a:endParaRPr lang="en-US" sz="1300" dirty="0"/>
          </a:p>
        </p:txBody>
      </p:sp>
      <p:sp>
        <p:nvSpPr>
          <p:cNvPr id="28" name="Text 26"/>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1 · LE CLOUD : DÉFINITIONS ET MODÈLES</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Le cloud computing, en une phrase</a:t>
            </a:r>
            <a:endParaRPr lang="en-US" sz="3200" dirty="0"/>
          </a:p>
        </p:txBody>
      </p:sp>
      <p:sp>
        <p:nvSpPr>
          <p:cNvPr id="4" name="Shape 2"/>
          <p:cNvSpPr/>
          <p:nvPr/>
        </p:nvSpPr>
        <p:spPr>
          <a:xfrm>
            <a:off x="812800" y="1727200"/>
            <a:ext cx="10566400" cy="1441450"/>
          </a:xfrm>
          <a:prstGeom prst="roundRect">
            <a:avLst>
              <a:gd name="adj" fmla="val 7048"/>
            </a:avLst>
          </a:prstGeom>
          <a:solidFill>
            <a:srgbClr val="ECE7F6"/>
          </a:solidFill>
          <a:ln/>
        </p:spPr>
        <p:txBody>
          <a:bodyPr/>
          <a:lstStyle/>
          <a:p>
            <a:endParaRPr lang="fr-FR"/>
          </a:p>
        </p:txBody>
      </p:sp>
      <p:sp>
        <p:nvSpPr>
          <p:cNvPr id="5" name="Text 3"/>
          <p:cNvSpPr/>
          <p:nvPr/>
        </p:nvSpPr>
        <p:spPr>
          <a:xfrm>
            <a:off x="1117600" y="1981200"/>
            <a:ext cx="10255504" cy="64262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231B3A"/>
                </a:solidFill>
                <a:latin typeface="IBM Plex Sans" pitchFamily="34" charset="0"/>
                <a:ea typeface="IBM Plex Sans" pitchFamily="34" charset="-122"/>
                <a:cs typeface="IBM Plex Sans" pitchFamily="34" charset="-120"/>
              </a:rPr>
              <a:t>Louer de la capacité de </a:t>
            </a:r>
            <a:r>
              <a:rPr lang="en-US" sz="1800" b="1" dirty="0">
                <a:solidFill>
                  <a:srgbClr val="231B3A"/>
                </a:solidFill>
                <a:latin typeface="IBM Plex Sans" pitchFamily="34" charset="0"/>
                <a:ea typeface="IBM Plex Sans" pitchFamily="34" charset="-122"/>
                <a:cs typeface="IBM Plex Sans" pitchFamily="34" charset="-120"/>
              </a:rPr>
              <a:t>calcul</a:t>
            </a:r>
            <a:r>
              <a:rPr lang="en-US" sz="1800" dirty="0">
                <a:solidFill>
                  <a:srgbClr val="231B3A"/>
                </a:solidFill>
                <a:latin typeface="IBM Plex Sans" pitchFamily="34" charset="0"/>
                <a:ea typeface="IBM Plex Sans" pitchFamily="34" charset="-122"/>
                <a:cs typeface="IBM Plex Sans" pitchFamily="34" charset="-120"/>
              </a:rPr>
              <a:t>, de </a:t>
            </a:r>
            <a:r>
              <a:rPr lang="en-US" sz="1800" b="1" dirty="0">
                <a:solidFill>
                  <a:srgbClr val="231B3A"/>
                </a:solidFill>
                <a:latin typeface="IBM Plex Sans" pitchFamily="34" charset="0"/>
                <a:ea typeface="IBM Plex Sans" pitchFamily="34" charset="-122"/>
                <a:cs typeface="IBM Plex Sans" pitchFamily="34" charset="-120"/>
              </a:rPr>
              <a:t>stockage</a:t>
            </a:r>
            <a:r>
              <a:rPr lang="en-US" sz="1800" dirty="0">
                <a:solidFill>
                  <a:srgbClr val="231B3A"/>
                </a:solidFill>
                <a:latin typeface="IBM Plex Sans" pitchFamily="34" charset="0"/>
                <a:ea typeface="IBM Plex Sans" pitchFamily="34" charset="-122"/>
                <a:cs typeface="IBM Plex Sans" pitchFamily="34" charset="-120"/>
              </a:rPr>
              <a:t> et de </a:t>
            </a:r>
            <a:r>
              <a:rPr lang="en-US" sz="1800" b="1" dirty="0">
                <a:solidFill>
                  <a:srgbClr val="231B3A"/>
                </a:solidFill>
                <a:latin typeface="IBM Plex Sans" pitchFamily="34" charset="0"/>
                <a:ea typeface="IBM Plex Sans" pitchFamily="34" charset="-122"/>
                <a:cs typeface="IBM Plex Sans" pitchFamily="34" charset="-120"/>
              </a:rPr>
              <a:t>réseau</a:t>
            </a:r>
            <a:r>
              <a:rPr lang="en-US" sz="1800" dirty="0">
                <a:solidFill>
                  <a:srgbClr val="231B3A"/>
                </a:solidFill>
                <a:latin typeface="IBM Plex Sans" pitchFamily="34" charset="0"/>
                <a:ea typeface="IBM Plex Sans" pitchFamily="34" charset="-122"/>
                <a:cs typeface="IBM Plex Sans" pitchFamily="34" charset="-120"/>
              </a:rPr>
              <a:t> à la demande, hébergée dans les data centers d’un fournisseur, plutôt que d’acheter et de faire tourner son propre matériel.</a:t>
            </a:r>
            <a:endParaRPr lang="en-US" sz="1800" dirty="0"/>
          </a:p>
        </p:txBody>
      </p:sp>
      <p:sp>
        <p:nvSpPr>
          <p:cNvPr id="6" name="Text 4"/>
          <p:cNvSpPr/>
          <p:nvPr/>
        </p:nvSpPr>
        <p:spPr>
          <a:xfrm>
            <a:off x="1117600" y="2674620"/>
            <a:ext cx="10255504"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462"/>
                </a:solidFill>
                <a:latin typeface="IBM Plex Sans" pitchFamily="34" charset="0"/>
                <a:ea typeface="IBM Plex Sans" pitchFamily="34" charset="-122"/>
                <a:cs typeface="IBM Plex Sans" pitchFamily="34" charset="-120"/>
              </a:rPr>
              <a:t>On paie à l’usage, on ajuste la capacité en quelques clics, et on n’a pas à gérer la salle serveur.</a:t>
            </a:r>
            <a:endParaRPr lang="en-US" sz="1400" dirty="0"/>
          </a:p>
        </p:txBody>
      </p:sp>
      <p:sp>
        <p:nvSpPr>
          <p:cNvPr id="7" name="Shape 5"/>
          <p:cNvSpPr/>
          <p:nvPr/>
        </p:nvSpPr>
        <p:spPr>
          <a:xfrm>
            <a:off x="812800" y="3371850"/>
            <a:ext cx="3386667" cy="1826895"/>
          </a:xfrm>
          <a:prstGeom prst="roundRect">
            <a:avLst>
              <a:gd name="adj" fmla="val 5561"/>
            </a:avLst>
          </a:prstGeom>
          <a:solidFill>
            <a:srgbClr val="F1EEF7"/>
          </a:solidFill>
          <a:ln/>
        </p:spPr>
        <p:txBody>
          <a:bodyPr/>
          <a:lstStyle/>
          <a:p>
            <a:endParaRPr lang="fr-FR"/>
          </a:p>
        </p:txBody>
      </p:sp>
      <p:pic>
        <p:nvPicPr>
          <p:cNvPr id="8" name="Image 0" descr="Clock"/>
          <p:cNvPicPr>
            <a:picLocks noChangeAspect="1"/>
          </p:cNvPicPr>
          <p:nvPr/>
        </p:nvPicPr>
        <p:blipFill>
          <a:blip r:embed="rId3"/>
          <a:srcRect/>
          <a:stretch/>
        </p:blipFill>
        <p:spPr>
          <a:xfrm>
            <a:off x="1016000" y="3575050"/>
            <a:ext cx="355600" cy="355600"/>
          </a:xfrm>
          <a:prstGeom prst="rect">
            <a:avLst/>
          </a:prstGeom>
        </p:spPr>
      </p:pic>
      <p:sp>
        <p:nvSpPr>
          <p:cNvPr id="9" name="Text 6"/>
          <p:cNvSpPr/>
          <p:nvPr/>
        </p:nvSpPr>
        <p:spPr>
          <a:xfrm>
            <a:off x="1016000" y="4006850"/>
            <a:ext cx="30696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À la demande</a:t>
            </a:r>
            <a:endParaRPr lang="en-US" sz="1600" dirty="0"/>
          </a:p>
        </p:txBody>
      </p:sp>
      <p:sp>
        <p:nvSpPr>
          <p:cNvPr id="10" name="Text 7"/>
          <p:cNvSpPr/>
          <p:nvPr/>
        </p:nvSpPr>
        <p:spPr>
          <a:xfrm>
            <a:off x="1016000" y="4326889"/>
            <a:ext cx="3069675"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On provisionne une ressource en quelques minutes, sans commande matérielle ni délai de livraison.</a:t>
            </a:r>
            <a:endParaRPr lang="en-US" sz="1300" dirty="0"/>
          </a:p>
        </p:txBody>
      </p:sp>
      <p:sp>
        <p:nvSpPr>
          <p:cNvPr id="11" name="Shape 8"/>
          <p:cNvSpPr/>
          <p:nvPr/>
        </p:nvSpPr>
        <p:spPr>
          <a:xfrm>
            <a:off x="4402667" y="3371850"/>
            <a:ext cx="3386667" cy="1826895"/>
          </a:xfrm>
          <a:prstGeom prst="roundRect">
            <a:avLst>
              <a:gd name="adj" fmla="val 5561"/>
            </a:avLst>
          </a:prstGeom>
          <a:solidFill>
            <a:srgbClr val="F1EEF7"/>
          </a:solidFill>
          <a:ln/>
        </p:spPr>
        <p:txBody>
          <a:bodyPr/>
          <a:lstStyle/>
          <a:p>
            <a:endParaRPr lang="fr-FR"/>
          </a:p>
        </p:txBody>
      </p:sp>
      <p:pic>
        <p:nvPicPr>
          <p:cNvPr id="12" name="Image 1" descr="Chart"/>
          <p:cNvPicPr>
            <a:picLocks noChangeAspect="1"/>
          </p:cNvPicPr>
          <p:nvPr/>
        </p:nvPicPr>
        <p:blipFill>
          <a:blip r:embed="rId4"/>
          <a:srcRect/>
          <a:stretch/>
        </p:blipFill>
        <p:spPr>
          <a:xfrm>
            <a:off x="4605867" y="3575050"/>
            <a:ext cx="355600" cy="355600"/>
          </a:xfrm>
          <a:prstGeom prst="rect">
            <a:avLst/>
          </a:prstGeom>
        </p:spPr>
      </p:pic>
      <p:sp>
        <p:nvSpPr>
          <p:cNvPr id="13" name="Text 9"/>
          <p:cNvSpPr/>
          <p:nvPr/>
        </p:nvSpPr>
        <p:spPr>
          <a:xfrm>
            <a:off x="4605867" y="4006850"/>
            <a:ext cx="30696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Facturé à l'usage</a:t>
            </a:r>
            <a:endParaRPr lang="en-US" sz="1600" dirty="0"/>
          </a:p>
        </p:txBody>
      </p:sp>
      <p:sp>
        <p:nvSpPr>
          <p:cNvPr id="14" name="Text 10"/>
          <p:cNvSpPr/>
          <p:nvPr/>
        </p:nvSpPr>
        <p:spPr>
          <a:xfrm>
            <a:off x="4605867" y="4326889"/>
            <a:ext cx="3069675"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On paie ce qu'on consomme (à l'heure, à la seconde, au Go) plutôt qu'un investissement fixe.</a:t>
            </a:r>
            <a:endParaRPr lang="en-US" sz="1300" dirty="0"/>
          </a:p>
        </p:txBody>
      </p:sp>
      <p:sp>
        <p:nvSpPr>
          <p:cNvPr id="15" name="Shape 11"/>
          <p:cNvSpPr/>
          <p:nvPr/>
        </p:nvSpPr>
        <p:spPr>
          <a:xfrm>
            <a:off x="7992533" y="3371850"/>
            <a:ext cx="3386667" cy="1826895"/>
          </a:xfrm>
          <a:prstGeom prst="roundRect">
            <a:avLst>
              <a:gd name="adj" fmla="val 5561"/>
            </a:avLst>
          </a:prstGeom>
          <a:solidFill>
            <a:srgbClr val="F1EEF7"/>
          </a:solidFill>
          <a:ln/>
        </p:spPr>
        <p:txBody>
          <a:bodyPr/>
          <a:lstStyle/>
          <a:p>
            <a:endParaRPr lang="fr-FR"/>
          </a:p>
        </p:txBody>
      </p:sp>
      <p:pic>
        <p:nvPicPr>
          <p:cNvPr id="16" name="Image 2" descr="Activity"/>
          <p:cNvPicPr>
            <a:picLocks noChangeAspect="1"/>
          </p:cNvPicPr>
          <p:nvPr/>
        </p:nvPicPr>
        <p:blipFill>
          <a:blip r:embed="rId5"/>
          <a:srcRect/>
          <a:stretch/>
        </p:blipFill>
        <p:spPr>
          <a:xfrm>
            <a:off x="8195733" y="3575050"/>
            <a:ext cx="355600" cy="355600"/>
          </a:xfrm>
          <a:prstGeom prst="rect">
            <a:avLst/>
          </a:prstGeom>
        </p:spPr>
      </p:pic>
      <p:sp>
        <p:nvSpPr>
          <p:cNvPr id="17" name="Text 12"/>
          <p:cNvSpPr/>
          <p:nvPr/>
        </p:nvSpPr>
        <p:spPr>
          <a:xfrm>
            <a:off x="8195733" y="4006850"/>
            <a:ext cx="30696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Élastique</a:t>
            </a:r>
            <a:endParaRPr lang="en-US" sz="1600" dirty="0"/>
          </a:p>
        </p:txBody>
      </p:sp>
      <p:sp>
        <p:nvSpPr>
          <p:cNvPr id="18" name="Text 13"/>
          <p:cNvSpPr/>
          <p:nvPr/>
        </p:nvSpPr>
        <p:spPr>
          <a:xfrm>
            <a:off x="8195733" y="4326889"/>
            <a:ext cx="3069675"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La capacité s'ajuste à la hausse comme à la baisse selon le besoin réel.</a:t>
            </a:r>
            <a:endParaRPr lang="en-US" sz="1300" dirty="0"/>
          </a:p>
        </p:txBody>
      </p:sp>
      <p:sp>
        <p:nvSpPr>
          <p:cNvPr id="19" name="Text 14"/>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1 · LE CLOUD : DÉFINITIONS ET MODÈLES</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Cloud ou on-premise : comment arbitrer ?</a:t>
            </a:r>
            <a:endParaRPr lang="en-US" sz="3200" dirty="0"/>
          </a:p>
        </p:txBody>
      </p:sp>
      <p:sp>
        <p:nvSpPr>
          <p:cNvPr id="4" name="Shape 2"/>
          <p:cNvSpPr/>
          <p:nvPr/>
        </p:nvSpPr>
        <p:spPr>
          <a:xfrm>
            <a:off x="812800" y="1727200"/>
            <a:ext cx="3386667" cy="4114800"/>
          </a:xfrm>
          <a:prstGeom prst="roundRect">
            <a:avLst>
              <a:gd name="adj" fmla="val 3000"/>
            </a:avLst>
          </a:prstGeom>
          <a:solidFill>
            <a:srgbClr val="ECE7F6"/>
          </a:solidFill>
          <a:ln/>
        </p:spPr>
        <p:txBody>
          <a:bodyPr/>
          <a:lstStyle/>
          <a:p>
            <a:endParaRPr lang="fr-FR"/>
          </a:p>
        </p:txBody>
      </p:sp>
      <p:pic>
        <p:nvPicPr>
          <p:cNvPr id="5" name="Image 0" descr="Lightning"/>
          <p:cNvPicPr>
            <a:picLocks noChangeAspect="1"/>
          </p:cNvPicPr>
          <p:nvPr/>
        </p:nvPicPr>
        <p:blipFill>
          <a:blip r:embed="rId3"/>
          <a:srcRect/>
          <a:stretch/>
        </p:blipFill>
        <p:spPr>
          <a:xfrm>
            <a:off x="1016000" y="1930400"/>
            <a:ext cx="355600" cy="355600"/>
          </a:xfrm>
          <a:prstGeom prst="rect">
            <a:avLst/>
          </a:prstGeom>
        </p:spPr>
      </p:pic>
      <p:sp>
        <p:nvSpPr>
          <p:cNvPr id="6" name="Text 3"/>
          <p:cNvSpPr/>
          <p:nvPr/>
        </p:nvSpPr>
        <p:spPr>
          <a:xfrm>
            <a:off x="1016000" y="2362200"/>
            <a:ext cx="30696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Ce que le cloud apporte</a:t>
            </a:r>
            <a:endParaRPr lang="en-US" sz="1600" dirty="0"/>
          </a:p>
        </p:txBody>
      </p:sp>
      <p:sp>
        <p:nvSpPr>
          <p:cNvPr id="7" name="Text 4"/>
          <p:cNvSpPr/>
          <p:nvPr/>
        </p:nvSpPr>
        <p:spPr>
          <a:xfrm>
            <a:off x="1101344" y="2682239"/>
            <a:ext cx="2976711" cy="188214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Payer à l’usage : on passe d’un investissement (CAPEX) à une dépense courante (OPEX).</a:t>
            </a:r>
            <a:endParaRPr lang="en-US" sz="1300" dirty="0"/>
          </a:p>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Mise à disposition rapide des ressources.</a:t>
            </a:r>
            <a:endParaRPr lang="en-US" sz="1300" dirty="0"/>
          </a:p>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Des services intégrés pour des enjeux complexes : disponibilité, sauvegarde, sécurité.</a:t>
            </a:r>
            <a:endParaRPr lang="en-US" sz="1300" dirty="0"/>
          </a:p>
        </p:txBody>
      </p:sp>
      <p:sp>
        <p:nvSpPr>
          <p:cNvPr id="8" name="Shape 5"/>
          <p:cNvSpPr/>
          <p:nvPr/>
        </p:nvSpPr>
        <p:spPr>
          <a:xfrm>
            <a:off x="4402667" y="1727200"/>
            <a:ext cx="3386667" cy="4114800"/>
          </a:xfrm>
          <a:prstGeom prst="roundRect">
            <a:avLst>
              <a:gd name="adj" fmla="val 3000"/>
            </a:avLst>
          </a:prstGeom>
          <a:solidFill>
            <a:srgbClr val="ECE7F6"/>
          </a:solidFill>
          <a:ln/>
        </p:spPr>
        <p:txBody>
          <a:bodyPr/>
          <a:lstStyle/>
          <a:p>
            <a:endParaRPr lang="fr-FR"/>
          </a:p>
        </p:txBody>
      </p:sp>
      <p:pic>
        <p:nvPicPr>
          <p:cNvPr id="9" name="Image 1" descr="Users"/>
          <p:cNvPicPr>
            <a:picLocks noChangeAspect="1"/>
          </p:cNvPicPr>
          <p:nvPr/>
        </p:nvPicPr>
        <p:blipFill>
          <a:blip r:embed="rId4"/>
          <a:srcRect/>
          <a:stretch/>
        </p:blipFill>
        <p:spPr>
          <a:xfrm>
            <a:off x="4605867" y="1930400"/>
            <a:ext cx="355600" cy="355600"/>
          </a:xfrm>
          <a:prstGeom prst="rect">
            <a:avLst/>
          </a:prstGeom>
        </p:spPr>
      </p:pic>
      <p:sp>
        <p:nvSpPr>
          <p:cNvPr id="10" name="Text 6"/>
          <p:cNvSpPr/>
          <p:nvPr/>
        </p:nvSpPr>
        <p:spPr>
          <a:xfrm>
            <a:off x="4605867" y="2362200"/>
            <a:ext cx="30696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Qui est concerné ?</a:t>
            </a:r>
            <a:endParaRPr lang="en-US" sz="1600" dirty="0"/>
          </a:p>
        </p:txBody>
      </p:sp>
      <p:sp>
        <p:nvSpPr>
          <p:cNvPr id="11" name="Text 7"/>
          <p:cNvSpPr/>
          <p:nvPr/>
        </p:nvSpPr>
        <p:spPr>
          <a:xfrm>
            <a:off x="4691211" y="2682239"/>
            <a:ext cx="2976711" cy="141732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Tout le monde : développeurs, ops, équipes data, sécurité, juridique, achats et métiers.</a:t>
            </a:r>
            <a:endParaRPr lang="en-US" sz="1300" dirty="0"/>
          </a:p>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Le choix du cloud engage l’organisation, pas seulement l’équipe technique.</a:t>
            </a:r>
            <a:endParaRPr lang="en-US" sz="1300" dirty="0"/>
          </a:p>
        </p:txBody>
      </p:sp>
      <p:sp>
        <p:nvSpPr>
          <p:cNvPr id="12" name="Shape 8"/>
          <p:cNvSpPr/>
          <p:nvPr/>
        </p:nvSpPr>
        <p:spPr>
          <a:xfrm>
            <a:off x="7992533" y="1727200"/>
            <a:ext cx="3386667" cy="4114800"/>
          </a:xfrm>
          <a:prstGeom prst="roundRect">
            <a:avLst>
              <a:gd name="adj" fmla="val 3000"/>
            </a:avLst>
          </a:prstGeom>
          <a:solidFill>
            <a:srgbClr val="ECE7F6"/>
          </a:solidFill>
          <a:ln/>
        </p:spPr>
        <p:txBody>
          <a:bodyPr/>
          <a:lstStyle/>
          <a:p>
            <a:endParaRPr lang="fr-FR"/>
          </a:p>
        </p:txBody>
      </p:sp>
      <p:pic>
        <p:nvPicPr>
          <p:cNvPr id="13" name="Image 2" descr="Settings"/>
          <p:cNvPicPr>
            <a:picLocks noChangeAspect="1"/>
          </p:cNvPicPr>
          <p:nvPr/>
        </p:nvPicPr>
        <p:blipFill>
          <a:blip r:embed="rId5"/>
          <a:srcRect/>
          <a:stretch/>
        </p:blipFill>
        <p:spPr>
          <a:xfrm>
            <a:off x="8195733" y="1930400"/>
            <a:ext cx="355600" cy="355600"/>
          </a:xfrm>
          <a:prstGeom prst="rect">
            <a:avLst/>
          </a:prstGeom>
        </p:spPr>
      </p:pic>
      <p:sp>
        <p:nvSpPr>
          <p:cNvPr id="14" name="Text 9"/>
          <p:cNvSpPr/>
          <p:nvPr/>
        </p:nvSpPr>
        <p:spPr>
          <a:xfrm>
            <a:off x="8195733" y="2362200"/>
            <a:ext cx="30696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Comment arbitrer ?</a:t>
            </a:r>
            <a:endParaRPr lang="en-US" sz="1600" dirty="0"/>
          </a:p>
        </p:txBody>
      </p:sp>
      <p:sp>
        <p:nvSpPr>
          <p:cNvPr id="15" name="Text 10"/>
          <p:cNvSpPr/>
          <p:nvPr/>
        </p:nvSpPr>
        <p:spPr>
          <a:xfrm>
            <a:off x="8281077" y="2682239"/>
            <a:ext cx="2976711" cy="188214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Coût de portage d’une application existante (expertise, contraintes techniques).</a:t>
            </a:r>
            <a:endParaRPr lang="en-US" sz="1300" dirty="0"/>
          </a:p>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Estimation des besoins et des coûts sur la durée : le cloud n’est pas toujours moins cher.</a:t>
            </a:r>
            <a:endParaRPr lang="en-US" sz="1300" dirty="0"/>
          </a:p>
          <a:p>
            <a:pPr marL="168656" indent="-168656" algn="l">
              <a:lnSpc>
                <a:spcPts val="1820"/>
              </a:lnSpc>
              <a:buSzPct val="100000"/>
              <a:buChar char="•"/>
            </a:pPr>
            <a:r>
              <a:rPr lang="en-US" sz="1300" dirty="0">
                <a:solidFill>
                  <a:srgbClr val="4A4462"/>
                </a:solidFill>
                <a:latin typeface="IBM Plex Sans" pitchFamily="34" charset="0"/>
                <a:ea typeface="IBM Plex Sans" pitchFamily="34" charset="-122"/>
                <a:cs typeface="IBM Plex Sans" pitchFamily="34" charset="-120"/>
              </a:rPr>
              <a:t>Confidentialité, contraintes légales et sécurité.</a:t>
            </a:r>
            <a:endParaRPr lang="en-US" sz="1300" dirty="0"/>
          </a:p>
        </p:txBody>
      </p:sp>
      <p:sp>
        <p:nvSpPr>
          <p:cNvPr id="16" name="Text 1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
        <p:nvSpPr>
          <p:cNvPr id="17" name="Text 12"/>
          <p:cNvSpPr/>
          <p:nvPr/>
        </p:nvSpPr>
        <p:spPr>
          <a:xfrm>
            <a:off x="3556000" y="3308986"/>
            <a:ext cx="5232400" cy="265430"/>
          </a:xfrm>
          <a:prstGeom prst="rect">
            <a:avLst/>
          </a:prstGeom>
          <a:noFill/>
          <a:ln/>
        </p:spPr>
        <p:txBody>
          <a:bodyPr wrap="square" lIns="0" tIns="0" rIns="0" bIns="0" rtlCol="0" anchor="t">
            <a:normAutofit/>
          </a:bodyPr>
          <a:lstStyle/>
          <a:p>
            <a:pPr marL="0" indent="0" algn="l">
              <a:lnSpc>
                <a:spcPts val="1890"/>
              </a:lnSpc>
              <a:buNone/>
            </a:pP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1 · LE CLOUD : DÉFINITIONS ET MODÈLES</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Pourquoi l’IA a particulièrement besoin du cloud</a:t>
            </a:r>
            <a:endParaRPr lang="en-US" sz="3200" dirty="0"/>
          </a:p>
        </p:txBody>
      </p:sp>
      <p:pic>
        <p:nvPicPr>
          <p:cNvPr id="4" name="Image 0" descr="Le besoin en calcul d'un projet IA : un pic pendant l'entraînement, puis un besoin plus faible et variable pendant l'inférence, comparé à une capacité fixe achetée on-premise"/>
          <p:cNvPicPr>
            <a:picLocks noChangeAspect="1"/>
          </p:cNvPicPr>
          <p:nvPr/>
        </p:nvPicPr>
        <p:blipFill>
          <a:blip r:embed="rId3"/>
          <a:srcRect/>
          <a:stretch/>
        </p:blipFill>
        <p:spPr>
          <a:xfrm>
            <a:off x="812800" y="1727200"/>
            <a:ext cx="5715000" cy="2984500"/>
          </a:xfrm>
          <a:prstGeom prst="rect">
            <a:avLst/>
          </a:prstGeom>
        </p:spPr>
      </p:pic>
      <p:sp>
        <p:nvSpPr>
          <p:cNvPr id="5" name="Text 2"/>
          <p:cNvSpPr/>
          <p:nvPr/>
        </p:nvSpPr>
        <p:spPr>
          <a:xfrm>
            <a:off x="1193800" y="1727200"/>
            <a:ext cx="274701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Besoin en calcul (GPU)</a:t>
            </a:r>
            <a:endParaRPr lang="en-US" sz="1200" dirty="0"/>
          </a:p>
        </p:txBody>
      </p:sp>
      <p:sp>
        <p:nvSpPr>
          <p:cNvPr id="6" name="Text 3"/>
          <p:cNvSpPr/>
          <p:nvPr/>
        </p:nvSpPr>
        <p:spPr>
          <a:xfrm>
            <a:off x="2082800" y="2171700"/>
            <a:ext cx="1701800"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Entraînement : pic</a:t>
            </a:r>
            <a:endParaRPr lang="en-US" sz="1200" dirty="0"/>
          </a:p>
        </p:txBody>
      </p:sp>
      <p:sp>
        <p:nvSpPr>
          <p:cNvPr id="7" name="Text 4"/>
          <p:cNvSpPr/>
          <p:nvPr/>
        </p:nvSpPr>
        <p:spPr>
          <a:xfrm>
            <a:off x="4368800" y="2971800"/>
            <a:ext cx="2092960"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A65400"/>
                </a:solidFill>
                <a:latin typeface="IBM Plex Sans" pitchFamily="34" charset="0"/>
                <a:ea typeface="IBM Plex Sans" pitchFamily="34" charset="-122"/>
                <a:cs typeface="IBM Plex Sans" pitchFamily="34" charset="-120"/>
              </a:rPr>
              <a:t>Capacité fixe on-premise</a:t>
            </a:r>
            <a:endParaRPr lang="en-US" sz="1200" dirty="0"/>
          </a:p>
        </p:txBody>
      </p:sp>
      <p:sp>
        <p:nvSpPr>
          <p:cNvPr id="8" name="Text 5"/>
          <p:cNvSpPr/>
          <p:nvPr/>
        </p:nvSpPr>
        <p:spPr>
          <a:xfrm>
            <a:off x="3860800" y="4013200"/>
            <a:ext cx="2485390"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Inférence : plus faible, variable</a:t>
            </a:r>
            <a:endParaRPr lang="en-US" sz="1200" dirty="0"/>
          </a:p>
        </p:txBody>
      </p:sp>
      <p:sp>
        <p:nvSpPr>
          <p:cNvPr id="9" name="Text 6"/>
          <p:cNvSpPr/>
          <p:nvPr/>
        </p:nvSpPr>
        <p:spPr>
          <a:xfrm>
            <a:off x="5765800" y="4470400"/>
            <a:ext cx="68580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Temps</a:t>
            </a:r>
            <a:endParaRPr lang="en-US" sz="1200" dirty="0"/>
          </a:p>
        </p:txBody>
      </p:sp>
      <p:sp>
        <p:nvSpPr>
          <p:cNvPr id="10" name="Text 7"/>
          <p:cNvSpPr/>
          <p:nvPr/>
        </p:nvSpPr>
        <p:spPr>
          <a:xfrm>
            <a:off x="6883400" y="1727200"/>
            <a:ext cx="463067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Le GPU coûte cher</a:t>
            </a:r>
            <a:endParaRPr lang="en-US" sz="1400" dirty="0"/>
          </a:p>
        </p:txBody>
      </p:sp>
      <p:sp>
        <p:nvSpPr>
          <p:cNvPr id="11" name="Text 8"/>
          <p:cNvSpPr/>
          <p:nvPr/>
        </p:nvSpPr>
        <p:spPr>
          <a:xfrm>
            <a:off x="6883400" y="1965961"/>
            <a:ext cx="4630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Une carte d’entraînement haut de gamme coûte des dizaines de milliers d’euros : la louer évite l’investissement.</a:t>
            </a:r>
            <a:endParaRPr lang="en-US" sz="1200" dirty="0"/>
          </a:p>
        </p:txBody>
      </p:sp>
      <p:sp>
        <p:nvSpPr>
          <p:cNvPr id="12" name="Text 9"/>
          <p:cNvSpPr/>
          <p:nvPr/>
        </p:nvSpPr>
        <p:spPr>
          <a:xfrm>
            <a:off x="6883400" y="2517139"/>
            <a:ext cx="463067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Le besoin est ponctuel</a:t>
            </a:r>
            <a:endParaRPr lang="en-US" sz="1400" dirty="0"/>
          </a:p>
        </p:txBody>
      </p:sp>
      <p:sp>
        <p:nvSpPr>
          <p:cNvPr id="13" name="Text 10"/>
          <p:cNvSpPr/>
          <p:nvPr/>
        </p:nvSpPr>
        <p:spPr>
          <a:xfrm>
            <a:off x="6883400" y="2755900"/>
            <a:ext cx="4630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Gros pic pendant l’entraînement, beaucoup moins ensuite : on ne paie que le pic.</a:t>
            </a:r>
            <a:endParaRPr lang="en-US" sz="1200" dirty="0"/>
          </a:p>
        </p:txBody>
      </p:sp>
      <p:sp>
        <p:nvSpPr>
          <p:cNvPr id="14" name="Text 11"/>
          <p:cNvSpPr/>
          <p:nvPr/>
        </p:nvSpPr>
        <p:spPr>
          <a:xfrm>
            <a:off x="6883400" y="3307079"/>
            <a:ext cx="463067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Des modèles déjà entraînés</a:t>
            </a:r>
            <a:endParaRPr lang="en-US" sz="1400" dirty="0"/>
          </a:p>
        </p:txBody>
      </p:sp>
      <p:sp>
        <p:nvSpPr>
          <p:cNvPr id="15" name="Text 12"/>
          <p:cNvSpPr/>
          <p:nvPr/>
        </p:nvSpPr>
        <p:spPr>
          <a:xfrm>
            <a:off x="6883400" y="3545839"/>
            <a:ext cx="4630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Les fournisseurs donnent accès à des modèles de fondation prêts à l’emploi.</a:t>
            </a:r>
            <a:endParaRPr lang="en-US" sz="1200" dirty="0"/>
          </a:p>
        </p:txBody>
      </p:sp>
      <p:sp>
        <p:nvSpPr>
          <p:cNvPr id="16" name="Text 13"/>
          <p:cNvSpPr/>
          <p:nvPr/>
        </p:nvSpPr>
        <p:spPr>
          <a:xfrm>
            <a:off x="6883400" y="4097021"/>
            <a:ext cx="463067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L’inférence doit passer à l’échelle</a:t>
            </a:r>
            <a:endParaRPr lang="en-US" sz="1400" dirty="0"/>
          </a:p>
        </p:txBody>
      </p:sp>
      <p:sp>
        <p:nvSpPr>
          <p:cNvPr id="17" name="Text 14"/>
          <p:cNvSpPr/>
          <p:nvPr/>
        </p:nvSpPr>
        <p:spPr>
          <a:xfrm>
            <a:off x="6883400" y="4335779"/>
            <a:ext cx="4630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Une application qui décolle peut devoir servir des milliers de requêtes par seconde.</a:t>
            </a:r>
            <a:endParaRPr lang="en-US" sz="1200" dirty="0"/>
          </a:p>
        </p:txBody>
      </p:sp>
      <p:sp>
        <p:nvSpPr>
          <p:cNvPr id="18" name="Text 1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1 · LE CLOUD : DÉFINITIONS ET MODÈLES</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Les types de cloud : public, privé, hybride</a:t>
            </a:r>
            <a:endParaRPr lang="en-US" sz="3200" dirty="0"/>
          </a:p>
        </p:txBody>
      </p:sp>
      <p:sp>
        <p:nvSpPr>
          <p:cNvPr id="4" name="Shape 2"/>
          <p:cNvSpPr/>
          <p:nvPr/>
        </p:nvSpPr>
        <p:spPr>
          <a:xfrm>
            <a:off x="822325" y="1736725"/>
            <a:ext cx="3333750" cy="1885950"/>
          </a:xfrm>
          <a:prstGeom prst="roundRect">
            <a:avLst>
              <a:gd name="adj" fmla="val 4882"/>
            </a:avLst>
          </a:prstGeom>
          <a:solidFill>
            <a:srgbClr val="ECE7F6"/>
          </a:solidFill>
          <a:ln w="19050">
            <a:solidFill>
              <a:srgbClr val="5B2E9E"/>
            </a:solidFill>
            <a:prstDash val="solid"/>
          </a:ln>
        </p:spPr>
        <p:txBody>
          <a:bodyPr/>
          <a:lstStyle/>
          <a:p>
            <a:endParaRPr lang="fr-FR"/>
          </a:p>
        </p:txBody>
      </p:sp>
      <p:sp>
        <p:nvSpPr>
          <p:cNvPr id="5" name="Text 3"/>
          <p:cNvSpPr/>
          <p:nvPr/>
        </p:nvSpPr>
        <p:spPr>
          <a:xfrm>
            <a:off x="980440" y="1894839"/>
            <a:ext cx="3108046"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Data center du fournisseur</a:t>
            </a:r>
            <a:endParaRPr lang="en-US" sz="1200" dirty="0"/>
          </a:p>
        </p:txBody>
      </p:sp>
      <p:sp>
        <p:nvSpPr>
          <p:cNvPr id="6" name="Text 4"/>
          <p:cNvSpPr/>
          <p:nvPr/>
        </p:nvSpPr>
        <p:spPr>
          <a:xfrm>
            <a:off x="980440" y="2202179"/>
            <a:ext cx="1470660" cy="391160"/>
          </a:xfrm>
          <a:custGeom>
            <a:avLst/>
            <a:gdLst/>
            <a:ahLst/>
            <a:cxnLst/>
            <a:rect l="l" t="t" r="r" b="b"/>
            <a:pathLst>
              <a:path w="1470660" h="391160">
                <a:moveTo>
                  <a:pt x="50800" y="0"/>
                </a:moveTo>
                <a:lnTo>
                  <a:pt x="1419860" y="0"/>
                </a:lnTo>
                <a:arcTo wR="50800" hR="50800" stAng="16200000" swAng="5400000"/>
                <a:lnTo>
                  <a:pt x="1470660" y="340360"/>
                </a:lnTo>
                <a:arcTo wR="50800" hR="50800" stAng="0" swAng="5400000"/>
                <a:lnTo>
                  <a:pt x="50800" y="391160"/>
                </a:lnTo>
                <a:arcTo wR="50800" hR="50800" stAng="5400000" swAng="5400000"/>
                <a:lnTo>
                  <a:pt x="0" y="50800"/>
                </a:lnTo>
                <a:arcTo wR="50800" hR="50800" stAng="10800000" swAng="5400000"/>
                <a:close/>
              </a:path>
            </a:pathLst>
          </a:custGeom>
          <a:solidFill>
            <a:srgbClr val="FDFCFE"/>
          </a:solidFill>
          <a:ln/>
        </p:spPr>
        <p:txBody>
          <a:bodyPr wrap="square" lIns="25400" tIns="88900" rIns="25400" bIns="635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Client A</a:t>
            </a:r>
            <a:endParaRPr lang="en-US" sz="1200" dirty="0"/>
          </a:p>
        </p:txBody>
      </p:sp>
      <p:sp>
        <p:nvSpPr>
          <p:cNvPr id="7" name="Text 5"/>
          <p:cNvSpPr/>
          <p:nvPr/>
        </p:nvSpPr>
        <p:spPr>
          <a:xfrm>
            <a:off x="2527300" y="2202179"/>
            <a:ext cx="1470660" cy="391160"/>
          </a:xfrm>
          <a:custGeom>
            <a:avLst/>
            <a:gdLst/>
            <a:ahLst/>
            <a:cxnLst/>
            <a:rect l="l" t="t" r="r" b="b"/>
            <a:pathLst>
              <a:path w="1470660" h="391160">
                <a:moveTo>
                  <a:pt x="50800" y="0"/>
                </a:moveTo>
                <a:lnTo>
                  <a:pt x="1419860" y="0"/>
                </a:lnTo>
                <a:arcTo wR="50800" hR="50800" stAng="16200000" swAng="5400000"/>
                <a:lnTo>
                  <a:pt x="1470660" y="340360"/>
                </a:lnTo>
                <a:arcTo wR="50800" hR="50800" stAng="0" swAng="5400000"/>
                <a:lnTo>
                  <a:pt x="50800" y="391160"/>
                </a:lnTo>
                <a:arcTo wR="50800" hR="50800" stAng="5400000" swAng="5400000"/>
                <a:lnTo>
                  <a:pt x="0" y="50800"/>
                </a:lnTo>
                <a:arcTo wR="50800" hR="50800" stAng="10800000" swAng="5400000"/>
                <a:close/>
              </a:path>
            </a:pathLst>
          </a:custGeom>
          <a:solidFill>
            <a:srgbClr val="FDFCFE"/>
          </a:solidFill>
          <a:ln/>
        </p:spPr>
        <p:txBody>
          <a:bodyPr wrap="square" lIns="25400" tIns="88900" rIns="25400" bIns="635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Client B</a:t>
            </a:r>
            <a:endParaRPr lang="en-US" sz="1200" dirty="0"/>
          </a:p>
        </p:txBody>
      </p:sp>
      <p:sp>
        <p:nvSpPr>
          <p:cNvPr id="8" name="Text 6"/>
          <p:cNvSpPr/>
          <p:nvPr/>
        </p:nvSpPr>
        <p:spPr>
          <a:xfrm>
            <a:off x="980440" y="2694939"/>
            <a:ext cx="1470660" cy="391160"/>
          </a:xfrm>
          <a:custGeom>
            <a:avLst/>
            <a:gdLst/>
            <a:ahLst/>
            <a:cxnLst/>
            <a:rect l="l" t="t" r="r" b="b"/>
            <a:pathLst>
              <a:path w="1470660" h="391160">
                <a:moveTo>
                  <a:pt x="50800" y="0"/>
                </a:moveTo>
                <a:lnTo>
                  <a:pt x="1419860" y="0"/>
                </a:lnTo>
                <a:arcTo wR="50800" hR="50800" stAng="16200000" swAng="5400000"/>
                <a:lnTo>
                  <a:pt x="1470660" y="340360"/>
                </a:lnTo>
                <a:arcTo wR="50800" hR="50800" stAng="0" swAng="5400000"/>
                <a:lnTo>
                  <a:pt x="50800" y="391160"/>
                </a:lnTo>
                <a:arcTo wR="50800" hR="50800" stAng="5400000" swAng="5400000"/>
                <a:lnTo>
                  <a:pt x="0" y="50800"/>
                </a:lnTo>
                <a:arcTo wR="50800" hR="50800" stAng="10800000" swAng="5400000"/>
                <a:close/>
              </a:path>
            </a:pathLst>
          </a:custGeom>
          <a:solidFill>
            <a:srgbClr val="FDFCFE"/>
          </a:solidFill>
          <a:ln/>
        </p:spPr>
        <p:txBody>
          <a:bodyPr wrap="square" lIns="25400" tIns="88900" rIns="25400" bIns="635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Client C</a:t>
            </a:r>
            <a:endParaRPr lang="en-US" sz="1200" dirty="0"/>
          </a:p>
        </p:txBody>
      </p:sp>
      <p:sp>
        <p:nvSpPr>
          <p:cNvPr id="9" name="Text 7"/>
          <p:cNvSpPr/>
          <p:nvPr/>
        </p:nvSpPr>
        <p:spPr>
          <a:xfrm>
            <a:off x="2527300" y="2694939"/>
            <a:ext cx="1470660" cy="391160"/>
          </a:xfrm>
          <a:custGeom>
            <a:avLst/>
            <a:gdLst/>
            <a:ahLst/>
            <a:cxnLst/>
            <a:rect l="l" t="t" r="r" b="b"/>
            <a:pathLst>
              <a:path w="1470660" h="391160">
                <a:moveTo>
                  <a:pt x="50800" y="0"/>
                </a:moveTo>
                <a:lnTo>
                  <a:pt x="1419860" y="0"/>
                </a:lnTo>
                <a:arcTo wR="50800" hR="50800" stAng="16200000" swAng="5400000"/>
                <a:lnTo>
                  <a:pt x="1470660" y="340360"/>
                </a:lnTo>
                <a:arcTo wR="50800" hR="50800" stAng="0" swAng="5400000"/>
                <a:lnTo>
                  <a:pt x="50800" y="391160"/>
                </a:lnTo>
                <a:arcTo wR="50800" hR="50800" stAng="5400000" swAng="5400000"/>
                <a:lnTo>
                  <a:pt x="0" y="50800"/>
                </a:lnTo>
                <a:arcTo wR="50800" hR="50800" stAng="10800000" swAng="5400000"/>
                <a:close/>
              </a:path>
            </a:pathLst>
          </a:custGeom>
          <a:solidFill>
            <a:srgbClr val="137485"/>
          </a:solidFill>
          <a:ln/>
        </p:spPr>
        <p:txBody>
          <a:bodyPr wrap="square" lIns="25400" tIns="88900" rIns="25400" bIns="63500" rtlCol="0" anchor="t">
            <a:normAutofit/>
          </a:bodyPr>
          <a:lstStyle/>
          <a:p>
            <a:pPr marL="0" indent="0" algn="ctr">
              <a:lnSpc>
                <a:spcPts val="1680"/>
              </a:lnSpc>
              <a:buNone/>
            </a:pPr>
            <a:r>
              <a:rPr lang="en-US" sz="1200" b="1" dirty="0">
                <a:solidFill>
                  <a:srgbClr val="FDFCFE"/>
                </a:solidFill>
                <a:latin typeface="IBM Plex Sans" pitchFamily="34" charset="0"/>
                <a:ea typeface="IBM Plex Sans" pitchFamily="34" charset="-122"/>
                <a:cs typeface="IBM Plex Sans" pitchFamily="34" charset="-120"/>
              </a:rPr>
              <a:t>Vous</a:t>
            </a:r>
            <a:endParaRPr lang="en-US" sz="1200" dirty="0"/>
          </a:p>
        </p:txBody>
      </p:sp>
      <p:sp>
        <p:nvSpPr>
          <p:cNvPr id="10" name="Text 8"/>
          <p:cNvSpPr/>
          <p:nvPr/>
        </p:nvSpPr>
        <p:spPr>
          <a:xfrm>
            <a:off x="980440" y="3187700"/>
            <a:ext cx="3108046"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Ressources mutualisées</a:t>
            </a:r>
            <a:endParaRPr lang="en-US" sz="1200" dirty="0"/>
          </a:p>
        </p:txBody>
      </p:sp>
      <p:sp>
        <p:nvSpPr>
          <p:cNvPr id="11" name="Text 9"/>
          <p:cNvSpPr/>
          <p:nvPr/>
        </p:nvSpPr>
        <p:spPr>
          <a:xfrm>
            <a:off x="812800" y="3733800"/>
            <a:ext cx="345338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Cloud public</a:t>
            </a:r>
            <a:endParaRPr lang="en-US" sz="1600" dirty="0"/>
          </a:p>
        </p:txBody>
      </p:sp>
      <p:sp>
        <p:nvSpPr>
          <p:cNvPr id="12" name="Text 10"/>
          <p:cNvSpPr/>
          <p:nvPr/>
        </p:nvSpPr>
        <p:spPr>
          <a:xfrm>
            <a:off x="812800" y="4079239"/>
            <a:ext cx="3453384"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Le plus courant : on fait tourner ses services sur le matériel du fournisseur, partagé avec d’autres clients. Attention aux contraintes légales et de sécurité (RGPD, données sensibles).</a:t>
            </a:r>
            <a:endParaRPr lang="en-US" sz="1200" dirty="0"/>
          </a:p>
        </p:txBody>
      </p:sp>
      <p:sp>
        <p:nvSpPr>
          <p:cNvPr id="13" name="Shape 11"/>
          <p:cNvSpPr/>
          <p:nvPr/>
        </p:nvSpPr>
        <p:spPr>
          <a:xfrm>
            <a:off x="4429125" y="1736725"/>
            <a:ext cx="3333750" cy="1885950"/>
          </a:xfrm>
          <a:prstGeom prst="roundRect">
            <a:avLst>
              <a:gd name="adj" fmla="val 4882"/>
            </a:avLst>
          </a:prstGeom>
          <a:solidFill>
            <a:srgbClr val="D3EDF1"/>
          </a:solidFill>
          <a:ln w="19050">
            <a:solidFill>
              <a:srgbClr val="137485"/>
            </a:solidFill>
            <a:prstDash val="solid"/>
          </a:ln>
        </p:spPr>
        <p:txBody>
          <a:bodyPr/>
          <a:lstStyle/>
          <a:p>
            <a:endParaRPr lang="fr-FR"/>
          </a:p>
        </p:txBody>
      </p:sp>
      <p:sp>
        <p:nvSpPr>
          <p:cNvPr id="14" name="Text 12"/>
          <p:cNvSpPr/>
          <p:nvPr/>
        </p:nvSpPr>
        <p:spPr>
          <a:xfrm>
            <a:off x="4587240" y="1894839"/>
            <a:ext cx="3108046"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Votre data center (ou matériel dédié)</a:t>
            </a:r>
            <a:endParaRPr lang="en-US" sz="1200" dirty="0"/>
          </a:p>
        </p:txBody>
      </p:sp>
      <p:sp>
        <p:nvSpPr>
          <p:cNvPr id="15" name="Text 13"/>
          <p:cNvSpPr/>
          <p:nvPr/>
        </p:nvSpPr>
        <p:spPr>
          <a:xfrm>
            <a:off x="4587240" y="2202179"/>
            <a:ext cx="3017520" cy="955040"/>
          </a:xfrm>
          <a:custGeom>
            <a:avLst/>
            <a:gdLst/>
            <a:ahLst/>
            <a:cxnLst/>
            <a:rect l="l" t="t" r="r" b="b"/>
            <a:pathLst>
              <a:path w="3017520" h="955040">
                <a:moveTo>
                  <a:pt x="50800" y="0"/>
                </a:moveTo>
                <a:lnTo>
                  <a:pt x="2966720" y="0"/>
                </a:lnTo>
                <a:arcTo wR="50800" hR="50800" stAng="16200000" swAng="5400000"/>
                <a:lnTo>
                  <a:pt x="3017520" y="904240"/>
                </a:lnTo>
                <a:arcTo wR="50800" hR="50800" stAng="0" swAng="5400000"/>
                <a:lnTo>
                  <a:pt x="50800" y="955040"/>
                </a:lnTo>
                <a:arcTo wR="50800" hR="50800" stAng="5400000" swAng="5400000"/>
                <a:lnTo>
                  <a:pt x="0" y="50800"/>
                </a:lnTo>
                <a:arcTo wR="50800" hR="50800" stAng="10800000" swAng="5400000"/>
                <a:close/>
              </a:path>
            </a:pathLst>
          </a:custGeom>
          <a:solidFill>
            <a:srgbClr val="FDFCFE"/>
          </a:solidFill>
          <a:ln/>
        </p:spPr>
        <p:txBody>
          <a:bodyPr wrap="square" lIns="7061" tIns="88900" rIns="7061" bIns="635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Vos applications uniquement</a:t>
            </a:r>
            <a:endParaRPr lang="en-US" sz="1200" dirty="0"/>
          </a:p>
        </p:txBody>
      </p:sp>
      <p:sp>
        <p:nvSpPr>
          <p:cNvPr id="16" name="Text 14"/>
          <p:cNvSpPr/>
          <p:nvPr/>
        </p:nvSpPr>
        <p:spPr>
          <a:xfrm>
            <a:off x="4587240" y="3258821"/>
            <a:ext cx="3108046"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Ressources dédiées</a:t>
            </a:r>
            <a:endParaRPr lang="en-US" sz="1200" dirty="0"/>
          </a:p>
        </p:txBody>
      </p:sp>
      <p:sp>
        <p:nvSpPr>
          <p:cNvPr id="17" name="Text 15"/>
          <p:cNvSpPr/>
          <p:nvPr/>
        </p:nvSpPr>
        <p:spPr>
          <a:xfrm>
            <a:off x="4419600" y="3733800"/>
            <a:ext cx="345338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Cloud privé</a:t>
            </a:r>
            <a:endParaRPr lang="en-US" sz="1600" dirty="0"/>
          </a:p>
        </p:txBody>
      </p:sp>
      <p:sp>
        <p:nvSpPr>
          <p:cNvPr id="18" name="Text 16"/>
          <p:cNvSpPr/>
          <p:nvPr/>
        </p:nvSpPr>
        <p:spPr>
          <a:xfrm>
            <a:off x="4419600" y="4079239"/>
            <a:ext cx="3453384"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Les principes du cloud (self-service, élasticité, automatisation) dans son propre data center, ou chez un hébergeur sur du matériel dédié. Coûteux et exigeant en compétences.</a:t>
            </a:r>
            <a:endParaRPr lang="en-US" sz="1200" dirty="0"/>
          </a:p>
        </p:txBody>
      </p:sp>
      <p:sp>
        <p:nvSpPr>
          <p:cNvPr id="19" name="Shape 17"/>
          <p:cNvSpPr/>
          <p:nvPr/>
        </p:nvSpPr>
        <p:spPr>
          <a:xfrm>
            <a:off x="8035925" y="1736725"/>
            <a:ext cx="3333750" cy="1885950"/>
          </a:xfrm>
          <a:prstGeom prst="roundRect">
            <a:avLst>
              <a:gd name="adj" fmla="val 4882"/>
            </a:avLst>
          </a:prstGeom>
          <a:solidFill>
            <a:srgbClr val="F1EEF7"/>
          </a:solidFill>
          <a:ln w="19050">
            <a:solidFill>
              <a:srgbClr val="6B6585"/>
            </a:solidFill>
            <a:prstDash val="dash"/>
          </a:ln>
        </p:spPr>
        <p:txBody>
          <a:bodyPr/>
          <a:lstStyle/>
          <a:p>
            <a:endParaRPr lang="fr-FR"/>
          </a:p>
        </p:txBody>
      </p:sp>
      <p:sp>
        <p:nvSpPr>
          <p:cNvPr id="20" name="Text 18"/>
          <p:cNvSpPr/>
          <p:nvPr/>
        </p:nvSpPr>
        <p:spPr>
          <a:xfrm>
            <a:off x="8200390" y="2113279"/>
            <a:ext cx="1267460" cy="825500"/>
          </a:xfrm>
          <a:custGeom>
            <a:avLst/>
            <a:gdLst/>
            <a:ahLst/>
            <a:cxnLst/>
            <a:rect l="l" t="t" r="r" b="b"/>
            <a:pathLst>
              <a:path w="1267460" h="825500">
                <a:moveTo>
                  <a:pt x="44450" y="0"/>
                </a:moveTo>
                <a:lnTo>
                  <a:pt x="1223010" y="0"/>
                </a:lnTo>
                <a:arcTo wR="44450" hR="44450" stAng="16200000" swAng="5400000"/>
                <a:lnTo>
                  <a:pt x="1267460" y="781050"/>
                </a:lnTo>
                <a:arcTo wR="44450" hR="44450" stAng="0" swAng="5400000"/>
                <a:lnTo>
                  <a:pt x="44450" y="825500"/>
                </a:lnTo>
                <a:arcTo wR="44450" hR="44450" stAng="5400000" swAng="5400000"/>
                <a:lnTo>
                  <a:pt x="0" y="44450"/>
                </a:lnTo>
                <a:arcTo wR="44450" hR="44450" stAng="10800000" swAng="5400000"/>
                <a:close/>
              </a:path>
            </a:pathLst>
          </a:custGeom>
          <a:solidFill>
            <a:srgbClr val="D3EDF1"/>
          </a:solidFill>
          <a:ln w="12700">
            <a:solidFill>
              <a:srgbClr val="137485"/>
            </a:solidFill>
            <a:prstDash val="solid"/>
          </a:ln>
        </p:spPr>
        <p:txBody>
          <a:bodyPr wrap="square" lIns="29210" tIns="92710" rIns="29210" bIns="6731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On-premise : données sensibles</a:t>
            </a:r>
            <a:endParaRPr lang="en-US" sz="1200" dirty="0"/>
          </a:p>
        </p:txBody>
      </p:sp>
      <p:pic>
        <p:nvPicPr>
          <p:cNvPr id="21" name="Image 0" descr="connector"/>
          <p:cNvPicPr>
            <a:picLocks noChangeAspect="1"/>
          </p:cNvPicPr>
          <p:nvPr/>
        </p:nvPicPr>
        <p:blipFill>
          <a:blip r:embed="rId3"/>
          <a:srcRect/>
          <a:stretch/>
        </p:blipFill>
        <p:spPr>
          <a:xfrm>
            <a:off x="9525000" y="2475229"/>
            <a:ext cx="355600" cy="101600"/>
          </a:xfrm>
          <a:prstGeom prst="rect">
            <a:avLst/>
          </a:prstGeom>
        </p:spPr>
      </p:pic>
      <p:sp>
        <p:nvSpPr>
          <p:cNvPr id="22" name="Text 19"/>
          <p:cNvSpPr/>
          <p:nvPr/>
        </p:nvSpPr>
        <p:spPr>
          <a:xfrm>
            <a:off x="9937750" y="2219961"/>
            <a:ext cx="1267460" cy="612140"/>
          </a:xfrm>
          <a:custGeom>
            <a:avLst/>
            <a:gdLst/>
            <a:ahLst/>
            <a:cxnLst/>
            <a:rect l="l" t="t" r="r" b="b"/>
            <a:pathLst>
              <a:path w="1267460" h="612140">
                <a:moveTo>
                  <a:pt x="44450" y="0"/>
                </a:moveTo>
                <a:lnTo>
                  <a:pt x="1223010" y="0"/>
                </a:lnTo>
                <a:arcTo wR="44450" hR="44450" stAng="16200000" swAng="5400000"/>
                <a:lnTo>
                  <a:pt x="1267460" y="567690"/>
                </a:lnTo>
                <a:arcTo wR="44450" hR="44450" stAng="0" swAng="5400000"/>
                <a:lnTo>
                  <a:pt x="44450" y="612140"/>
                </a:lnTo>
                <a:arcTo wR="44450" hR="44450" stAng="5400000" swAng="5400000"/>
                <a:lnTo>
                  <a:pt x="0" y="44450"/>
                </a:lnTo>
                <a:arcTo wR="44450" hR="44450" stAng="10800000" swAng="5400000"/>
                <a:close/>
              </a:path>
            </a:pathLst>
          </a:custGeom>
          <a:solidFill>
            <a:srgbClr val="ECE7F6"/>
          </a:solidFill>
          <a:ln w="12700">
            <a:solidFill>
              <a:srgbClr val="5B2E9E"/>
            </a:solidFill>
            <a:prstDash val="solid"/>
          </a:ln>
        </p:spPr>
        <p:txBody>
          <a:bodyPr wrap="square" lIns="29210" tIns="92710" rIns="29210" bIns="6731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Cloud public : calcul élastique</a:t>
            </a:r>
            <a:endParaRPr lang="en-US" sz="1200" dirty="0"/>
          </a:p>
        </p:txBody>
      </p:sp>
      <p:sp>
        <p:nvSpPr>
          <p:cNvPr id="23" name="Text 20"/>
          <p:cNvSpPr/>
          <p:nvPr/>
        </p:nvSpPr>
        <p:spPr>
          <a:xfrm>
            <a:off x="8148777" y="3046729"/>
            <a:ext cx="3108046" cy="23114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Lien privé ou VPN entre les deux</a:t>
            </a:r>
            <a:endParaRPr lang="en-US" sz="1200" dirty="0"/>
          </a:p>
        </p:txBody>
      </p:sp>
      <p:sp>
        <p:nvSpPr>
          <p:cNvPr id="24" name="Text 21"/>
          <p:cNvSpPr/>
          <p:nvPr/>
        </p:nvSpPr>
        <p:spPr>
          <a:xfrm>
            <a:off x="8026400" y="3733800"/>
            <a:ext cx="345338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Cloud hybride</a:t>
            </a:r>
            <a:endParaRPr lang="en-US" sz="1600" dirty="0"/>
          </a:p>
        </p:txBody>
      </p:sp>
      <p:sp>
        <p:nvSpPr>
          <p:cNvPr id="25" name="Text 22"/>
          <p:cNvSpPr/>
          <p:nvPr/>
        </p:nvSpPr>
        <p:spPr>
          <a:xfrm>
            <a:off x="8026400" y="4079239"/>
            <a:ext cx="3453384"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Combine les deux : par exemple les données sensibles on-premise et le calcul élastique dans le cloud public. Variante : le multi-cloud, qui utilise plusieurs fournisseurs.</a:t>
            </a:r>
            <a:endParaRPr lang="en-US" sz="1200" dirty="0"/>
          </a:p>
        </p:txBody>
      </p:sp>
      <p:sp>
        <p:nvSpPr>
          <p:cNvPr id="26" name="Text 23"/>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1 · LE CLOUD : DÉFINITIONS ET MODÈLES</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IaaS, PaaS, SaaS : qui gère quoi ?</a:t>
            </a:r>
            <a:endParaRPr lang="en-US" sz="3200" dirty="0"/>
          </a:p>
        </p:txBody>
      </p:sp>
      <p:sp>
        <p:nvSpPr>
          <p:cNvPr id="4" name="Text 2"/>
          <p:cNvSpPr/>
          <p:nvPr/>
        </p:nvSpPr>
        <p:spPr>
          <a:xfrm>
            <a:off x="838200" y="1784350"/>
            <a:ext cx="2106041" cy="5969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Couche</a:t>
            </a:r>
            <a:endParaRPr lang="en-US" sz="1200" dirty="0"/>
          </a:p>
        </p:txBody>
      </p:sp>
      <p:sp>
        <p:nvSpPr>
          <p:cNvPr id="5" name="Text 3"/>
          <p:cNvSpPr/>
          <p:nvPr/>
        </p:nvSpPr>
        <p:spPr>
          <a:xfrm>
            <a:off x="2952750" y="1727200"/>
            <a:ext cx="2073275" cy="685800"/>
          </a:xfrm>
          <a:prstGeom prst="roundRect">
            <a:avLst>
              <a:gd name="adj" fmla="val 5556"/>
            </a:avLst>
          </a:prstGeom>
          <a:solidFill>
            <a:srgbClr val="231B3A"/>
          </a:solidFill>
          <a:ln/>
        </p:spPr>
        <p:txBody>
          <a:bodyPr wrap="square" lIns="36228" tIns="45991" rIns="36228" bIns="20591" rtlCol="0" anchor="t">
            <a:normAutofit/>
          </a:bodyPr>
          <a:lstStyle/>
          <a:p>
            <a:pPr marL="0" indent="0" algn="ctr">
              <a:lnSpc>
                <a:spcPts val="1500"/>
              </a:lnSpc>
              <a:buNone/>
            </a:pPr>
            <a:r>
              <a:rPr lang="en-US" sz="1200" b="1" dirty="0">
                <a:solidFill>
                  <a:srgbClr val="F4F1FA"/>
                </a:solidFill>
                <a:latin typeface="IBM Plex Sans" pitchFamily="34" charset="0"/>
                <a:ea typeface="IBM Plex Sans" pitchFamily="34" charset="-122"/>
                <a:cs typeface="IBM Plex Sans" pitchFamily="34" charset="-120"/>
              </a:rPr>
              <a:t>On-premise</a:t>
            </a:r>
            <a:endParaRPr lang="en-US" sz="1200" dirty="0"/>
          </a:p>
          <a:p>
            <a:pPr marL="0" indent="0" algn="ctr">
              <a:lnSpc>
                <a:spcPts val="1500"/>
              </a:lnSpc>
              <a:buNone/>
            </a:pPr>
            <a:r>
              <a:rPr lang="en-US" sz="1200" b="1" dirty="0">
                <a:solidFill>
                  <a:srgbClr val="C9C1E0"/>
                </a:solidFill>
                <a:latin typeface="IBM Plex Sans" pitchFamily="34" charset="0"/>
                <a:ea typeface="IBM Plex Sans" pitchFamily="34" charset="-122"/>
                <a:cs typeface="IBM Plex Sans" pitchFamily="34" charset="-120"/>
              </a:rPr>
              <a:t>Votre salle serveur</a:t>
            </a:r>
            <a:endParaRPr lang="en-US" sz="1200" dirty="0"/>
          </a:p>
        </p:txBody>
      </p:sp>
      <p:sp>
        <p:nvSpPr>
          <p:cNvPr id="6" name="Text 4"/>
          <p:cNvSpPr/>
          <p:nvPr/>
        </p:nvSpPr>
        <p:spPr>
          <a:xfrm>
            <a:off x="5070475" y="1727200"/>
            <a:ext cx="2073275" cy="685800"/>
          </a:xfrm>
          <a:prstGeom prst="roundRect">
            <a:avLst>
              <a:gd name="adj" fmla="val 5556"/>
            </a:avLst>
          </a:prstGeom>
          <a:solidFill>
            <a:srgbClr val="231B3A"/>
          </a:solidFill>
          <a:ln/>
        </p:spPr>
        <p:txBody>
          <a:bodyPr wrap="square" lIns="36228" tIns="45991" rIns="36228" bIns="20591" rtlCol="0" anchor="t">
            <a:normAutofit/>
          </a:bodyPr>
          <a:lstStyle/>
          <a:p>
            <a:pPr marL="0" indent="0" algn="ctr">
              <a:lnSpc>
                <a:spcPts val="1500"/>
              </a:lnSpc>
              <a:buNone/>
            </a:pPr>
            <a:r>
              <a:rPr lang="en-US" sz="1200" b="1" dirty="0">
                <a:solidFill>
                  <a:srgbClr val="F4F1FA"/>
                </a:solidFill>
                <a:latin typeface="IBM Plex Sans" pitchFamily="34" charset="0"/>
                <a:ea typeface="IBM Plex Sans" pitchFamily="34" charset="-122"/>
                <a:cs typeface="IBM Plex Sans" pitchFamily="34" charset="-120"/>
              </a:rPr>
              <a:t>IaaS</a:t>
            </a:r>
            <a:endParaRPr lang="en-US" sz="1200" dirty="0"/>
          </a:p>
          <a:p>
            <a:pPr marL="0" indent="0" algn="ctr">
              <a:lnSpc>
                <a:spcPts val="1500"/>
              </a:lnSpc>
              <a:buNone/>
            </a:pPr>
            <a:r>
              <a:rPr lang="en-US" sz="1200" b="1" dirty="0">
                <a:solidFill>
                  <a:srgbClr val="C9C1E0"/>
                </a:solidFill>
                <a:latin typeface="IBM Plex Sans" pitchFamily="34" charset="0"/>
                <a:ea typeface="IBM Plex Sans" pitchFamily="34" charset="-122"/>
                <a:cs typeface="IBM Plex Sans" pitchFamily="34" charset="-120"/>
              </a:rPr>
              <a:t>EC2, Compute Engine</a:t>
            </a:r>
            <a:endParaRPr lang="en-US" sz="1200" dirty="0"/>
          </a:p>
        </p:txBody>
      </p:sp>
      <p:sp>
        <p:nvSpPr>
          <p:cNvPr id="7" name="Text 5"/>
          <p:cNvSpPr/>
          <p:nvPr/>
        </p:nvSpPr>
        <p:spPr>
          <a:xfrm>
            <a:off x="7188200" y="1727200"/>
            <a:ext cx="2073275" cy="685800"/>
          </a:xfrm>
          <a:prstGeom prst="roundRect">
            <a:avLst>
              <a:gd name="adj" fmla="val 5556"/>
            </a:avLst>
          </a:prstGeom>
          <a:solidFill>
            <a:srgbClr val="231B3A"/>
          </a:solidFill>
          <a:ln/>
        </p:spPr>
        <p:txBody>
          <a:bodyPr wrap="square" lIns="36228" tIns="45991" rIns="36228" bIns="20591" rtlCol="0" anchor="t">
            <a:normAutofit/>
          </a:bodyPr>
          <a:lstStyle/>
          <a:p>
            <a:pPr marL="0" indent="0" algn="ctr">
              <a:lnSpc>
                <a:spcPts val="1500"/>
              </a:lnSpc>
              <a:buNone/>
            </a:pPr>
            <a:r>
              <a:rPr lang="en-US" sz="1200" b="1" dirty="0">
                <a:solidFill>
                  <a:srgbClr val="F4F1FA"/>
                </a:solidFill>
                <a:latin typeface="IBM Plex Sans" pitchFamily="34" charset="0"/>
                <a:ea typeface="IBM Plex Sans" pitchFamily="34" charset="-122"/>
                <a:cs typeface="IBM Plex Sans" pitchFamily="34" charset="-120"/>
              </a:rPr>
              <a:t>PaaS</a:t>
            </a:r>
            <a:endParaRPr lang="en-US" sz="1200" dirty="0"/>
          </a:p>
          <a:p>
            <a:pPr marL="0" indent="0" algn="ctr">
              <a:lnSpc>
                <a:spcPts val="1500"/>
              </a:lnSpc>
              <a:buNone/>
            </a:pPr>
            <a:r>
              <a:rPr lang="en-US" sz="1200" b="1" dirty="0">
                <a:solidFill>
                  <a:srgbClr val="C9C1E0"/>
                </a:solidFill>
                <a:latin typeface="IBM Plex Sans" pitchFamily="34" charset="0"/>
                <a:ea typeface="IBM Plex Sans" pitchFamily="34" charset="-122"/>
                <a:cs typeface="IBM Plex Sans" pitchFamily="34" charset="-120"/>
              </a:rPr>
              <a:t>App Service, OpenShift</a:t>
            </a:r>
            <a:endParaRPr lang="en-US" sz="1200" dirty="0"/>
          </a:p>
        </p:txBody>
      </p:sp>
      <p:sp>
        <p:nvSpPr>
          <p:cNvPr id="8" name="Text 6"/>
          <p:cNvSpPr/>
          <p:nvPr/>
        </p:nvSpPr>
        <p:spPr>
          <a:xfrm>
            <a:off x="9305925" y="1727200"/>
            <a:ext cx="2073275" cy="685800"/>
          </a:xfrm>
          <a:prstGeom prst="roundRect">
            <a:avLst>
              <a:gd name="adj" fmla="val 5556"/>
            </a:avLst>
          </a:prstGeom>
          <a:solidFill>
            <a:srgbClr val="231B3A"/>
          </a:solidFill>
          <a:ln/>
        </p:spPr>
        <p:txBody>
          <a:bodyPr wrap="square" lIns="36228" tIns="45991" rIns="36228" bIns="20591" rtlCol="0" anchor="t">
            <a:normAutofit/>
          </a:bodyPr>
          <a:lstStyle/>
          <a:p>
            <a:pPr marL="0" indent="0" algn="ctr">
              <a:lnSpc>
                <a:spcPts val="1500"/>
              </a:lnSpc>
              <a:buNone/>
            </a:pPr>
            <a:r>
              <a:rPr lang="en-US" sz="1200" b="1" dirty="0">
                <a:solidFill>
                  <a:srgbClr val="F4F1FA"/>
                </a:solidFill>
                <a:latin typeface="IBM Plex Sans" pitchFamily="34" charset="0"/>
                <a:ea typeface="IBM Plex Sans" pitchFamily="34" charset="-122"/>
                <a:cs typeface="IBM Plex Sans" pitchFamily="34" charset="-120"/>
              </a:rPr>
              <a:t>SaaS</a:t>
            </a:r>
            <a:endParaRPr lang="en-US" sz="1200" dirty="0"/>
          </a:p>
          <a:p>
            <a:pPr marL="0" indent="0" algn="ctr">
              <a:lnSpc>
                <a:spcPts val="1500"/>
              </a:lnSpc>
              <a:buNone/>
            </a:pPr>
            <a:r>
              <a:rPr lang="en-US" sz="1200" b="1" dirty="0">
                <a:solidFill>
                  <a:srgbClr val="C9C1E0"/>
                </a:solidFill>
                <a:latin typeface="IBM Plex Sans" pitchFamily="34" charset="0"/>
                <a:ea typeface="IBM Plex Sans" pitchFamily="34" charset="-122"/>
                <a:cs typeface="IBM Plex Sans" pitchFamily="34" charset="-120"/>
              </a:rPr>
              <a:t>Microsoft 365, API de modèle</a:t>
            </a:r>
            <a:endParaRPr lang="en-US" sz="1200" dirty="0"/>
          </a:p>
        </p:txBody>
      </p:sp>
      <p:sp>
        <p:nvSpPr>
          <p:cNvPr id="9" name="Text 7"/>
          <p:cNvSpPr/>
          <p:nvPr/>
        </p:nvSpPr>
        <p:spPr>
          <a:xfrm>
            <a:off x="889000" y="251460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Application</a:t>
            </a:r>
            <a:endParaRPr lang="en-US" sz="1200" dirty="0"/>
          </a:p>
        </p:txBody>
      </p:sp>
      <p:sp>
        <p:nvSpPr>
          <p:cNvPr id="10" name="Text 8"/>
          <p:cNvSpPr/>
          <p:nvPr/>
        </p:nvSpPr>
        <p:spPr>
          <a:xfrm>
            <a:off x="2952750" y="24574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1" name="Text 9"/>
          <p:cNvSpPr/>
          <p:nvPr/>
        </p:nvSpPr>
        <p:spPr>
          <a:xfrm>
            <a:off x="5070475" y="24574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2" name="Text 10"/>
          <p:cNvSpPr/>
          <p:nvPr/>
        </p:nvSpPr>
        <p:spPr>
          <a:xfrm>
            <a:off x="7188200" y="24574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3" name="Text 11"/>
          <p:cNvSpPr/>
          <p:nvPr/>
        </p:nvSpPr>
        <p:spPr>
          <a:xfrm>
            <a:off x="9305925" y="24574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14" name="Text 12"/>
          <p:cNvSpPr/>
          <p:nvPr/>
        </p:nvSpPr>
        <p:spPr>
          <a:xfrm>
            <a:off x="889000" y="286385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Données</a:t>
            </a:r>
            <a:endParaRPr lang="en-US" sz="1200" dirty="0"/>
          </a:p>
        </p:txBody>
      </p:sp>
      <p:sp>
        <p:nvSpPr>
          <p:cNvPr id="15" name="Text 13"/>
          <p:cNvSpPr/>
          <p:nvPr/>
        </p:nvSpPr>
        <p:spPr>
          <a:xfrm>
            <a:off x="2952750" y="28067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6" name="Text 14"/>
          <p:cNvSpPr/>
          <p:nvPr/>
        </p:nvSpPr>
        <p:spPr>
          <a:xfrm>
            <a:off x="5070475" y="28067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7" name="Text 15"/>
          <p:cNvSpPr/>
          <p:nvPr/>
        </p:nvSpPr>
        <p:spPr>
          <a:xfrm>
            <a:off x="7188200" y="28067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8" name="Text 16"/>
          <p:cNvSpPr/>
          <p:nvPr/>
        </p:nvSpPr>
        <p:spPr>
          <a:xfrm>
            <a:off x="9305925" y="28067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9" name="Text 17"/>
          <p:cNvSpPr/>
          <p:nvPr/>
        </p:nvSpPr>
        <p:spPr>
          <a:xfrm>
            <a:off x="889000" y="321310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Runtime</a:t>
            </a:r>
            <a:endParaRPr lang="en-US" sz="1200" dirty="0"/>
          </a:p>
        </p:txBody>
      </p:sp>
      <p:sp>
        <p:nvSpPr>
          <p:cNvPr id="20" name="Text 18"/>
          <p:cNvSpPr/>
          <p:nvPr/>
        </p:nvSpPr>
        <p:spPr>
          <a:xfrm>
            <a:off x="2952750" y="31559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21" name="Text 19"/>
          <p:cNvSpPr/>
          <p:nvPr/>
        </p:nvSpPr>
        <p:spPr>
          <a:xfrm>
            <a:off x="5070475" y="31559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22" name="Text 20"/>
          <p:cNvSpPr/>
          <p:nvPr/>
        </p:nvSpPr>
        <p:spPr>
          <a:xfrm>
            <a:off x="7188200" y="31559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23" name="Text 21"/>
          <p:cNvSpPr/>
          <p:nvPr/>
        </p:nvSpPr>
        <p:spPr>
          <a:xfrm>
            <a:off x="9305925" y="31559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24" name="Text 22"/>
          <p:cNvSpPr/>
          <p:nvPr/>
        </p:nvSpPr>
        <p:spPr>
          <a:xfrm>
            <a:off x="889000" y="356235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Middleware</a:t>
            </a:r>
            <a:endParaRPr lang="en-US" sz="1200" dirty="0"/>
          </a:p>
        </p:txBody>
      </p:sp>
      <p:sp>
        <p:nvSpPr>
          <p:cNvPr id="25" name="Text 23"/>
          <p:cNvSpPr/>
          <p:nvPr/>
        </p:nvSpPr>
        <p:spPr>
          <a:xfrm>
            <a:off x="2952750" y="35052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26" name="Text 24"/>
          <p:cNvSpPr/>
          <p:nvPr/>
        </p:nvSpPr>
        <p:spPr>
          <a:xfrm>
            <a:off x="5070475" y="35052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27" name="Text 25"/>
          <p:cNvSpPr/>
          <p:nvPr/>
        </p:nvSpPr>
        <p:spPr>
          <a:xfrm>
            <a:off x="7188200" y="35052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28" name="Text 26"/>
          <p:cNvSpPr/>
          <p:nvPr/>
        </p:nvSpPr>
        <p:spPr>
          <a:xfrm>
            <a:off x="9305925" y="35052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29" name="Text 27"/>
          <p:cNvSpPr/>
          <p:nvPr/>
        </p:nvSpPr>
        <p:spPr>
          <a:xfrm>
            <a:off x="889000" y="391160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Système d’exploitation</a:t>
            </a:r>
            <a:endParaRPr lang="en-US" sz="1200" dirty="0"/>
          </a:p>
        </p:txBody>
      </p:sp>
      <p:sp>
        <p:nvSpPr>
          <p:cNvPr id="30" name="Text 28"/>
          <p:cNvSpPr/>
          <p:nvPr/>
        </p:nvSpPr>
        <p:spPr>
          <a:xfrm>
            <a:off x="2952750" y="38544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31" name="Text 29"/>
          <p:cNvSpPr/>
          <p:nvPr/>
        </p:nvSpPr>
        <p:spPr>
          <a:xfrm>
            <a:off x="5070475" y="38544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32" name="Text 30"/>
          <p:cNvSpPr/>
          <p:nvPr/>
        </p:nvSpPr>
        <p:spPr>
          <a:xfrm>
            <a:off x="7188200" y="38544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33" name="Text 31"/>
          <p:cNvSpPr/>
          <p:nvPr/>
        </p:nvSpPr>
        <p:spPr>
          <a:xfrm>
            <a:off x="9305925" y="38544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34" name="Text 32"/>
          <p:cNvSpPr/>
          <p:nvPr/>
        </p:nvSpPr>
        <p:spPr>
          <a:xfrm>
            <a:off x="889000" y="426085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Virtualisation</a:t>
            </a:r>
            <a:endParaRPr lang="en-US" sz="1200" dirty="0"/>
          </a:p>
        </p:txBody>
      </p:sp>
      <p:sp>
        <p:nvSpPr>
          <p:cNvPr id="35" name="Text 33"/>
          <p:cNvSpPr/>
          <p:nvPr/>
        </p:nvSpPr>
        <p:spPr>
          <a:xfrm>
            <a:off x="2952750" y="42037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36" name="Text 34"/>
          <p:cNvSpPr/>
          <p:nvPr/>
        </p:nvSpPr>
        <p:spPr>
          <a:xfrm>
            <a:off x="5070475" y="42037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37" name="Text 35"/>
          <p:cNvSpPr/>
          <p:nvPr/>
        </p:nvSpPr>
        <p:spPr>
          <a:xfrm>
            <a:off x="7188200" y="42037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38" name="Text 36"/>
          <p:cNvSpPr/>
          <p:nvPr/>
        </p:nvSpPr>
        <p:spPr>
          <a:xfrm>
            <a:off x="9305925" y="42037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39" name="Text 37"/>
          <p:cNvSpPr/>
          <p:nvPr/>
        </p:nvSpPr>
        <p:spPr>
          <a:xfrm>
            <a:off x="889000" y="461010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Serveurs</a:t>
            </a:r>
            <a:endParaRPr lang="en-US" sz="1200" dirty="0"/>
          </a:p>
        </p:txBody>
      </p:sp>
      <p:sp>
        <p:nvSpPr>
          <p:cNvPr id="40" name="Text 38"/>
          <p:cNvSpPr/>
          <p:nvPr/>
        </p:nvSpPr>
        <p:spPr>
          <a:xfrm>
            <a:off x="2952750" y="45529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41" name="Text 39"/>
          <p:cNvSpPr/>
          <p:nvPr/>
        </p:nvSpPr>
        <p:spPr>
          <a:xfrm>
            <a:off x="5070475" y="45529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2" name="Text 40"/>
          <p:cNvSpPr/>
          <p:nvPr/>
        </p:nvSpPr>
        <p:spPr>
          <a:xfrm>
            <a:off x="7188200" y="45529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3" name="Text 41"/>
          <p:cNvSpPr/>
          <p:nvPr/>
        </p:nvSpPr>
        <p:spPr>
          <a:xfrm>
            <a:off x="9305925" y="45529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4" name="Text 42"/>
          <p:cNvSpPr/>
          <p:nvPr/>
        </p:nvSpPr>
        <p:spPr>
          <a:xfrm>
            <a:off x="889000" y="495935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Stockage</a:t>
            </a:r>
            <a:endParaRPr lang="en-US" sz="1200" dirty="0"/>
          </a:p>
        </p:txBody>
      </p:sp>
      <p:sp>
        <p:nvSpPr>
          <p:cNvPr id="45" name="Text 43"/>
          <p:cNvSpPr/>
          <p:nvPr/>
        </p:nvSpPr>
        <p:spPr>
          <a:xfrm>
            <a:off x="2952750" y="490220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46" name="Text 44"/>
          <p:cNvSpPr/>
          <p:nvPr/>
        </p:nvSpPr>
        <p:spPr>
          <a:xfrm>
            <a:off x="5070475" y="49022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7" name="Text 45"/>
          <p:cNvSpPr/>
          <p:nvPr/>
        </p:nvSpPr>
        <p:spPr>
          <a:xfrm>
            <a:off x="7188200" y="49022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8" name="Text 46"/>
          <p:cNvSpPr/>
          <p:nvPr/>
        </p:nvSpPr>
        <p:spPr>
          <a:xfrm>
            <a:off x="9305925" y="490220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9" name="Text 47"/>
          <p:cNvSpPr/>
          <p:nvPr/>
        </p:nvSpPr>
        <p:spPr>
          <a:xfrm>
            <a:off x="889000" y="5308600"/>
            <a:ext cx="2001393"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Réseau</a:t>
            </a:r>
            <a:endParaRPr lang="en-US" sz="1200" dirty="0"/>
          </a:p>
        </p:txBody>
      </p:sp>
      <p:sp>
        <p:nvSpPr>
          <p:cNvPr id="50" name="Text 48"/>
          <p:cNvSpPr/>
          <p:nvPr/>
        </p:nvSpPr>
        <p:spPr>
          <a:xfrm>
            <a:off x="2952750" y="5251450"/>
            <a:ext cx="2073275" cy="304800"/>
          </a:xfrm>
          <a:prstGeom prst="roundRect">
            <a:avLst>
              <a:gd name="adj" fmla="val 12500"/>
            </a:avLst>
          </a:prstGeom>
          <a:solidFill>
            <a:srgbClr val="D3EDF1"/>
          </a:solidFill>
          <a:ln/>
        </p:spPr>
        <p:txBody>
          <a:bodyPr wrap="square" lIns="36228" tIns="45991" rIns="36228" bIns="20591"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51" name="Text 49"/>
          <p:cNvSpPr/>
          <p:nvPr/>
        </p:nvSpPr>
        <p:spPr>
          <a:xfrm>
            <a:off x="5070475" y="52514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52" name="Text 50"/>
          <p:cNvSpPr/>
          <p:nvPr/>
        </p:nvSpPr>
        <p:spPr>
          <a:xfrm>
            <a:off x="7188200" y="52514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53" name="Text 51"/>
          <p:cNvSpPr/>
          <p:nvPr/>
        </p:nvSpPr>
        <p:spPr>
          <a:xfrm>
            <a:off x="9305925" y="5251450"/>
            <a:ext cx="2073275" cy="304800"/>
          </a:xfrm>
          <a:prstGeom prst="roundRect">
            <a:avLst>
              <a:gd name="adj" fmla="val 12500"/>
            </a:avLst>
          </a:prstGeom>
          <a:solidFill>
            <a:srgbClr val="5B2E9E"/>
          </a:solidFill>
          <a:ln/>
        </p:spPr>
        <p:txBody>
          <a:bodyPr wrap="square" lIns="36228" tIns="45991" rIns="36228" bIns="20591" rtlCol="0" anchor="t">
            <a:normAutofit/>
          </a:bodyPr>
          <a:lstStyle/>
          <a:p>
            <a:pPr marL="0" indent="0" algn="ctr">
              <a:lnSpc>
                <a:spcPts val="150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54" name="Text 5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1 · LE CLOUD : DÉFINITIONS ET MODÈLES</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Penser cloud native : monolithe ou micro-services ?</a:t>
            </a:r>
            <a:endParaRPr lang="en-US" sz="3200" dirty="0"/>
          </a:p>
        </p:txBody>
      </p:sp>
      <p:sp>
        <p:nvSpPr>
          <p:cNvPr id="4" name="Shape 2"/>
          <p:cNvSpPr/>
          <p:nvPr/>
        </p:nvSpPr>
        <p:spPr>
          <a:xfrm>
            <a:off x="822325" y="1736725"/>
            <a:ext cx="5060950" cy="963930"/>
          </a:xfrm>
          <a:prstGeom prst="roundRect">
            <a:avLst>
              <a:gd name="adj" fmla="val 9552"/>
            </a:avLst>
          </a:prstGeom>
          <a:solidFill>
            <a:srgbClr val="ECE7F6"/>
          </a:solidFill>
          <a:ln w="19050">
            <a:solidFill>
              <a:srgbClr val="5B2E9E"/>
            </a:solidFill>
            <a:prstDash val="solid"/>
          </a:ln>
        </p:spPr>
        <p:txBody>
          <a:bodyPr/>
          <a:lstStyle/>
          <a:p>
            <a:endParaRPr lang="fr-FR"/>
          </a:p>
        </p:txBody>
      </p:sp>
      <p:sp>
        <p:nvSpPr>
          <p:cNvPr id="5" name="Text 3"/>
          <p:cNvSpPr/>
          <p:nvPr/>
        </p:nvSpPr>
        <p:spPr>
          <a:xfrm>
            <a:off x="955040" y="1869442"/>
            <a:ext cx="4939386"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Une seule application, déployée en bloc</a:t>
            </a:r>
            <a:endParaRPr lang="en-US" sz="1200" dirty="0"/>
          </a:p>
        </p:txBody>
      </p:sp>
      <p:sp>
        <p:nvSpPr>
          <p:cNvPr id="6" name="Text 4"/>
          <p:cNvSpPr/>
          <p:nvPr/>
        </p:nvSpPr>
        <p:spPr>
          <a:xfrm>
            <a:off x="955040" y="2176779"/>
            <a:ext cx="1547707" cy="391160"/>
          </a:xfrm>
          <a:custGeom>
            <a:avLst/>
            <a:gdLst/>
            <a:ahLst/>
            <a:cxnLst/>
            <a:rect l="l" t="t" r="r" b="b"/>
            <a:pathLst>
              <a:path w="1547707" h="391160">
                <a:moveTo>
                  <a:pt x="50800" y="0"/>
                </a:moveTo>
                <a:lnTo>
                  <a:pt x="1496907" y="0"/>
                </a:lnTo>
                <a:arcTo wR="50800" hR="50800" stAng="16200000" swAng="5400000"/>
                <a:lnTo>
                  <a:pt x="1547707" y="340360"/>
                </a:lnTo>
                <a:arcTo wR="50800" hR="50800" stAng="0" swAng="5400000"/>
                <a:lnTo>
                  <a:pt x="50800" y="391160"/>
                </a:lnTo>
                <a:arcTo wR="50800" hR="50800" stAng="5400000" swAng="5400000"/>
                <a:lnTo>
                  <a:pt x="0" y="50800"/>
                </a:lnTo>
                <a:arcTo wR="50800" hR="50800" stAng="10800000" swAng="5400000"/>
                <a:close/>
              </a:path>
            </a:pathLst>
          </a:custGeom>
          <a:solidFill>
            <a:srgbClr val="FDFCFE"/>
          </a:solidFill>
          <a:ln/>
        </p:spPr>
        <p:txBody>
          <a:bodyPr wrap="square" lIns="25400" tIns="88900" rIns="25400" bIns="635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Catalogue</a:t>
            </a:r>
            <a:endParaRPr lang="en-US" sz="1200" dirty="0"/>
          </a:p>
        </p:txBody>
      </p:sp>
      <p:sp>
        <p:nvSpPr>
          <p:cNvPr id="7" name="Text 5"/>
          <p:cNvSpPr/>
          <p:nvPr/>
        </p:nvSpPr>
        <p:spPr>
          <a:xfrm>
            <a:off x="2578947" y="2176779"/>
            <a:ext cx="1547707" cy="391160"/>
          </a:xfrm>
          <a:custGeom>
            <a:avLst/>
            <a:gdLst/>
            <a:ahLst/>
            <a:cxnLst/>
            <a:rect l="l" t="t" r="r" b="b"/>
            <a:pathLst>
              <a:path w="1547707" h="391160">
                <a:moveTo>
                  <a:pt x="50800" y="0"/>
                </a:moveTo>
                <a:lnTo>
                  <a:pt x="1496907" y="0"/>
                </a:lnTo>
                <a:arcTo wR="50800" hR="50800" stAng="16200000" swAng="5400000"/>
                <a:lnTo>
                  <a:pt x="1547707" y="340360"/>
                </a:lnTo>
                <a:arcTo wR="50800" hR="50800" stAng="0" swAng="5400000"/>
                <a:lnTo>
                  <a:pt x="50800" y="391160"/>
                </a:lnTo>
                <a:arcTo wR="50800" hR="50800" stAng="5400000" swAng="5400000"/>
                <a:lnTo>
                  <a:pt x="0" y="50800"/>
                </a:lnTo>
                <a:arcTo wR="50800" hR="50800" stAng="10800000" swAng="5400000"/>
                <a:close/>
              </a:path>
            </a:pathLst>
          </a:custGeom>
          <a:solidFill>
            <a:srgbClr val="FDFCFE"/>
          </a:solidFill>
          <a:ln/>
        </p:spPr>
        <p:txBody>
          <a:bodyPr wrap="square" lIns="25400" tIns="88900" rIns="25400" bIns="635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Paiement</a:t>
            </a:r>
            <a:endParaRPr lang="en-US" sz="1200" dirty="0"/>
          </a:p>
        </p:txBody>
      </p:sp>
      <p:sp>
        <p:nvSpPr>
          <p:cNvPr id="8" name="Text 6"/>
          <p:cNvSpPr/>
          <p:nvPr/>
        </p:nvSpPr>
        <p:spPr>
          <a:xfrm>
            <a:off x="4202854" y="2176779"/>
            <a:ext cx="1547707" cy="391160"/>
          </a:xfrm>
          <a:custGeom>
            <a:avLst/>
            <a:gdLst/>
            <a:ahLst/>
            <a:cxnLst/>
            <a:rect l="l" t="t" r="r" b="b"/>
            <a:pathLst>
              <a:path w="1547707" h="391160">
                <a:moveTo>
                  <a:pt x="50800" y="0"/>
                </a:moveTo>
                <a:lnTo>
                  <a:pt x="1496907" y="0"/>
                </a:lnTo>
                <a:arcTo wR="50800" hR="50800" stAng="16200000" swAng="5400000"/>
                <a:lnTo>
                  <a:pt x="1547707" y="340360"/>
                </a:lnTo>
                <a:arcTo wR="50800" hR="50800" stAng="0" swAng="5400000"/>
                <a:lnTo>
                  <a:pt x="50800" y="391160"/>
                </a:lnTo>
                <a:arcTo wR="50800" hR="50800" stAng="5400000" swAng="5400000"/>
                <a:lnTo>
                  <a:pt x="0" y="50800"/>
                </a:lnTo>
                <a:arcTo wR="50800" hR="50800" stAng="10800000" swAng="5400000"/>
                <a:close/>
              </a:path>
            </a:pathLst>
          </a:custGeom>
          <a:solidFill>
            <a:srgbClr val="FDFCFE"/>
          </a:solidFill>
          <a:ln/>
        </p:spPr>
        <p:txBody>
          <a:bodyPr wrap="square" lIns="25400" tIns="88900" rIns="25400" bIns="635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Comptes</a:t>
            </a:r>
            <a:endParaRPr lang="en-US" sz="1200" dirty="0"/>
          </a:p>
        </p:txBody>
      </p:sp>
      <p:pic>
        <p:nvPicPr>
          <p:cNvPr id="9" name="Image 0" descr="connector"/>
          <p:cNvPicPr>
            <a:picLocks noChangeAspect="1"/>
          </p:cNvPicPr>
          <p:nvPr/>
        </p:nvPicPr>
        <p:blipFill>
          <a:blip r:embed="rId3"/>
          <a:srcRect/>
          <a:stretch/>
        </p:blipFill>
        <p:spPr>
          <a:xfrm>
            <a:off x="3302000" y="2760979"/>
            <a:ext cx="101600" cy="254000"/>
          </a:xfrm>
          <a:prstGeom prst="rect">
            <a:avLst/>
          </a:prstGeom>
        </p:spPr>
      </p:pic>
      <p:sp>
        <p:nvSpPr>
          <p:cNvPr id="10" name="Text 7"/>
          <p:cNvSpPr/>
          <p:nvPr/>
        </p:nvSpPr>
        <p:spPr>
          <a:xfrm>
            <a:off x="2019300" y="3065779"/>
            <a:ext cx="2667000" cy="365760"/>
          </a:xfrm>
          <a:prstGeom prst="roundRect">
            <a:avLst>
              <a:gd name="adj" fmla="val 41667"/>
            </a:avLst>
          </a:prstGeom>
          <a:solidFill>
            <a:srgbClr val="E4E2EA"/>
          </a:solidFill>
          <a:ln/>
        </p:spPr>
        <p:txBody>
          <a:bodyPr wrap="square" lIns="20007" tIns="31564" rIns="20007" bIns="6164"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Une base de données</a:t>
            </a:r>
            <a:endParaRPr lang="en-US" sz="1200" dirty="0"/>
          </a:p>
        </p:txBody>
      </p:sp>
      <p:sp>
        <p:nvSpPr>
          <p:cNvPr id="11" name="Text 8"/>
          <p:cNvSpPr/>
          <p:nvPr/>
        </p:nvSpPr>
        <p:spPr>
          <a:xfrm>
            <a:off x="812800" y="3759200"/>
            <a:ext cx="52324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Monolithe</a:t>
            </a:r>
            <a:endParaRPr lang="en-US" sz="1600" dirty="0"/>
          </a:p>
        </p:txBody>
      </p:sp>
      <p:sp>
        <p:nvSpPr>
          <p:cNvPr id="12" name="Text 9"/>
          <p:cNvSpPr/>
          <p:nvPr/>
        </p:nvSpPr>
        <p:spPr>
          <a:xfrm>
            <a:off x="812800" y="4130042"/>
            <a:ext cx="523240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Simple à développer et à déployer au départ ; mais toute l’application passe à l’échelle d’un bloc.</a:t>
            </a:r>
            <a:endParaRPr lang="en-US" sz="1300" dirty="0"/>
          </a:p>
        </p:txBody>
      </p:sp>
      <p:sp>
        <p:nvSpPr>
          <p:cNvPr id="13" name="Shape 10"/>
          <p:cNvSpPr/>
          <p:nvPr/>
        </p:nvSpPr>
        <p:spPr>
          <a:xfrm>
            <a:off x="6308725" y="1736725"/>
            <a:ext cx="1589617" cy="664210"/>
          </a:xfrm>
          <a:prstGeom prst="roundRect">
            <a:avLst>
              <a:gd name="adj" fmla="val 11950"/>
            </a:avLst>
          </a:prstGeom>
          <a:solidFill>
            <a:srgbClr val="D3EDF1"/>
          </a:solidFill>
          <a:ln w="19050">
            <a:solidFill>
              <a:srgbClr val="137485"/>
            </a:solidFill>
            <a:prstDash val="solid"/>
          </a:ln>
        </p:spPr>
        <p:txBody>
          <a:bodyPr/>
          <a:lstStyle/>
          <a:p>
            <a:endParaRPr lang="fr-FR"/>
          </a:p>
        </p:txBody>
      </p:sp>
      <p:sp>
        <p:nvSpPr>
          <p:cNvPr id="14" name="Text 11"/>
          <p:cNvSpPr/>
          <p:nvPr/>
        </p:nvSpPr>
        <p:spPr>
          <a:xfrm>
            <a:off x="6390640" y="1844042"/>
            <a:ext cx="1425787"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Catalogue</a:t>
            </a:r>
            <a:endParaRPr lang="en-US" sz="1200" dirty="0"/>
          </a:p>
        </p:txBody>
      </p:sp>
      <p:sp>
        <p:nvSpPr>
          <p:cNvPr id="15" name="Text 12"/>
          <p:cNvSpPr/>
          <p:nvPr/>
        </p:nvSpPr>
        <p:spPr>
          <a:xfrm>
            <a:off x="6390640" y="2087879"/>
            <a:ext cx="1425787" cy="23114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conteneur</a:t>
            </a:r>
            <a:endParaRPr lang="en-US" sz="1200" dirty="0"/>
          </a:p>
        </p:txBody>
      </p:sp>
      <p:pic>
        <p:nvPicPr>
          <p:cNvPr id="16" name="Image 1" descr="connector"/>
          <p:cNvPicPr>
            <a:picLocks noChangeAspect="1"/>
          </p:cNvPicPr>
          <p:nvPr/>
        </p:nvPicPr>
        <p:blipFill>
          <a:blip r:embed="rId3"/>
          <a:srcRect/>
          <a:stretch/>
        </p:blipFill>
        <p:spPr>
          <a:xfrm>
            <a:off x="7052733" y="2461258"/>
            <a:ext cx="101600" cy="254000"/>
          </a:xfrm>
          <a:prstGeom prst="rect">
            <a:avLst/>
          </a:prstGeom>
        </p:spPr>
      </p:pic>
      <p:sp>
        <p:nvSpPr>
          <p:cNvPr id="17" name="Text 13"/>
          <p:cNvSpPr/>
          <p:nvPr/>
        </p:nvSpPr>
        <p:spPr>
          <a:xfrm>
            <a:off x="6299200" y="2766058"/>
            <a:ext cx="1608667" cy="365760"/>
          </a:xfrm>
          <a:prstGeom prst="roundRect">
            <a:avLst>
              <a:gd name="adj" fmla="val 41667"/>
            </a:avLst>
          </a:prstGeom>
          <a:solidFill>
            <a:srgbClr val="E4E2EA"/>
          </a:solidFill>
          <a:ln/>
        </p:spPr>
        <p:txBody>
          <a:bodyPr wrap="square" lIns="31564" tIns="31564" rIns="31564" bIns="6164"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Sa base</a:t>
            </a:r>
            <a:endParaRPr lang="en-US" sz="1200" dirty="0"/>
          </a:p>
        </p:txBody>
      </p:sp>
      <p:sp>
        <p:nvSpPr>
          <p:cNvPr id="18" name="Shape 14"/>
          <p:cNvSpPr/>
          <p:nvPr/>
        </p:nvSpPr>
        <p:spPr>
          <a:xfrm>
            <a:off x="8044392" y="1736725"/>
            <a:ext cx="1589617" cy="664210"/>
          </a:xfrm>
          <a:prstGeom prst="roundRect">
            <a:avLst>
              <a:gd name="adj" fmla="val 11950"/>
            </a:avLst>
          </a:prstGeom>
          <a:solidFill>
            <a:srgbClr val="D3EDF1"/>
          </a:solidFill>
          <a:ln w="19050">
            <a:solidFill>
              <a:srgbClr val="137485"/>
            </a:solidFill>
            <a:prstDash val="solid"/>
          </a:ln>
        </p:spPr>
        <p:txBody>
          <a:bodyPr/>
          <a:lstStyle/>
          <a:p>
            <a:endParaRPr lang="fr-FR"/>
          </a:p>
        </p:txBody>
      </p:sp>
      <p:sp>
        <p:nvSpPr>
          <p:cNvPr id="19" name="Text 15"/>
          <p:cNvSpPr/>
          <p:nvPr/>
        </p:nvSpPr>
        <p:spPr>
          <a:xfrm>
            <a:off x="8126307" y="1844042"/>
            <a:ext cx="1425787"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Paiement</a:t>
            </a:r>
            <a:endParaRPr lang="en-US" sz="1200" dirty="0"/>
          </a:p>
        </p:txBody>
      </p:sp>
      <p:sp>
        <p:nvSpPr>
          <p:cNvPr id="20" name="Text 16"/>
          <p:cNvSpPr/>
          <p:nvPr/>
        </p:nvSpPr>
        <p:spPr>
          <a:xfrm>
            <a:off x="8126307" y="2087879"/>
            <a:ext cx="1425787" cy="23114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conteneur</a:t>
            </a:r>
            <a:endParaRPr lang="en-US" sz="1200" dirty="0"/>
          </a:p>
        </p:txBody>
      </p:sp>
      <p:pic>
        <p:nvPicPr>
          <p:cNvPr id="21" name="Image 2" descr="connector"/>
          <p:cNvPicPr>
            <a:picLocks noChangeAspect="1"/>
          </p:cNvPicPr>
          <p:nvPr/>
        </p:nvPicPr>
        <p:blipFill>
          <a:blip r:embed="rId3"/>
          <a:srcRect/>
          <a:stretch/>
        </p:blipFill>
        <p:spPr>
          <a:xfrm>
            <a:off x="8788400" y="2461258"/>
            <a:ext cx="101600" cy="254000"/>
          </a:xfrm>
          <a:prstGeom prst="rect">
            <a:avLst/>
          </a:prstGeom>
        </p:spPr>
      </p:pic>
      <p:sp>
        <p:nvSpPr>
          <p:cNvPr id="22" name="Text 17"/>
          <p:cNvSpPr/>
          <p:nvPr/>
        </p:nvSpPr>
        <p:spPr>
          <a:xfrm>
            <a:off x="8034867" y="2766058"/>
            <a:ext cx="1608667" cy="365760"/>
          </a:xfrm>
          <a:prstGeom prst="roundRect">
            <a:avLst>
              <a:gd name="adj" fmla="val 41667"/>
            </a:avLst>
          </a:prstGeom>
          <a:solidFill>
            <a:srgbClr val="E4E2EA"/>
          </a:solidFill>
          <a:ln/>
        </p:spPr>
        <p:txBody>
          <a:bodyPr wrap="square" lIns="31564" tIns="31564" rIns="31564" bIns="6164"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Sa base</a:t>
            </a:r>
            <a:endParaRPr lang="en-US" sz="1200" dirty="0"/>
          </a:p>
        </p:txBody>
      </p:sp>
      <p:sp>
        <p:nvSpPr>
          <p:cNvPr id="23" name="Shape 18"/>
          <p:cNvSpPr/>
          <p:nvPr/>
        </p:nvSpPr>
        <p:spPr>
          <a:xfrm>
            <a:off x="9780058" y="1736725"/>
            <a:ext cx="1589617" cy="664210"/>
          </a:xfrm>
          <a:prstGeom prst="roundRect">
            <a:avLst>
              <a:gd name="adj" fmla="val 11950"/>
            </a:avLst>
          </a:prstGeom>
          <a:solidFill>
            <a:srgbClr val="D3EDF1"/>
          </a:solidFill>
          <a:ln w="19050">
            <a:solidFill>
              <a:srgbClr val="137485"/>
            </a:solidFill>
            <a:prstDash val="solid"/>
          </a:ln>
        </p:spPr>
        <p:txBody>
          <a:bodyPr/>
          <a:lstStyle/>
          <a:p>
            <a:endParaRPr lang="fr-FR"/>
          </a:p>
        </p:txBody>
      </p:sp>
      <p:sp>
        <p:nvSpPr>
          <p:cNvPr id="24" name="Text 19"/>
          <p:cNvSpPr/>
          <p:nvPr/>
        </p:nvSpPr>
        <p:spPr>
          <a:xfrm>
            <a:off x="9861973" y="1844042"/>
            <a:ext cx="1425787"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Comptes</a:t>
            </a:r>
            <a:endParaRPr lang="en-US" sz="1200" dirty="0"/>
          </a:p>
        </p:txBody>
      </p:sp>
      <p:sp>
        <p:nvSpPr>
          <p:cNvPr id="25" name="Text 20"/>
          <p:cNvSpPr/>
          <p:nvPr/>
        </p:nvSpPr>
        <p:spPr>
          <a:xfrm>
            <a:off x="9861973" y="2087879"/>
            <a:ext cx="1425787" cy="23114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conteneur</a:t>
            </a:r>
            <a:endParaRPr lang="en-US" sz="1200" dirty="0"/>
          </a:p>
        </p:txBody>
      </p:sp>
      <p:pic>
        <p:nvPicPr>
          <p:cNvPr id="26" name="Image 3" descr="connector"/>
          <p:cNvPicPr>
            <a:picLocks noChangeAspect="1"/>
          </p:cNvPicPr>
          <p:nvPr/>
        </p:nvPicPr>
        <p:blipFill>
          <a:blip r:embed="rId3"/>
          <a:srcRect/>
          <a:stretch/>
        </p:blipFill>
        <p:spPr>
          <a:xfrm>
            <a:off x="10524067" y="2461258"/>
            <a:ext cx="101600" cy="254000"/>
          </a:xfrm>
          <a:prstGeom prst="rect">
            <a:avLst/>
          </a:prstGeom>
        </p:spPr>
      </p:pic>
      <p:sp>
        <p:nvSpPr>
          <p:cNvPr id="27" name="Text 21"/>
          <p:cNvSpPr/>
          <p:nvPr/>
        </p:nvSpPr>
        <p:spPr>
          <a:xfrm>
            <a:off x="9770533" y="2766058"/>
            <a:ext cx="1608667" cy="365760"/>
          </a:xfrm>
          <a:prstGeom prst="roundRect">
            <a:avLst>
              <a:gd name="adj" fmla="val 41667"/>
            </a:avLst>
          </a:prstGeom>
          <a:solidFill>
            <a:srgbClr val="E4E2EA"/>
          </a:solidFill>
          <a:ln/>
        </p:spPr>
        <p:txBody>
          <a:bodyPr wrap="square" lIns="31564" tIns="31564" rIns="31564" bIns="6164"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Sa base</a:t>
            </a:r>
            <a:endParaRPr lang="en-US" sz="1200" dirty="0"/>
          </a:p>
        </p:txBody>
      </p:sp>
      <p:sp>
        <p:nvSpPr>
          <p:cNvPr id="28" name="Text 22"/>
          <p:cNvSpPr/>
          <p:nvPr/>
        </p:nvSpPr>
        <p:spPr>
          <a:xfrm>
            <a:off x="6299200" y="3759200"/>
            <a:ext cx="52324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Micro-services</a:t>
            </a:r>
            <a:endParaRPr lang="en-US" sz="1600" dirty="0"/>
          </a:p>
        </p:txBody>
      </p:sp>
      <p:sp>
        <p:nvSpPr>
          <p:cNvPr id="29" name="Text 23"/>
          <p:cNvSpPr/>
          <p:nvPr/>
        </p:nvSpPr>
        <p:spPr>
          <a:xfrm>
            <a:off x="6299200" y="4130042"/>
            <a:ext cx="523240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Chaque service, léger et indépendant, est déployé, mis à l’échelle et modifié sans toucher aux autres. Ils communiquent par API.</a:t>
            </a:r>
            <a:endParaRPr lang="en-US" sz="1300" dirty="0"/>
          </a:p>
        </p:txBody>
      </p:sp>
      <p:sp>
        <p:nvSpPr>
          <p:cNvPr id="30" name="Text 24"/>
          <p:cNvSpPr/>
          <p:nvPr/>
        </p:nvSpPr>
        <p:spPr>
          <a:xfrm>
            <a:off x="812800" y="4779008"/>
            <a:ext cx="10566400" cy="734060"/>
          </a:xfrm>
          <a:prstGeom prst="roundRect">
            <a:avLst>
              <a:gd name="adj" fmla="val 10381"/>
            </a:avLst>
          </a:prstGeom>
          <a:solidFill>
            <a:srgbClr val="FBE5CF"/>
          </a:solidFill>
          <a:ln/>
        </p:spPr>
        <p:txBody>
          <a:bodyPr wrap="square" lIns="155482" tIns="104682" rIns="0" bIns="79282" rtlCol="0" anchor="t">
            <a:normAutofit/>
          </a:bodyPr>
          <a:lstStyle/>
          <a:p>
            <a:pPr marL="0" indent="0" algn="l">
              <a:lnSpc>
                <a:spcPts val="1890"/>
              </a:lnSpc>
              <a:buNone/>
            </a:pPr>
            <a:r>
              <a:rPr lang="en-US" sz="1400" b="1" dirty="0">
                <a:solidFill>
                  <a:srgbClr val="231B3A"/>
                </a:solidFill>
                <a:latin typeface="IBM Plex Sans" pitchFamily="34" charset="0"/>
                <a:ea typeface="IBM Plex Sans" pitchFamily="34" charset="-122"/>
                <a:cs typeface="IBM Plex Sans" pitchFamily="34" charset="-120"/>
              </a:rPr>
              <a:t>Attention :</a:t>
            </a:r>
            <a:r>
              <a:rPr lang="en-US" sz="1400" dirty="0">
                <a:solidFill>
                  <a:srgbClr val="231B3A"/>
                </a:solidFill>
                <a:latin typeface="IBM Plex Sans" pitchFamily="34" charset="0"/>
                <a:ea typeface="IBM Plex Sans" pitchFamily="34" charset="-122"/>
                <a:cs typeface="IBM Plex Sans" pitchFamily="34" charset="-120"/>
              </a:rPr>
              <a:t> la simplicité est trompeuse (dépendances, passage de données entre services). Et cloud native ne veut pas dire micro-services obligatoires : un monolithe conteneurisé reste pertinent pour une petite application.</a:t>
            </a:r>
            <a:endParaRPr lang="en-US" sz="1400" dirty="0"/>
          </a:p>
        </p:txBody>
      </p:sp>
      <p:sp>
        <p:nvSpPr>
          <p:cNvPr id="31" name="Text 2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2 · LES FOURNISSEURS</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Panorama des trois grands fournisseurs</a:t>
            </a:r>
            <a:endParaRPr lang="en-US" sz="3200" dirty="0"/>
          </a:p>
        </p:txBody>
      </p:sp>
      <p:sp>
        <p:nvSpPr>
          <p:cNvPr id="4" name="Shape 2"/>
          <p:cNvSpPr/>
          <p:nvPr/>
        </p:nvSpPr>
        <p:spPr>
          <a:xfrm>
            <a:off x="822325" y="1736725"/>
            <a:ext cx="3367617" cy="2821305"/>
          </a:xfrm>
          <a:prstGeom prst="roundRect">
            <a:avLst>
              <a:gd name="adj" fmla="val 3264"/>
            </a:avLst>
          </a:prstGeom>
          <a:solidFill>
            <a:srgbClr val="FDFCFE"/>
          </a:solidFill>
          <a:ln w="19050">
            <a:solidFill>
              <a:srgbClr val="A65400"/>
            </a:solidFill>
            <a:prstDash val="solid"/>
          </a:ln>
        </p:spPr>
        <p:txBody>
          <a:bodyPr/>
          <a:lstStyle/>
          <a:p>
            <a:endParaRPr lang="fr-FR"/>
          </a:p>
        </p:txBody>
      </p:sp>
      <p:sp>
        <p:nvSpPr>
          <p:cNvPr id="5" name="Text 3"/>
          <p:cNvSpPr/>
          <p:nvPr/>
        </p:nvSpPr>
        <p:spPr>
          <a:xfrm>
            <a:off x="1031240" y="1945642"/>
            <a:ext cx="30382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65400"/>
                </a:solidFill>
                <a:latin typeface="IBM Plex Sans" pitchFamily="34" charset="0"/>
                <a:ea typeface="IBM Plex Sans" pitchFamily="34" charset="-122"/>
                <a:cs typeface="IBM Plex Sans" pitchFamily="34" charset="-120"/>
              </a:rPr>
              <a:t>AWS</a:t>
            </a:r>
            <a:endParaRPr lang="en-US" sz="1400" dirty="0"/>
          </a:p>
        </p:txBody>
      </p:sp>
      <p:sp>
        <p:nvSpPr>
          <p:cNvPr id="6" name="Text 4"/>
          <p:cNvSpPr/>
          <p:nvPr/>
        </p:nvSpPr>
        <p:spPr>
          <a:xfrm>
            <a:off x="1031240" y="2270758"/>
            <a:ext cx="30382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65400"/>
                </a:solidFill>
                <a:latin typeface="IBM Plex Sans" pitchFamily="34" charset="0"/>
                <a:ea typeface="IBM Plex Sans" pitchFamily="34" charset="-122"/>
                <a:cs typeface="IBM Plex Sans" pitchFamily="34" charset="-120"/>
              </a:rPr>
              <a:t>28 %</a:t>
            </a:r>
            <a:endParaRPr lang="en-US" sz="6000" dirty="0"/>
          </a:p>
        </p:txBody>
      </p:sp>
      <p:sp>
        <p:nvSpPr>
          <p:cNvPr id="7" name="Text 5"/>
          <p:cNvSpPr/>
          <p:nvPr/>
        </p:nvSpPr>
        <p:spPr>
          <a:xfrm>
            <a:off x="1031240" y="3108958"/>
            <a:ext cx="303828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part du marché mondial</a:t>
            </a:r>
            <a:endParaRPr lang="en-US" sz="1200" dirty="0"/>
          </a:p>
        </p:txBody>
      </p:sp>
      <p:sp>
        <p:nvSpPr>
          <p:cNvPr id="8" name="Text 6"/>
          <p:cNvSpPr/>
          <p:nvPr/>
        </p:nvSpPr>
        <p:spPr>
          <a:xfrm>
            <a:off x="1031240" y="3390900"/>
            <a:ext cx="30382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Amazon Web Services</a:t>
            </a:r>
            <a:endParaRPr lang="en-US" sz="1400" dirty="0"/>
          </a:p>
        </p:txBody>
      </p:sp>
      <p:sp>
        <p:nvSpPr>
          <p:cNvPr id="9" name="Text 7"/>
          <p:cNvSpPr/>
          <p:nvPr/>
        </p:nvSpPr>
        <p:spPr>
          <a:xfrm>
            <a:off x="1031240" y="3680458"/>
            <a:ext cx="303828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Le pionnier (2006) et le catalogue de services le plus large.</a:t>
            </a:r>
            <a:endParaRPr lang="en-US" sz="1300" dirty="0"/>
          </a:p>
        </p:txBody>
      </p:sp>
      <p:sp>
        <p:nvSpPr>
          <p:cNvPr id="10" name="Shape 8"/>
          <p:cNvSpPr/>
          <p:nvPr/>
        </p:nvSpPr>
        <p:spPr>
          <a:xfrm>
            <a:off x="4412192" y="1736725"/>
            <a:ext cx="3367617" cy="2821305"/>
          </a:xfrm>
          <a:prstGeom prst="roundRect">
            <a:avLst>
              <a:gd name="adj" fmla="val 3264"/>
            </a:avLst>
          </a:prstGeom>
          <a:solidFill>
            <a:srgbClr val="FDFCFE"/>
          </a:solidFill>
          <a:ln w="19050">
            <a:solidFill>
              <a:srgbClr val="5B2E9E"/>
            </a:solidFill>
            <a:prstDash val="solid"/>
          </a:ln>
        </p:spPr>
        <p:txBody>
          <a:bodyPr/>
          <a:lstStyle/>
          <a:p>
            <a:endParaRPr lang="fr-FR"/>
          </a:p>
        </p:txBody>
      </p:sp>
      <p:sp>
        <p:nvSpPr>
          <p:cNvPr id="11" name="Text 9"/>
          <p:cNvSpPr/>
          <p:nvPr/>
        </p:nvSpPr>
        <p:spPr>
          <a:xfrm>
            <a:off x="4621107" y="1945642"/>
            <a:ext cx="30382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B2E9E"/>
                </a:solidFill>
                <a:latin typeface="IBM Plex Sans" pitchFamily="34" charset="0"/>
                <a:ea typeface="IBM Plex Sans" pitchFamily="34" charset="-122"/>
                <a:cs typeface="IBM Plex Sans" pitchFamily="34" charset="-120"/>
              </a:rPr>
              <a:t>Azure</a:t>
            </a:r>
            <a:endParaRPr lang="en-US" sz="1400" dirty="0"/>
          </a:p>
        </p:txBody>
      </p:sp>
      <p:sp>
        <p:nvSpPr>
          <p:cNvPr id="12" name="Text 10"/>
          <p:cNvSpPr/>
          <p:nvPr/>
        </p:nvSpPr>
        <p:spPr>
          <a:xfrm>
            <a:off x="4621107" y="2270758"/>
            <a:ext cx="30382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5B2E9E"/>
                </a:solidFill>
                <a:latin typeface="IBM Plex Sans" pitchFamily="34" charset="0"/>
                <a:ea typeface="IBM Plex Sans" pitchFamily="34" charset="-122"/>
                <a:cs typeface="IBM Plex Sans" pitchFamily="34" charset="-120"/>
              </a:rPr>
              <a:t>20 %</a:t>
            </a:r>
            <a:endParaRPr lang="en-US" sz="6000" dirty="0"/>
          </a:p>
        </p:txBody>
      </p:sp>
      <p:sp>
        <p:nvSpPr>
          <p:cNvPr id="13" name="Text 11"/>
          <p:cNvSpPr/>
          <p:nvPr/>
        </p:nvSpPr>
        <p:spPr>
          <a:xfrm>
            <a:off x="4621107" y="3108958"/>
            <a:ext cx="303828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part du marché mondial</a:t>
            </a:r>
            <a:endParaRPr lang="en-US" sz="1200" dirty="0"/>
          </a:p>
        </p:txBody>
      </p:sp>
      <p:sp>
        <p:nvSpPr>
          <p:cNvPr id="14" name="Text 12"/>
          <p:cNvSpPr/>
          <p:nvPr/>
        </p:nvSpPr>
        <p:spPr>
          <a:xfrm>
            <a:off x="4621107" y="3390900"/>
            <a:ext cx="30382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Microsoft</a:t>
            </a:r>
            <a:endParaRPr lang="en-US" sz="1400" dirty="0"/>
          </a:p>
        </p:txBody>
      </p:sp>
      <p:sp>
        <p:nvSpPr>
          <p:cNvPr id="15" name="Text 13"/>
          <p:cNvSpPr/>
          <p:nvPr/>
        </p:nvSpPr>
        <p:spPr>
          <a:xfrm>
            <a:off x="4621107" y="3680458"/>
            <a:ext cx="303828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Fort ancrage en entreprise : intégration native avec Microsoft 365 et Entra ID (ex-Active Directory).</a:t>
            </a:r>
            <a:endParaRPr lang="en-US" sz="1300" dirty="0"/>
          </a:p>
        </p:txBody>
      </p:sp>
      <p:sp>
        <p:nvSpPr>
          <p:cNvPr id="16" name="Shape 14"/>
          <p:cNvSpPr/>
          <p:nvPr/>
        </p:nvSpPr>
        <p:spPr>
          <a:xfrm>
            <a:off x="8002058" y="1736725"/>
            <a:ext cx="3367617" cy="2821305"/>
          </a:xfrm>
          <a:prstGeom prst="roundRect">
            <a:avLst>
              <a:gd name="adj" fmla="val 3264"/>
            </a:avLst>
          </a:prstGeom>
          <a:solidFill>
            <a:srgbClr val="FDFCFE"/>
          </a:solidFill>
          <a:ln w="19050">
            <a:solidFill>
              <a:srgbClr val="137485"/>
            </a:solidFill>
            <a:prstDash val="solid"/>
          </a:ln>
        </p:spPr>
        <p:txBody>
          <a:bodyPr/>
          <a:lstStyle/>
          <a:p>
            <a:endParaRPr lang="fr-FR"/>
          </a:p>
        </p:txBody>
      </p:sp>
      <p:sp>
        <p:nvSpPr>
          <p:cNvPr id="17" name="Text 15"/>
          <p:cNvSpPr/>
          <p:nvPr/>
        </p:nvSpPr>
        <p:spPr>
          <a:xfrm>
            <a:off x="8210973" y="1945642"/>
            <a:ext cx="30382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7485"/>
                </a:solidFill>
                <a:latin typeface="IBM Plex Sans" pitchFamily="34" charset="0"/>
                <a:ea typeface="IBM Plex Sans" pitchFamily="34" charset="-122"/>
                <a:cs typeface="IBM Plex Sans" pitchFamily="34" charset="-120"/>
              </a:rPr>
              <a:t>Google Cloud</a:t>
            </a:r>
            <a:endParaRPr lang="en-US" sz="1400" dirty="0"/>
          </a:p>
        </p:txBody>
      </p:sp>
      <p:sp>
        <p:nvSpPr>
          <p:cNvPr id="18" name="Text 16"/>
          <p:cNvSpPr/>
          <p:nvPr/>
        </p:nvSpPr>
        <p:spPr>
          <a:xfrm>
            <a:off x="8210973" y="2270758"/>
            <a:ext cx="30382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37485"/>
                </a:solidFill>
                <a:latin typeface="IBM Plex Sans" pitchFamily="34" charset="0"/>
                <a:ea typeface="IBM Plex Sans" pitchFamily="34" charset="-122"/>
                <a:cs typeface="IBM Plex Sans" pitchFamily="34" charset="-120"/>
              </a:rPr>
              <a:t>15 %</a:t>
            </a:r>
            <a:endParaRPr lang="en-US" sz="6000" dirty="0"/>
          </a:p>
        </p:txBody>
      </p:sp>
      <p:sp>
        <p:nvSpPr>
          <p:cNvPr id="19" name="Text 17"/>
          <p:cNvSpPr/>
          <p:nvPr/>
        </p:nvSpPr>
        <p:spPr>
          <a:xfrm>
            <a:off x="8210973" y="3108958"/>
            <a:ext cx="303828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part du marché mondial</a:t>
            </a:r>
            <a:endParaRPr lang="en-US" sz="1200" dirty="0"/>
          </a:p>
        </p:txBody>
      </p:sp>
      <p:sp>
        <p:nvSpPr>
          <p:cNvPr id="20" name="Text 18"/>
          <p:cNvSpPr/>
          <p:nvPr/>
        </p:nvSpPr>
        <p:spPr>
          <a:xfrm>
            <a:off x="8210973" y="3390900"/>
            <a:ext cx="30382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Google</a:t>
            </a:r>
            <a:endParaRPr lang="en-US" sz="1400" dirty="0"/>
          </a:p>
        </p:txBody>
      </p:sp>
      <p:sp>
        <p:nvSpPr>
          <p:cNvPr id="21" name="Text 19"/>
          <p:cNvSpPr/>
          <p:nvPr/>
        </p:nvSpPr>
        <p:spPr>
          <a:xfrm>
            <a:off x="8210973" y="3680458"/>
            <a:ext cx="303828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Le plus petit des trois mais en forte croissance ; historiquement fort en data et en ML (BigQuery, TensorFlow, TPU).</a:t>
            </a:r>
            <a:endParaRPr lang="en-US" sz="1300" dirty="0"/>
          </a:p>
        </p:txBody>
      </p:sp>
      <p:sp>
        <p:nvSpPr>
          <p:cNvPr id="22" name="Text 20"/>
          <p:cNvSpPr/>
          <p:nvPr/>
        </p:nvSpPr>
        <p:spPr>
          <a:xfrm>
            <a:off x="812800" y="4770754"/>
            <a:ext cx="10883392"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231B3A"/>
                </a:solidFill>
                <a:latin typeface="IBM Plex Sans" pitchFamily="34" charset="0"/>
                <a:ea typeface="IBM Plex Sans" pitchFamily="34" charset="-122"/>
                <a:cs typeface="IBM Plex Sans" pitchFamily="34" charset="-120"/>
              </a:rPr>
              <a:t>À eux trois, ils représentent près des deux tiers du marché mondial, et Microsoft comme Google croissent plus vite qu’AWS.</a:t>
            </a:r>
            <a:endParaRPr lang="en-US" sz="14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Source : Synergy Research Group, parts de marché du cloud d'infrastructure au T2 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2 · LES FOURNISSEURS</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Au-delà des trois grands : souveraineté et alternatives</a:t>
            </a:r>
            <a:endParaRPr lang="en-US" sz="3200" dirty="0"/>
          </a:p>
        </p:txBody>
      </p:sp>
      <p:sp>
        <p:nvSpPr>
          <p:cNvPr id="4" name="Shape 2"/>
          <p:cNvSpPr/>
          <p:nvPr/>
        </p:nvSpPr>
        <p:spPr>
          <a:xfrm>
            <a:off x="812800" y="1727200"/>
            <a:ext cx="5181600" cy="3975100"/>
          </a:xfrm>
          <a:prstGeom prst="roundRect">
            <a:avLst>
              <a:gd name="adj" fmla="val 2556"/>
            </a:avLst>
          </a:prstGeom>
          <a:solidFill>
            <a:srgbClr val="ECE7F6"/>
          </a:solidFill>
          <a:ln/>
        </p:spPr>
        <p:txBody>
          <a:bodyPr/>
          <a:lstStyle/>
          <a:p>
            <a:endParaRPr lang="fr-FR"/>
          </a:p>
        </p:txBody>
      </p:sp>
      <p:pic>
        <p:nvPicPr>
          <p:cNvPr id="5" name="Image 0" descr="Lock"/>
          <p:cNvPicPr>
            <a:picLocks noChangeAspect="1"/>
          </p:cNvPicPr>
          <p:nvPr/>
        </p:nvPicPr>
        <p:blipFill>
          <a:blip r:embed="rId3"/>
          <a:srcRect/>
          <a:stretch/>
        </p:blipFill>
        <p:spPr>
          <a:xfrm>
            <a:off x="1016000" y="1930400"/>
            <a:ext cx="304800" cy="304800"/>
          </a:xfrm>
          <a:prstGeom prst="rect">
            <a:avLst/>
          </a:prstGeom>
        </p:spPr>
      </p:pic>
      <p:sp>
        <p:nvSpPr>
          <p:cNvPr id="6" name="Text 3"/>
          <p:cNvSpPr/>
          <p:nvPr/>
        </p:nvSpPr>
        <p:spPr>
          <a:xfrm>
            <a:off x="1422400" y="1960879"/>
            <a:ext cx="26061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Le cadre réglementaire</a:t>
            </a:r>
            <a:endParaRPr lang="en-US" sz="1600" dirty="0"/>
          </a:p>
        </p:txBody>
      </p:sp>
      <p:sp>
        <p:nvSpPr>
          <p:cNvPr id="7" name="Text 4"/>
          <p:cNvSpPr/>
          <p:nvPr/>
        </p:nvSpPr>
        <p:spPr>
          <a:xfrm>
            <a:off x="1016000" y="2362200"/>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RGPD</a:t>
            </a:r>
            <a:endParaRPr lang="en-US" sz="1400" dirty="0"/>
          </a:p>
        </p:txBody>
      </p:sp>
      <p:sp>
        <p:nvSpPr>
          <p:cNvPr id="8" name="Text 5"/>
          <p:cNvSpPr/>
          <p:nvPr/>
        </p:nvSpPr>
        <p:spPr>
          <a:xfrm>
            <a:off x="1016000" y="2588258"/>
            <a:ext cx="491845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Encadre le traitement des données personnelles, y compris leurs transferts hors de l’Union européenne.</a:t>
            </a:r>
            <a:endParaRPr lang="en-US" sz="1200" dirty="0"/>
          </a:p>
        </p:txBody>
      </p:sp>
      <p:sp>
        <p:nvSpPr>
          <p:cNvPr id="9" name="Text 6"/>
          <p:cNvSpPr/>
          <p:nvPr/>
        </p:nvSpPr>
        <p:spPr>
          <a:xfrm>
            <a:off x="1016000" y="3126742"/>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Cloud Act (2018)</a:t>
            </a:r>
            <a:endParaRPr lang="en-US" sz="1400" dirty="0"/>
          </a:p>
        </p:txBody>
      </p:sp>
      <p:sp>
        <p:nvSpPr>
          <p:cNvPr id="10" name="Text 7"/>
          <p:cNvSpPr/>
          <p:nvPr/>
        </p:nvSpPr>
        <p:spPr>
          <a:xfrm>
            <a:off x="1016000" y="3352800"/>
            <a:ext cx="4918456"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Loi américaine : les autorités des États-Unis peuvent exiger des données détenues par une entreprise américaine, même stockées en Europe.</a:t>
            </a:r>
            <a:endParaRPr lang="en-US" sz="1200" dirty="0"/>
          </a:p>
        </p:txBody>
      </p:sp>
      <p:sp>
        <p:nvSpPr>
          <p:cNvPr id="11" name="Text 8"/>
          <p:cNvSpPr/>
          <p:nvPr/>
        </p:nvSpPr>
        <p:spPr>
          <a:xfrm>
            <a:off x="1016000" y="4097021"/>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SecNumCloud</a:t>
            </a:r>
            <a:endParaRPr lang="en-US" sz="1400" dirty="0"/>
          </a:p>
        </p:txBody>
      </p:sp>
      <p:sp>
        <p:nvSpPr>
          <p:cNvPr id="12" name="Text 9"/>
          <p:cNvSpPr/>
          <p:nvPr/>
        </p:nvSpPr>
        <p:spPr>
          <a:xfrm>
            <a:off x="1016000" y="4323079"/>
            <a:ext cx="491845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Qualification de l’ANSSI pour les clouds qui hébergent des données sensibles, avec une exigence d’immunité aux lois extra-européennes.</a:t>
            </a:r>
            <a:endParaRPr lang="en-US" sz="1200" dirty="0"/>
          </a:p>
        </p:txBody>
      </p:sp>
      <p:sp>
        <p:nvSpPr>
          <p:cNvPr id="13" name="Text 10"/>
          <p:cNvSpPr/>
          <p:nvPr/>
        </p:nvSpPr>
        <p:spPr>
          <a:xfrm>
            <a:off x="1016000" y="4861558"/>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AI Act</a:t>
            </a:r>
            <a:endParaRPr lang="en-US" sz="1400" dirty="0"/>
          </a:p>
        </p:txBody>
      </p:sp>
      <p:sp>
        <p:nvSpPr>
          <p:cNvPr id="14" name="Text 11"/>
          <p:cNvSpPr/>
          <p:nvPr/>
        </p:nvSpPr>
        <p:spPr>
          <a:xfrm>
            <a:off x="1016000" y="5087621"/>
            <a:ext cx="491845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Règlement européen sur l’IA : les obligations dépendent du niveau de risque du système.</a:t>
            </a:r>
            <a:endParaRPr lang="en-US" sz="1200" dirty="0"/>
          </a:p>
        </p:txBody>
      </p:sp>
      <p:sp>
        <p:nvSpPr>
          <p:cNvPr id="15" name="Shape 12"/>
          <p:cNvSpPr/>
          <p:nvPr/>
        </p:nvSpPr>
        <p:spPr>
          <a:xfrm>
            <a:off x="6197600" y="1727200"/>
            <a:ext cx="5181600" cy="3975100"/>
          </a:xfrm>
          <a:prstGeom prst="roundRect">
            <a:avLst>
              <a:gd name="adj" fmla="val 2556"/>
            </a:avLst>
          </a:prstGeom>
          <a:solidFill>
            <a:srgbClr val="D3EDF1"/>
          </a:solidFill>
          <a:ln/>
        </p:spPr>
        <p:txBody>
          <a:bodyPr/>
          <a:lstStyle/>
          <a:p>
            <a:endParaRPr lang="fr-FR"/>
          </a:p>
        </p:txBody>
      </p:sp>
      <p:pic>
        <p:nvPicPr>
          <p:cNvPr id="16" name="Image 1" descr="Globe"/>
          <p:cNvPicPr>
            <a:picLocks noChangeAspect="1"/>
          </p:cNvPicPr>
          <p:nvPr/>
        </p:nvPicPr>
        <p:blipFill>
          <a:blip r:embed="rId4"/>
          <a:srcRect/>
          <a:stretch/>
        </p:blipFill>
        <p:spPr>
          <a:xfrm>
            <a:off x="6400800" y="1930400"/>
            <a:ext cx="304800" cy="304800"/>
          </a:xfrm>
          <a:prstGeom prst="rect">
            <a:avLst/>
          </a:prstGeom>
        </p:spPr>
      </p:pic>
      <p:sp>
        <p:nvSpPr>
          <p:cNvPr id="17" name="Text 13"/>
          <p:cNvSpPr/>
          <p:nvPr/>
        </p:nvSpPr>
        <p:spPr>
          <a:xfrm>
            <a:off x="6807200" y="1960879"/>
            <a:ext cx="336410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Des alternatives européennes</a:t>
            </a:r>
            <a:endParaRPr lang="en-US" sz="1600" dirty="0"/>
          </a:p>
        </p:txBody>
      </p:sp>
      <p:sp>
        <p:nvSpPr>
          <p:cNvPr id="18" name="Text 14"/>
          <p:cNvSpPr/>
          <p:nvPr/>
        </p:nvSpPr>
        <p:spPr>
          <a:xfrm>
            <a:off x="6400800" y="2362200"/>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OVHcloud</a:t>
            </a:r>
            <a:endParaRPr lang="en-US" sz="1400" dirty="0"/>
          </a:p>
        </p:txBody>
      </p:sp>
      <p:sp>
        <p:nvSpPr>
          <p:cNvPr id="19" name="Text 15"/>
          <p:cNvSpPr/>
          <p:nvPr/>
        </p:nvSpPr>
        <p:spPr>
          <a:xfrm>
            <a:off x="6400800" y="2588258"/>
            <a:ext cx="4918456"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Fournisseur français, avec des offres qualifiées SecNumCloud.</a:t>
            </a:r>
            <a:endParaRPr lang="en-US" sz="1200" dirty="0"/>
          </a:p>
        </p:txBody>
      </p:sp>
      <p:sp>
        <p:nvSpPr>
          <p:cNvPr id="20" name="Text 16"/>
          <p:cNvSpPr/>
          <p:nvPr/>
        </p:nvSpPr>
        <p:spPr>
          <a:xfrm>
            <a:off x="6400800" y="2921000"/>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Scaleway</a:t>
            </a:r>
            <a:endParaRPr lang="en-US" sz="1400" dirty="0"/>
          </a:p>
        </p:txBody>
      </p:sp>
      <p:sp>
        <p:nvSpPr>
          <p:cNvPr id="21" name="Text 17"/>
          <p:cNvSpPr/>
          <p:nvPr/>
        </p:nvSpPr>
        <p:spPr>
          <a:xfrm>
            <a:off x="6400800" y="3147058"/>
            <a:ext cx="4918456"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Fournisseur français (groupe Iliad), avec une offre GPU pour l’IA.</a:t>
            </a:r>
            <a:endParaRPr lang="en-US" sz="1200" dirty="0"/>
          </a:p>
        </p:txBody>
      </p:sp>
      <p:sp>
        <p:nvSpPr>
          <p:cNvPr id="22" name="Text 18"/>
          <p:cNvSpPr/>
          <p:nvPr/>
        </p:nvSpPr>
        <p:spPr>
          <a:xfrm>
            <a:off x="6400800" y="3479800"/>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Outscale</a:t>
            </a:r>
            <a:endParaRPr lang="en-US" sz="1400" dirty="0"/>
          </a:p>
        </p:txBody>
      </p:sp>
      <p:sp>
        <p:nvSpPr>
          <p:cNvPr id="23" name="Text 19"/>
          <p:cNvSpPr/>
          <p:nvPr/>
        </p:nvSpPr>
        <p:spPr>
          <a:xfrm>
            <a:off x="6400800" y="3705858"/>
            <a:ext cx="4918456"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Filiale de Dassault Systèmes, qualifiée SecNumCloud.</a:t>
            </a:r>
            <a:endParaRPr lang="en-US" sz="1200" dirty="0"/>
          </a:p>
        </p:txBody>
      </p:sp>
      <p:sp>
        <p:nvSpPr>
          <p:cNvPr id="24" name="Text 20"/>
          <p:cNvSpPr/>
          <p:nvPr/>
        </p:nvSpPr>
        <p:spPr>
          <a:xfrm>
            <a:off x="6400800" y="4038600"/>
            <a:ext cx="491845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Offres « de confiance »</a:t>
            </a:r>
            <a:endParaRPr lang="en-US" sz="1400" dirty="0"/>
          </a:p>
        </p:txBody>
      </p:sp>
      <p:sp>
        <p:nvSpPr>
          <p:cNvPr id="25" name="Text 21"/>
          <p:cNvSpPr/>
          <p:nvPr/>
        </p:nvSpPr>
        <p:spPr>
          <a:xfrm>
            <a:off x="6400800" y="4264658"/>
            <a:ext cx="491845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Les hyperscalers s’associent à des acteurs européens : S3NS (Thales et Google Cloud), Bleu (Orange, Capgemini et Microsoft).</a:t>
            </a:r>
            <a:endParaRPr lang="en-US" sz="1200" dirty="0"/>
          </a:p>
        </p:txBody>
      </p:sp>
      <p:sp>
        <p:nvSpPr>
          <p:cNvPr id="26" name="Text 2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2 · LES FOURNISSEURS</a:t>
            </a:r>
            <a:endParaRPr lang="en-US" sz="1200" dirty="0"/>
          </a:p>
        </p:txBody>
      </p:sp>
      <p:sp>
        <p:nvSpPr>
          <p:cNvPr id="3" name="Text 1"/>
          <p:cNvSpPr>
            <a:spLocks noGrp="1"/>
          </p:cNvSpPr>
          <p:nvPr>
            <p:ph type="title"/>
          </p:nvPr>
        </p:nvSpPr>
        <p:spPr>
          <a:xfrm>
            <a:off x="812800" y="1076958"/>
            <a:ext cx="11379200"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Le vocabulaire commun : région et zone de disponibilité</a:t>
            </a:r>
            <a:endParaRPr lang="en-US" sz="3200" dirty="0"/>
          </a:p>
        </p:txBody>
      </p:sp>
      <p:sp>
        <p:nvSpPr>
          <p:cNvPr id="4" name="Shape 2"/>
          <p:cNvSpPr/>
          <p:nvPr/>
        </p:nvSpPr>
        <p:spPr>
          <a:xfrm>
            <a:off x="822325" y="1736725"/>
            <a:ext cx="7905750" cy="1793875"/>
          </a:xfrm>
          <a:prstGeom prst="roundRect">
            <a:avLst>
              <a:gd name="adj" fmla="val 5133"/>
            </a:avLst>
          </a:prstGeom>
          <a:solidFill>
            <a:srgbClr val="ECE7F6"/>
          </a:solidFill>
          <a:ln w="19050">
            <a:solidFill>
              <a:srgbClr val="5B2E9E"/>
            </a:solidFill>
            <a:prstDash val="solid"/>
          </a:ln>
        </p:spPr>
        <p:txBody>
          <a:bodyPr/>
          <a:lstStyle/>
          <a:p>
            <a:endParaRPr lang="fr-FR"/>
          </a:p>
        </p:txBody>
      </p:sp>
      <p:sp>
        <p:nvSpPr>
          <p:cNvPr id="5" name="Text 3"/>
          <p:cNvSpPr/>
          <p:nvPr/>
        </p:nvSpPr>
        <p:spPr>
          <a:xfrm>
            <a:off x="980440" y="1894842"/>
            <a:ext cx="7817205"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5B2E9E"/>
                </a:solidFill>
                <a:latin typeface="IBM Plex Sans" pitchFamily="34" charset="0"/>
                <a:ea typeface="IBM Plex Sans" pitchFamily="34" charset="-122"/>
                <a:cs typeface="IBM Plex Sans" pitchFamily="34" charset="-120"/>
              </a:rPr>
              <a:t>Région : Europe de l’Ouest</a:t>
            </a:r>
            <a:endParaRPr lang="en-US" sz="1300" dirty="0"/>
          </a:p>
        </p:txBody>
      </p:sp>
      <p:sp>
        <p:nvSpPr>
          <p:cNvPr id="6" name="Shape 4"/>
          <p:cNvSpPr/>
          <p:nvPr/>
        </p:nvSpPr>
        <p:spPr>
          <a:xfrm>
            <a:off x="986790" y="2225675"/>
            <a:ext cx="2432473" cy="833120"/>
          </a:xfrm>
          <a:prstGeom prst="roundRect">
            <a:avLst>
              <a:gd name="adj" fmla="val 8384"/>
            </a:avLst>
          </a:prstGeom>
          <a:solidFill>
            <a:srgbClr val="D3EDF1"/>
          </a:solidFill>
          <a:ln w="12700">
            <a:solidFill>
              <a:srgbClr val="137485"/>
            </a:solidFill>
            <a:prstDash val="solid"/>
          </a:ln>
        </p:spPr>
        <p:txBody>
          <a:bodyPr/>
          <a:lstStyle/>
          <a:p>
            <a:endParaRPr lang="fr-FR"/>
          </a:p>
        </p:txBody>
      </p:sp>
      <p:sp>
        <p:nvSpPr>
          <p:cNvPr id="7" name="Text 5"/>
          <p:cNvSpPr/>
          <p:nvPr/>
        </p:nvSpPr>
        <p:spPr>
          <a:xfrm>
            <a:off x="1092200" y="2331083"/>
            <a:ext cx="2288303"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Zone A</a:t>
            </a:r>
            <a:endParaRPr lang="en-US" sz="1200" dirty="0"/>
          </a:p>
        </p:txBody>
      </p:sp>
      <p:sp>
        <p:nvSpPr>
          <p:cNvPr id="8" name="Text 6"/>
          <p:cNvSpPr/>
          <p:nvPr/>
        </p:nvSpPr>
        <p:spPr>
          <a:xfrm>
            <a:off x="1092200" y="2613025"/>
            <a:ext cx="1085427" cy="340360"/>
          </a:xfrm>
          <a:custGeom>
            <a:avLst/>
            <a:gdLst/>
            <a:ahLst/>
            <a:cxnLst/>
            <a:rect l="l" t="t" r="r" b="b"/>
            <a:pathLst>
              <a:path w="1085427" h="340360">
                <a:moveTo>
                  <a:pt x="50800" y="0"/>
                </a:moveTo>
                <a:lnTo>
                  <a:pt x="1034627" y="0"/>
                </a:lnTo>
                <a:arcTo wR="50800" hR="50800" stAng="16200000" swAng="5400000"/>
                <a:lnTo>
                  <a:pt x="1085427" y="289560"/>
                </a:lnTo>
                <a:arcTo wR="50800" hR="50800" stAng="0" swAng="5400000"/>
                <a:lnTo>
                  <a:pt x="50800" y="340360"/>
                </a:lnTo>
                <a:arcTo wR="50800" hR="50800" stAng="5400000" swAng="5400000"/>
                <a:lnTo>
                  <a:pt x="0" y="50800"/>
                </a:lnTo>
                <a:arcTo wR="50800" hR="50800" stAng="10800000" swAng="5400000"/>
                <a:close/>
              </a:path>
            </a:pathLst>
          </a:custGeom>
          <a:solidFill>
            <a:srgbClr val="FDFCFE"/>
          </a:solidFill>
          <a:ln/>
        </p:spPr>
        <p:txBody>
          <a:bodyPr wrap="square" lIns="0" tIns="63500" rIns="0" bIns="381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Data center</a:t>
            </a:r>
            <a:endParaRPr lang="en-US" sz="1200" dirty="0"/>
          </a:p>
        </p:txBody>
      </p:sp>
      <p:sp>
        <p:nvSpPr>
          <p:cNvPr id="9" name="Text 7"/>
          <p:cNvSpPr/>
          <p:nvPr/>
        </p:nvSpPr>
        <p:spPr>
          <a:xfrm>
            <a:off x="2228427" y="2613025"/>
            <a:ext cx="1085427" cy="340360"/>
          </a:xfrm>
          <a:custGeom>
            <a:avLst/>
            <a:gdLst/>
            <a:ahLst/>
            <a:cxnLst/>
            <a:rect l="l" t="t" r="r" b="b"/>
            <a:pathLst>
              <a:path w="1085427" h="340360">
                <a:moveTo>
                  <a:pt x="50800" y="0"/>
                </a:moveTo>
                <a:lnTo>
                  <a:pt x="1034627" y="0"/>
                </a:lnTo>
                <a:arcTo wR="50800" hR="50800" stAng="16200000" swAng="5400000"/>
                <a:lnTo>
                  <a:pt x="1085427" y="289560"/>
                </a:lnTo>
                <a:arcTo wR="50800" hR="50800" stAng="0" swAng="5400000"/>
                <a:lnTo>
                  <a:pt x="50800" y="340360"/>
                </a:lnTo>
                <a:arcTo wR="50800" hR="50800" stAng="5400000" swAng="5400000"/>
                <a:lnTo>
                  <a:pt x="0" y="50800"/>
                </a:lnTo>
                <a:arcTo wR="50800" hR="50800" stAng="10800000" swAng="5400000"/>
                <a:close/>
              </a:path>
            </a:pathLst>
          </a:custGeom>
          <a:solidFill>
            <a:srgbClr val="FDFCFE"/>
          </a:solidFill>
          <a:ln/>
        </p:spPr>
        <p:txBody>
          <a:bodyPr wrap="square" lIns="0" tIns="63500" rIns="0" bIns="381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Data center</a:t>
            </a:r>
            <a:endParaRPr lang="en-US" sz="1200" dirty="0"/>
          </a:p>
        </p:txBody>
      </p:sp>
      <p:sp>
        <p:nvSpPr>
          <p:cNvPr id="10" name="Shape 8"/>
          <p:cNvSpPr/>
          <p:nvPr/>
        </p:nvSpPr>
        <p:spPr>
          <a:xfrm>
            <a:off x="3558963" y="2225675"/>
            <a:ext cx="2432473" cy="833120"/>
          </a:xfrm>
          <a:prstGeom prst="roundRect">
            <a:avLst>
              <a:gd name="adj" fmla="val 8384"/>
            </a:avLst>
          </a:prstGeom>
          <a:solidFill>
            <a:srgbClr val="D3EDF1"/>
          </a:solidFill>
          <a:ln w="12700">
            <a:solidFill>
              <a:srgbClr val="137485"/>
            </a:solidFill>
            <a:prstDash val="solid"/>
          </a:ln>
        </p:spPr>
        <p:txBody>
          <a:bodyPr/>
          <a:lstStyle/>
          <a:p>
            <a:endParaRPr lang="fr-FR"/>
          </a:p>
        </p:txBody>
      </p:sp>
      <p:sp>
        <p:nvSpPr>
          <p:cNvPr id="11" name="Text 9"/>
          <p:cNvSpPr/>
          <p:nvPr/>
        </p:nvSpPr>
        <p:spPr>
          <a:xfrm>
            <a:off x="3664373" y="2331083"/>
            <a:ext cx="2288303"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Zone B</a:t>
            </a:r>
            <a:endParaRPr lang="en-US" sz="1200" dirty="0"/>
          </a:p>
        </p:txBody>
      </p:sp>
      <p:sp>
        <p:nvSpPr>
          <p:cNvPr id="12" name="Text 10"/>
          <p:cNvSpPr/>
          <p:nvPr/>
        </p:nvSpPr>
        <p:spPr>
          <a:xfrm>
            <a:off x="3664373" y="2613025"/>
            <a:ext cx="1085427" cy="340360"/>
          </a:xfrm>
          <a:custGeom>
            <a:avLst/>
            <a:gdLst/>
            <a:ahLst/>
            <a:cxnLst/>
            <a:rect l="l" t="t" r="r" b="b"/>
            <a:pathLst>
              <a:path w="1085427" h="340360">
                <a:moveTo>
                  <a:pt x="50800" y="0"/>
                </a:moveTo>
                <a:lnTo>
                  <a:pt x="1034627" y="0"/>
                </a:lnTo>
                <a:arcTo wR="50800" hR="50800" stAng="16200000" swAng="5400000"/>
                <a:lnTo>
                  <a:pt x="1085427" y="289560"/>
                </a:lnTo>
                <a:arcTo wR="50800" hR="50800" stAng="0" swAng="5400000"/>
                <a:lnTo>
                  <a:pt x="50800" y="340360"/>
                </a:lnTo>
                <a:arcTo wR="50800" hR="50800" stAng="5400000" swAng="5400000"/>
                <a:lnTo>
                  <a:pt x="0" y="50800"/>
                </a:lnTo>
                <a:arcTo wR="50800" hR="50800" stAng="10800000" swAng="5400000"/>
                <a:close/>
              </a:path>
            </a:pathLst>
          </a:custGeom>
          <a:solidFill>
            <a:srgbClr val="FDFCFE"/>
          </a:solidFill>
          <a:ln/>
        </p:spPr>
        <p:txBody>
          <a:bodyPr wrap="square" lIns="0" tIns="63500" rIns="0" bIns="381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Data center</a:t>
            </a:r>
            <a:endParaRPr lang="en-US" sz="1200" dirty="0"/>
          </a:p>
        </p:txBody>
      </p:sp>
      <p:sp>
        <p:nvSpPr>
          <p:cNvPr id="13" name="Text 11"/>
          <p:cNvSpPr/>
          <p:nvPr/>
        </p:nvSpPr>
        <p:spPr>
          <a:xfrm>
            <a:off x="4800600" y="2613025"/>
            <a:ext cx="1085427" cy="340360"/>
          </a:xfrm>
          <a:custGeom>
            <a:avLst/>
            <a:gdLst/>
            <a:ahLst/>
            <a:cxnLst/>
            <a:rect l="l" t="t" r="r" b="b"/>
            <a:pathLst>
              <a:path w="1085427" h="340360">
                <a:moveTo>
                  <a:pt x="50800" y="0"/>
                </a:moveTo>
                <a:lnTo>
                  <a:pt x="1034627" y="0"/>
                </a:lnTo>
                <a:arcTo wR="50800" hR="50800" stAng="16200000" swAng="5400000"/>
                <a:lnTo>
                  <a:pt x="1085427" y="289560"/>
                </a:lnTo>
                <a:arcTo wR="50800" hR="50800" stAng="0" swAng="5400000"/>
                <a:lnTo>
                  <a:pt x="50800" y="340360"/>
                </a:lnTo>
                <a:arcTo wR="50800" hR="50800" stAng="5400000" swAng="5400000"/>
                <a:lnTo>
                  <a:pt x="0" y="50800"/>
                </a:lnTo>
                <a:arcTo wR="50800" hR="50800" stAng="10800000" swAng="5400000"/>
                <a:close/>
              </a:path>
            </a:pathLst>
          </a:custGeom>
          <a:solidFill>
            <a:srgbClr val="FDFCFE"/>
          </a:solidFill>
          <a:ln/>
        </p:spPr>
        <p:txBody>
          <a:bodyPr wrap="square" lIns="0" tIns="63500" rIns="0" bIns="381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Data center</a:t>
            </a:r>
            <a:endParaRPr lang="en-US" sz="1200" dirty="0"/>
          </a:p>
        </p:txBody>
      </p:sp>
      <p:sp>
        <p:nvSpPr>
          <p:cNvPr id="14" name="Shape 12"/>
          <p:cNvSpPr/>
          <p:nvPr/>
        </p:nvSpPr>
        <p:spPr>
          <a:xfrm>
            <a:off x="6131137" y="2225675"/>
            <a:ext cx="2432473" cy="833120"/>
          </a:xfrm>
          <a:prstGeom prst="roundRect">
            <a:avLst>
              <a:gd name="adj" fmla="val 8384"/>
            </a:avLst>
          </a:prstGeom>
          <a:solidFill>
            <a:srgbClr val="D3EDF1"/>
          </a:solidFill>
          <a:ln w="12700">
            <a:solidFill>
              <a:srgbClr val="137485"/>
            </a:solidFill>
            <a:prstDash val="solid"/>
          </a:ln>
        </p:spPr>
        <p:txBody>
          <a:bodyPr/>
          <a:lstStyle/>
          <a:p>
            <a:endParaRPr lang="fr-FR"/>
          </a:p>
        </p:txBody>
      </p:sp>
      <p:sp>
        <p:nvSpPr>
          <p:cNvPr id="15" name="Text 13"/>
          <p:cNvSpPr/>
          <p:nvPr/>
        </p:nvSpPr>
        <p:spPr>
          <a:xfrm>
            <a:off x="6236546" y="2331083"/>
            <a:ext cx="2288303"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Zone C</a:t>
            </a:r>
            <a:endParaRPr lang="en-US" sz="1200" dirty="0"/>
          </a:p>
        </p:txBody>
      </p:sp>
      <p:sp>
        <p:nvSpPr>
          <p:cNvPr id="16" name="Text 14"/>
          <p:cNvSpPr/>
          <p:nvPr/>
        </p:nvSpPr>
        <p:spPr>
          <a:xfrm>
            <a:off x="6236546" y="2613025"/>
            <a:ext cx="1085427" cy="340360"/>
          </a:xfrm>
          <a:custGeom>
            <a:avLst/>
            <a:gdLst/>
            <a:ahLst/>
            <a:cxnLst/>
            <a:rect l="l" t="t" r="r" b="b"/>
            <a:pathLst>
              <a:path w="1085427" h="340360">
                <a:moveTo>
                  <a:pt x="50800" y="0"/>
                </a:moveTo>
                <a:lnTo>
                  <a:pt x="1034627" y="0"/>
                </a:lnTo>
                <a:arcTo wR="50800" hR="50800" stAng="16200000" swAng="5400000"/>
                <a:lnTo>
                  <a:pt x="1085427" y="289560"/>
                </a:lnTo>
                <a:arcTo wR="50800" hR="50800" stAng="0" swAng="5400000"/>
                <a:lnTo>
                  <a:pt x="50800" y="340360"/>
                </a:lnTo>
                <a:arcTo wR="50800" hR="50800" stAng="5400000" swAng="5400000"/>
                <a:lnTo>
                  <a:pt x="0" y="50800"/>
                </a:lnTo>
                <a:arcTo wR="50800" hR="50800" stAng="10800000" swAng="5400000"/>
                <a:close/>
              </a:path>
            </a:pathLst>
          </a:custGeom>
          <a:solidFill>
            <a:srgbClr val="FDFCFE"/>
          </a:solidFill>
          <a:ln/>
        </p:spPr>
        <p:txBody>
          <a:bodyPr wrap="square" lIns="0" tIns="63500" rIns="0" bIns="381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Data center</a:t>
            </a:r>
            <a:endParaRPr lang="en-US" sz="1200" dirty="0"/>
          </a:p>
        </p:txBody>
      </p:sp>
      <p:sp>
        <p:nvSpPr>
          <p:cNvPr id="17" name="Text 15"/>
          <p:cNvSpPr/>
          <p:nvPr/>
        </p:nvSpPr>
        <p:spPr>
          <a:xfrm>
            <a:off x="7372773" y="2613025"/>
            <a:ext cx="1085427" cy="340360"/>
          </a:xfrm>
          <a:custGeom>
            <a:avLst/>
            <a:gdLst/>
            <a:ahLst/>
            <a:cxnLst/>
            <a:rect l="l" t="t" r="r" b="b"/>
            <a:pathLst>
              <a:path w="1085427" h="340360">
                <a:moveTo>
                  <a:pt x="50800" y="0"/>
                </a:moveTo>
                <a:lnTo>
                  <a:pt x="1034627" y="0"/>
                </a:lnTo>
                <a:arcTo wR="50800" hR="50800" stAng="16200000" swAng="5400000"/>
                <a:lnTo>
                  <a:pt x="1085427" y="289560"/>
                </a:lnTo>
                <a:arcTo wR="50800" hR="50800" stAng="0" swAng="5400000"/>
                <a:lnTo>
                  <a:pt x="50800" y="340360"/>
                </a:lnTo>
                <a:arcTo wR="50800" hR="50800" stAng="5400000" swAng="5400000"/>
                <a:lnTo>
                  <a:pt x="0" y="50800"/>
                </a:lnTo>
                <a:arcTo wR="50800" hR="50800" stAng="10800000" swAng="5400000"/>
                <a:close/>
              </a:path>
            </a:pathLst>
          </a:custGeom>
          <a:solidFill>
            <a:srgbClr val="FDFCFE"/>
          </a:solidFill>
          <a:ln/>
        </p:spPr>
        <p:txBody>
          <a:bodyPr wrap="square" lIns="0" tIns="63500" rIns="0" bIns="3810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Data center</a:t>
            </a:r>
            <a:endParaRPr lang="en-US" sz="1200" dirty="0"/>
          </a:p>
        </p:txBody>
      </p:sp>
      <p:sp>
        <p:nvSpPr>
          <p:cNvPr id="18" name="Text 16"/>
          <p:cNvSpPr/>
          <p:nvPr/>
        </p:nvSpPr>
        <p:spPr>
          <a:xfrm>
            <a:off x="866597" y="3166746"/>
            <a:ext cx="7817205" cy="23114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Réseau privé à faible latence entre les zones</a:t>
            </a:r>
            <a:endParaRPr lang="en-US" sz="1200" dirty="0"/>
          </a:p>
        </p:txBody>
      </p:sp>
      <p:pic>
        <p:nvPicPr>
          <p:cNvPr id="19" name="Image 0" descr="connector"/>
          <p:cNvPicPr>
            <a:picLocks noChangeAspect="1"/>
          </p:cNvPicPr>
          <p:nvPr/>
        </p:nvPicPr>
        <p:blipFill>
          <a:blip r:embed="rId3"/>
          <a:srcRect/>
          <a:stretch/>
        </p:blipFill>
        <p:spPr>
          <a:xfrm>
            <a:off x="8839200" y="2570163"/>
            <a:ext cx="406400" cy="127000"/>
          </a:xfrm>
          <a:prstGeom prst="rect">
            <a:avLst/>
          </a:prstGeom>
        </p:spPr>
      </p:pic>
      <p:sp>
        <p:nvSpPr>
          <p:cNvPr id="20" name="Shape 17"/>
          <p:cNvSpPr/>
          <p:nvPr/>
        </p:nvSpPr>
        <p:spPr>
          <a:xfrm>
            <a:off x="9356725" y="2120267"/>
            <a:ext cx="2012950" cy="1026795"/>
          </a:xfrm>
          <a:prstGeom prst="roundRect">
            <a:avLst>
              <a:gd name="adj" fmla="val 8967"/>
            </a:avLst>
          </a:prstGeom>
          <a:solidFill>
            <a:srgbClr val="F1EEF7"/>
          </a:solidFill>
          <a:ln w="19050">
            <a:solidFill>
              <a:srgbClr val="5B2E9E"/>
            </a:solidFill>
            <a:prstDash val="dash"/>
          </a:ln>
        </p:spPr>
        <p:txBody>
          <a:bodyPr/>
          <a:lstStyle/>
          <a:p>
            <a:endParaRPr lang="fr-FR"/>
          </a:p>
        </p:txBody>
      </p:sp>
      <p:sp>
        <p:nvSpPr>
          <p:cNvPr id="21" name="Text 18"/>
          <p:cNvSpPr/>
          <p:nvPr/>
        </p:nvSpPr>
        <p:spPr>
          <a:xfrm>
            <a:off x="9514840" y="2278379"/>
            <a:ext cx="1747622"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5B2E9E"/>
                </a:solidFill>
                <a:latin typeface="IBM Plex Sans" pitchFamily="34" charset="0"/>
                <a:ea typeface="IBM Plex Sans" pitchFamily="34" charset="-122"/>
                <a:cs typeface="IBM Plex Sans" pitchFamily="34" charset="-120"/>
              </a:rPr>
              <a:t>Autre région</a:t>
            </a:r>
            <a:endParaRPr lang="en-US" sz="1300" dirty="0"/>
          </a:p>
        </p:txBody>
      </p:sp>
      <p:sp>
        <p:nvSpPr>
          <p:cNvPr id="22" name="Text 19"/>
          <p:cNvSpPr/>
          <p:nvPr/>
        </p:nvSpPr>
        <p:spPr>
          <a:xfrm>
            <a:off x="9514840" y="2577467"/>
            <a:ext cx="174762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Copie des données pour la reprise après sinistre</a:t>
            </a:r>
            <a:endParaRPr lang="en-US" sz="1200" dirty="0"/>
          </a:p>
        </p:txBody>
      </p:sp>
      <p:sp>
        <p:nvSpPr>
          <p:cNvPr id="23" name="Shape 20"/>
          <p:cNvSpPr/>
          <p:nvPr/>
        </p:nvSpPr>
        <p:spPr>
          <a:xfrm>
            <a:off x="812800" y="3743325"/>
            <a:ext cx="3386667" cy="1262380"/>
          </a:xfrm>
          <a:prstGeom prst="roundRect">
            <a:avLst>
              <a:gd name="adj" fmla="val 8048"/>
            </a:avLst>
          </a:prstGeom>
          <a:solidFill>
            <a:srgbClr val="F1EEF7"/>
          </a:solidFill>
          <a:ln/>
        </p:spPr>
        <p:txBody>
          <a:bodyPr/>
          <a:lstStyle/>
          <a:p>
            <a:endParaRPr lang="fr-FR"/>
          </a:p>
        </p:txBody>
      </p:sp>
      <p:sp>
        <p:nvSpPr>
          <p:cNvPr id="24" name="Text 21"/>
          <p:cNvSpPr/>
          <p:nvPr/>
        </p:nvSpPr>
        <p:spPr>
          <a:xfrm>
            <a:off x="990600" y="3921125"/>
            <a:ext cx="312199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Région</a:t>
            </a:r>
            <a:endParaRPr lang="en-US" sz="1400" dirty="0"/>
          </a:p>
        </p:txBody>
      </p:sp>
      <p:sp>
        <p:nvSpPr>
          <p:cNvPr id="25" name="Text 22"/>
          <p:cNvSpPr/>
          <p:nvPr/>
        </p:nvSpPr>
        <p:spPr>
          <a:xfrm>
            <a:off x="990600" y="4210683"/>
            <a:ext cx="3121999"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Une zone géographique (Europe de l’Ouest, Est des États-Unis…) qui regroupe plusieurs zones.</a:t>
            </a:r>
            <a:endParaRPr lang="en-US" sz="1200" dirty="0"/>
          </a:p>
        </p:txBody>
      </p:sp>
      <p:sp>
        <p:nvSpPr>
          <p:cNvPr id="26" name="Shape 23"/>
          <p:cNvSpPr/>
          <p:nvPr/>
        </p:nvSpPr>
        <p:spPr>
          <a:xfrm>
            <a:off x="4402667" y="3743325"/>
            <a:ext cx="3386667" cy="1262380"/>
          </a:xfrm>
          <a:prstGeom prst="roundRect">
            <a:avLst>
              <a:gd name="adj" fmla="val 8048"/>
            </a:avLst>
          </a:prstGeom>
          <a:solidFill>
            <a:srgbClr val="F1EEF7"/>
          </a:solidFill>
          <a:ln/>
        </p:spPr>
        <p:txBody>
          <a:bodyPr/>
          <a:lstStyle/>
          <a:p>
            <a:endParaRPr lang="fr-FR"/>
          </a:p>
        </p:txBody>
      </p:sp>
      <p:sp>
        <p:nvSpPr>
          <p:cNvPr id="27" name="Text 24"/>
          <p:cNvSpPr/>
          <p:nvPr/>
        </p:nvSpPr>
        <p:spPr>
          <a:xfrm>
            <a:off x="4580467" y="3921125"/>
            <a:ext cx="312199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Zone de disponibilité</a:t>
            </a:r>
            <a:endParaRPr lang="en-US" sz="1400" dirty="0"/>
          </a:p>
        </p:txBody>
      </p:sp>
      <p:sp>
        <p:nvSpPr>
          <p:cNvPr id="28" name="Text 25"/>
          <p:cNvSpPr/>
          <p:nvPr/>
        </p:nvSpPr>
        <p:spPr>
          <a:xfrm>
            <a:off x="4580467" y="4210683"/>
            <a:ext cx="3121999"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 ou plusieurs data centers, isolés des autres zones : alimentation, réseau et refroidissement propres.</a:t>
            </a:r>
            <a:endParaRPr lang="en-US" sz="1200" dirty="0"/>
          </a:p>
        </p:txBody>
      </p:sp>
      <p:sp>
        <p:nvSpPr>
          <p:cNvPr id="29" name="Shape 26"/>
          <p:cNvSpPr/>
          <p:nvPr/>
        </p:nvSpPr>
        <p:spPr>
          <a:xfrm>
            <a:off x="7992533" y="3743325"/>
            <a:ext cx="3386667" cy="1262380"/>
          </a:xfrm>
          <a:prstGeom prst="roundRect">
            <a:avLst>
              <a:gd name="adj" fmla="val 8048"/>
            </a:avLst>
          </a:prstGeom>
          <a:solidFill>
            <a:srgbClr val="F1EEF7"/>
          </a:solidFill>
          <a:ln/>
        </p:spPr>
        <p:txBody>
          <a:bodyPr/>
          <a:lstStyle/>
          <a:p>
            <a:endParaRPr lang="fr-FR"/>
          </a:p>
        </p:txBody>
      </p:sp>
      <p:sp>
        <p:nvSpPr>
          <p:cNvPr id="30" name="Text 27"/>
          <p:cNvSpPr/>
          <p:nvPr/>
        </p:nvSpPr>
        <p:spPr>
          <a:xfrm>
            <a:off x="8170333" y="3921125"/>
            <a:ext cx="312199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Pourquoi c’est utile</a:t>
            </a:r>
            <a:endParaRPr lang="en-US" sz="1400" dirty="0"/>
          </a:p>
        </p:txBody>
      </p:sp>
      <p:sp>
        <p:nvSpPr>
          <p:cNvPr id="31" name="Text 28"/>
          <p:cNvSpPr/>
          <p:nvPr/>
        </p:nvSpPr>
        <p:spPr>
          <a:xfrm>
            <a:off x="8170333" y="4210683"/>
            <a:ext cx="3121999"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Répartir ses ressources sur plusieurs zones protège d’une panne localisée ; sur plusieurs régions, d’un sinistre majeur.</a:t>
            </a:r>
            <a:endParaRPr lang="en-US" sz="1200" dirty="0"/>
          </a:p>
        </p:txBody>
      </p:sp>
      <p:sp>
        <p:nvSpPr>
          <p:cNvPr id="32" name="Text 2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3 · LE CALCUL</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Machine virtuelle ou conteneur ?</a:t>
            </a:r>
            <a:endParaRPr lang="en-US" sz="3200" dirty="0"/>
          </a:p>
        </p:txBody>
      </p:sp>
      <p:sp>
        <p:nvSpPr>
          <p:cNvPr id="4" name="Text 2"/>
          <p:cNvSpPr/>
          <p:nvPr/>
        </p:nvSpPr>
        <p:spPr>
          <a:xfrm>
            <a:off x="812800" y="1727200"/>
            <a:ext cx="520623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B2E9E"/>
                </a:solidFill>
                <a:latin typeface="IBM Plex Sans" pitchFamily="34" charset="0"/>
                <a:ea typeface="IBM Plex Sans" pitchFamily="34" charset="-122"/>
                <a:cs typeface="IBM Plex Sans" pitchFamily="34" charset="-120"/>
              </a:rPr>
              <a:t>Machines virtuelles</a:t>
            </a:r>
            <a:endParaRPr lang="en-US" sz="1600" dirty="0"/>
          </a:p>
        </p:txBody>
      </p:sp>
      <p:sp>
        <p:nvSpPr>
          <p:cNvPr id="5" name="Shape 3"/>
          <p:cNvSpPr/>
          <p:nvPr/>
        </p:nvSpPr>
        <p:spPr>
          <a:xfrm>
            <a:off x="822325" y="2107567"/>
            <a:ext cx="2457450" cy="1268730"/>
          </a:xfrm>
          <a:prstGeom prst="roundRect">
            <a:avLst>
              <a:gd name="adj" fmla="val 5255"/>
            </a:avLst>
          </a:prstGeom>
          <a:noFill/>
          <a:ln w="19050">
            <a:solidFill>
              <a:srgbClr val="5B2E9E"/>
            </a:solidFill>
            <a:prstDash val="dash"/>
          </a:ln>
        </p:spPr>
        <p:txBody>
          <a:bodyPr/>
          <a:lstStyle/>
          <a:p>
            <a:endParaRPr lang="fr-FR"/>
          </a:p>
        </p:txBody>
      </p:sp>
      <p:sp>
        <p:nvSpPr>
          <p:cNvPr id="6" name="Text 4"/>
          <p:cNvSpPr/>
          <p:nvPr/>
        </p:nvSpPr>
        <p:spPr>
          <a:xfrm>
            <a:off x="891540" y="21767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FDFCFE"/>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Application</a:t>
            </a:r>
            <a:endParaRPr lang="en-US" sz="1200" dirty="0"/>
          </a:p>
        </p:txBody>
      </p:sp>
      <p:sp>
        <p:nvSpPr>
          <p:cNvPr id="7" name="Text 5"/>
          <p:cNvSpPr/>
          <p:nvPr/>
        </p:nvSpPr>
        <p:spPr>
          <a:xfrm>
            <a:off x="891540" y="25704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D3EDF1"/>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Bins / Libs</a:t>
            </a:r>
            <a:endParaRPr lang="en-US" sz="1200" dirty="0"/>
          </a:p>
        </p:txBody>
      </p:sp>
      <p:sp>
        <p:nvSpPr>
          <p:cNvPr id="8" name="Text 6"/>
          <p:cNvSpPr/>
          <p:nvPr/>
        </p:nvSpPr>
        <p:spPr>
          <a:xfrm>
            <a:off x="891540" y="29641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ECE7F6"/>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OS invité</a:t>
            </a:r>
            <a:endParaRPr lang="en-US" sz="1200" dirty="0"/>
          </a:p>
        </p:txBody>
      </p:sp>
      <p:sp>
        <p:nvSpPr>
          <p:cNvPr id="9" name="Shape 7"/>
          <p:cNvSpPr/>
          <p:nvPr/>
        </p:nvSpPr>
        <p:spPr>
          <a:xfrm>
            <a:off x="3400425" y="2107567"/>
            <a:ext cx="2457450" cy="1268730"/>
          </a:xfrm>
          <a:prstGeom prst="roundRect">
            <a:avLst>
              <a:gd name="adj" fmla="val 5255"/>
            </a:avLst>
          </a:prstGeom>
          <a:noFill/>
          <a:ln w="19050">
            <a:solidFill>
              <a:srgbClr val="5B2E9E"/>
            </a:solidFill>
            <a:prstDash val="dash"/>
          </a:ln>
        </p:spPr>
        <p:txBody>
          <a:bodyPr/>
          <a:lstStyle/>
          <a:p>
            <a:endParaRPr lang="fr-FR"/>
          </a:p>
        </p:txBody>
      </p:sp>
      <p:sp>
        <p:nvSpPr>
          <p:cNvPr id="10" name="Text 8"/>
          <p:cNvSpPr/>
          <p:nvPr/>
        </p:nvSpPr>
        <p:spPr>
          <a:xfrm>
            <a:off x="3469640" y="21767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FDFCFE"/>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Application</a:t>
            </a:r>
            <a:endParaRPr lang="en-US" sz="1200" dirty="0"/>
          </a:p>
        </p:txBody>
      </p:sp>
      <p:sp>
        <p:nvSpPr>
          <p:cNvPr id="11" name="Text 9"/>
          <p:cNvSpPr/>
          <p:nvPr/>
        </p:nvSpPr>
        <p:spPr>
          <a:xfrm>
            <a:off x="3469640" y="25704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D3EDF1"/>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Bins / Libs</a:t>
            </a:r>
            <a:endParaRPr lang="en-US" sz="1200" dirty="0"/>
          </a:p>
        </p:txBody>
      </p:sp>
      <p:sp>
        <p:nvSpPr>
          <p:cNvPr id="12" name="Text 10"/>
          <p:cNvSpPr/>
          <p:nvPr/>
        </p:nvSpPr>
        <p:spPr>
          <a:xfrm>
            <a:off x="3469640" y="29641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ECE7F6"/>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OS invité</a:t>
            </a:r>
            <a:endParaRPr lang="en-US" sz="1200" dirty="0"/>
          </a:p>
        </p:txBody>
      </p:sp>
      <p:sp>
        <p:nvSpPr>
          <p:cNvPr id="13" name="Text 11"/>
          <p:cNvSpPr/>
          <p:nvPr/>
        </p:nvSpPr>
        <p:spPr>
          <a:xfrm>
            <a:off x="812800" y="3449321"/>
            <a:ext cx="5054600" cy="342900"/>
          </a:xfrm>
          <a:custGeom>
            <a:avLst/>
            <a:gdLst/>
            <a:ahLst/>
            <a:cxnLst/>
            <a:rect l="l" t="t" r="r" b="b"/>
            <a:pathLst>
              <a:path w="5054600" h="342900">
                <a:moveTo>
                  <a:pt x="50800" y="0"/>
                </a:moveTo>
                <a:lnTo>
                  <a:pt x="5003800" y="0"/>
                </a:lnTo>
                <a:arcTo wR="50800" hR="50800" stAng="16200000" swAng="5400000"/>
                <a:lnTo>
                  <a:pt x="5054600" y="292100"/>
                </a:lnTo>
                <a:arcTo wR="50800" hR="50800" stAng="0" swAng="5400000"/>
                <a:lnTo>
                  <a:pt x="50800" y="342900"/>
                </a:lnTo>
                <a:arcTo wR="50800" hR="50800" stAng="5400000" swAng="5400000"/>
                <a:lnTo>
                  <a:pt x="0" y="50800"/>
                </a:lnTo>
                <a:arcTo wR="50800" hR="50800" stAng="10800000" swAng="5400000"/>
                <a:close/>
              </a:path>
            </a:pathLst>
          </a:custGeom>
          <a:solidFill>
            <a:srgbClr val="FBE5CF"/>
          </a:solidFill>
          <a:ln/>
        </p:spPr>
        <p:txBody>
          <a:bodyPr wrap="square" lIns="0" tIns="76200" rIns="0"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Hyperviseur</a:t>
            </a:r>
            <a:endParaRPr lang="en-US" sz="1200" dirty="0"/>
          </a:p>
        </p:txBody>
      </p:sp>
      <p:sp>
        <p:nvSpPr>
          <p:cNvPr id="14" name="Text 12"/>
          <p:cNvSpPr/>
          <p:nvPr/>
        </p:nvSpPr>
        <p:spPr>
          <a:xfrm>
            <a:off x="812800" y="3855721"/>
            <a:ext cx="5054600" cy="342900"/>
          </a:xfrm>
          <a:custGeom>
            <a:avLst/>
            <a:gdLst/>
            <a:ahLst/>
            <a:cxnLst/>
            <a:rect l="l" t="t" r="r" b="b"/>
            <a:pathLst>
              <a:path w="5054600" h="342900">
                <a:moveTo>
                  <a:pt x="50800" y="0"/>
                </a:moveTo>
                <a:lnTo>
                  <a:pt x="5003800" y="0"/>
                </a:lnTo>
                <a:arcTo wR="50800" hR="50800" stAng="16200000" swAng="5400000"/>
                <a:lnTo>
                  <a:pt x="5054600" y="292100"/>
                </a:lnTo>
                <a:arcTo wR="50800" hR="50800" stAng="0" swAng="5400000"/>
                <a:lnTo>
                  <a:pt x="50800" y="342900"/>
                </a:lnTo>
                <a:arcTo wR="50800" hR="50800" stAng="5400000" swAng="5400000"/>
                <a:lnTo>
                  <a:pt x="0" y="50800"/>
                </a:lnTo>
                <a:arcTo wR="50800" hR="50800" stAng="10800000" swAng="5400000"/>
                <a:close/>
              </a:path>
            </a:pathLst>
          </a:custGeom>
          <a:solidFill>
            <a:srgbClr val="E4E2EA"/>
          </a:solidFill>
          <a:ln/>
        </p:spPr>
        <p:txBody>
          <a:bodyPr wrap="square" lIns="0" tIns="76200" rIns="0"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Matériel</a:t>
            </a:r>
            <a:endParaRPr lang="en-US" sz="1200" dirty="0"/>
          </a:p>
        </p:txBody>
      </p:sp>
      <p:sp>
        <p:nvSpPr>
          <p:cNvPr id="15" name="Text 13"/>
          <p:cNvSpPr/>
          <p:nvPr/>
        </p:nvSpPr>
        <p:spPr>
          <a:xfrm>
            <a:off x="812800" y="4325621"/>
            <a:ext cx="5206238"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Chaque VM embarque </a:t>
            </a:r>
            <a:r>
              <a:rPr lang="en-US" sz="1300" b="1" dirty="0">
                <a:solidFill>
                  <a:srgbClr val="4A4462"/>
                </a:solidFill>
                <a:latin typeface="IBM Plex Sans" pitchFamily="34" charset="0"/>
                <a:ea typeface="IBM Plex Sans" pitchFamily="34" charset="-122"/>
                <a:cs typeface="IBM Plex Sans" pitchFamily="34" charset="-120"/>
              </a:rPr>
              <a:t>son propre OS</a:t>
            </a:r>
            <a:r>
              <a:rPr lang="en-US" sz="1300" dirty="0">
                <a:solidFill>
                  <a:srgbClr val="4A4462"/>
                </a:solidFill>
                <a:latin typeface="IBM Plex Sans" pitchFamily="34" charset="0"/>
                <a:ea typeface="IBM Plex Sans" pitchFamily="34" charset="-122"/>
                <a:cs typeface="IBM Plex Sans" pitchFamily="34" charset="-120"/>
              </a:rPr>
              <a:t>. L’hyperviseur virtualise le matériel. Isolation forte, mais plus lourd (plusieurs Go) et plus lent à démarrer. Favorise la </a:t>
            </a:r>
            <a:r>
              <a:rPr lang="en-US" sz="1300" b="1" dirty="0">
                <a:solidFill>
                  <a:srgbClr val="4A4462"/>
                </a:solidFill>
                <a:latin typeface="IBM Plex Sans" pitchFamily="34" charset="0"/>
                <a:ea typeface="IBM Plex Sans" pitchFamily="34" charset="-122"/>
                <a:cs typeface="IBM Plex Sans" pitchFamily="34" charset="-120"/>
              </a:rPr>
              <a:t>flexibilité</a:t>
            </a:r>
            <a:r>
              <a:rPr lang="en-US" sz="1300" dirty="0">
                <a:solidFill>
                  <a:srgbClr val="4A4462"/>
                </a:solidFill>
                <a:latin typeface="IBM Plex Sans" pitchFamily="34" charset="0"/>
                <a:ea typeface="IBM Plex Sans" pitchFamily="34" charset="-122"/>
                <a:cs typeface="IBM Plex Sans" pitchFamily="34" charset="-120"/>
              </a:rPr>
              <a:t>.</a:t>
            </a:r>
            <a:endParaRPr lang="en-US" sz="1300" dirty="0"/>
          </a:p>
        </p:txBody>
      </p:sp>
      <p:sp>
        <p:nvSpPr>
          <p:cNvPr id="16" name="Text 14"/>
          <p:cNvSpPr/>
          <p:nvPr/>
        </p:nvSpPr>
        <p:spPr>
          <a:xfrm>
            <a:off x="6324600" y="1727200"/>
            <a:ext cx="520623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7485"/>
                </a:solidFill>
                <a:latin typeface="IBM Plex Sans" pitchFamily="34" charset="0"/>
                <a:ea typeface="IBM Plex Sans" pitchFamily="34" charset="-122"/>
                <a:cs typeface="IBM Plex Sans" pitchFamily="34" charset="-120"/>
              </a:rPr>
              <a:t>Conteneurs</a:t>
            </a:r>
            <a:endParaRPr lang="en-US" sz="1600" dirty="0"/>
          </a:p>
        </p:txBody>
      </p:sp>
      <p:sp>
        <p:nvSpPr>
          <p:cNvPr id="17" name="Shape 15"/>
          <p:cNvSpPr/>
          <p:nvPr/>
        </p:nvSpPr>
        <p:spPr>
          <a:xfrm>
            <a:off x="6334125" y="2107567"/>
            <a:ext cx="2457450" cy="875030"/>
          </a:xfrm>
          <a:prstGeom prst="roundRect">
            <a:avLst>
              <a:gd name="adj" fmla="val 7620"/>
            </a:avLst>
          </a:prstGeom>
          <a:noFill/>
          <a:ln w="19050">
            <a:solidFill>
              <a:srgbClr val="137485"/>
            </a:solidFill>
            <a:prstDash val="dash"/>
          </a:ln>
        </p:spPr>
        <p:txBody>
          <a:bodyPr/>
          <a:lstStyle/>
          <a:p>
            <a:endParaRPr lang="fr-FR"/>
          </a:p>
        </p:txBody>
      </p:sp>
      <p:sp>
        <p:nvSpPr>
          <p:cNvPr id="18" name="Text 16"/>
          <p:cNvSpPr/>
          <p:nvPr/>
        </p:nvSpPr>
        <p:spPr>
          <a:xfrm>
            <a:off x="6403340" y="21767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FDFCFE"/>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Application</a:t>
            </a:r>
            <a:endParaRPr lang="en-US" sz="1200" dirty="0"/>
          </a:p>
        </p:txBody>
      </p:sp>
      <p:sp>
        <p:nvSpPr>
          <p:cNvPr id="19" name="Text 17"/>
          <p:cNvSpPr/>
          <p:nvPr/>
        </p:nvSpPr>
        <p:spPr>
          <a:xfrm>
            <a:off x="6403340" y="25704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D3EDF1"/>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Bins / Libs</a:t>
            </a:r>
            <a:endParaRPr lang="en-US" sz="1200" dirty="0"/>
          </a:p>
        </p:txBody>
      </p:sp>
      <p:sp>
        <p:nvSpPr>
          <p:cNvPr id="20" name="Shape 18"/>
          <p:cNvSpPr/>
          <p:nvPr/>
        </p:nvSpPr>
        <p:spPr>
          <a:xfrm>
            <a:off x="8912225" y="2107567"/>
            <a:ext cx="2457450" cy="875030"/>
          </a:xfrm>
          <a:prstGeom prst="roundRect">
            <a:avLst>
              <a:gd name="adj" fmla="val 7620"/>
            </a:avLst>
          </a:prstGeom>
          <a:noFill/>
          <a:ln w="19050">
            <a:solidFill>
              <a:srgbClr val="137485"/>
            </a:solidFill>
            <a:prstDash val="dash"/>
          </a:ln>
        </p:spPr>
        <p:txBody>
          <a:bodyPr/>
          <a:lstStyle/>
          <a:p>
            <a:endParaRPr lang="fr-FR"/>
          </a:p>
        </p:txBody>
      </p:sp>
      <p:sp>
        <p:nvSpPr>
          <p:cNvPr id="21" name="Text 19"/>
          <p:cNvSpPr/>
          <p:nvPr/>
        </p:nvSpPr>
        <p:spPr>
          <a:xfrm>
            <a:off x="8981440" y="21767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FDFCFE"/>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Application</a:t>
            </a:r>
            <a:endParaRPr lang="en-US" sz="1200" dirty="0"/>
          </a:p>
        </p:txBody>
      </p:sp>
      <p:sp>
        <p:nvSpPr>
          <p:cNvPr id="22" name="Text 20"/>
          <p:cNvSpPr/>
          <p:nvPr/>
        </p:nvSpPr>
        <p:spPr>
          <a:xfrm>
            <a:off x="8981440" y="2570479"/>
            <a:ext cx="2319020" cy="342900"/>
          </a:xfrm>
          <a:custGeom>
            <a:avLst/>
            <a:gdLst/>
            <a:ahLst/>
            <a:cxnLst/>
            <a:rect l="l" t="t" r="r" b="b"/>
            <a:pathLst>
              <a:path w="2319020" h="342900">
                <a:moveTo>
                  <a:pt x="50800" y="0"/>
                </a:moveTo>
                <a:lnTo>
                  <a:pt x="2268220" y="0"/>
                </a:lnTo>
                <a:arcTo wR="50800" hR="50800" stAng="16200000" swAng="5400000"/>
                <a:lnTo>
                  <a:pt x="2319020" y="292100"/>
                </a:lnTo>
                <a:arcTo wR="50800" hR="50800" stAng="0" swAng="5400000"/>
                <a:lnTo>
                  <a:pt x="50800" y="342900"/>
                </a:lnTo>
                <a:arcTo wR="50800" hR="50800" stAng="5400000" swAng="5400000"/>
                <a:lnTo>
                  <a:pt x="0" y="50800"/>
                </a:lnTo>
                <a:arcTo wR="50800" hR="50800" stAng="10800000" swAng="5400000"/>
                <a:close/>
              </a:path>
            </a:pathLst>
          </a:custGeom>
          <a:solidFill>
            <a:srgbClr val="D3EDF1"/>
          </a:solidFill>
          <a:ln/>
        </p:spPr>
        <p:txBody>
          <a:bodyPr wrap="square" lIns="17539" tIns="76200" rIns="17539"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Bins / Libs</a:t>
            </a:r>
            <a:endParaRPr lang="en-US" sz="1200" dirty="0"/>
          </a:p>
        </p:txBody>
      </p:sp>
      <p:sp>
        <p:nvSpPr>
          <p:cNvPr id="23" name="Text 21"/>
          <p:cNvSpPr/>
          <p:nvPr/>
        </p:nvSpPr>
        <p:spPr>
          <a:xfrm>
            <a:off x="6324600" y="3055621"/>
            <a:ext cx="5054600" cy="342900"/>
          </a:xfrm>
          <a:custGeom>
            <a:avLst/>
            <a:gdLst/>
            <a:ahLst/>
            <a:cxnLst/>
            <a:rect l="l" t="t" r="r" b="b"/>
            <a:pathLst>
              <a:path w="5054600" h="342900">
                <a:moveTo>
                  <a:pt x="50800" y="0"/>
                </a:moveTo>
                <a:lnTo>
                  <a:pt x="5003800" y="0"/>
                </a:lnTo>
                <a:arcTo wR="50800" hR="50800" stAng="16200000" swAng="5400000"/>
                <a:lnTo>
                  <a:pt x="5054600" y="292100"/>
                </a:lnTo>
                <a:arcTo wR="50800" hR="50800" stAng="0" swAng="5400000"/>
                <a:lnTo>
                  <a:pt x="50800" y="342900"/>
                </a:lnTo>
                <a:arcTo wR="50800" hR="50800" stAng="5400000" swAng="5400000"/>
                <a:lnTo>
                  <a:pt x="0" y="50800"/>
                </a:lnTo>
                <a:arcTo wR="50800" hR="50800" stAng="10800000" swAng="5400000"/>
                <a:close/>
              </a:path>
            </a:pathLst>
          </a:custGeom>
          <a:solidFill>
            <a:srgbClr val="ECE7F6"/>
          </a:solidFill>
          <a:ln/>
        </p:spPr>
        <p:txBody>
          <a:bodyPr wrap="square" lIns="0" tIns="76200" rIns="0"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Moteur de conteneurs (Docker, containerd)</a:t>
            </a:r>
            <a:endParaRPr lang="en-US" sz="1200" dirty="0"/>
          </a:p>
        </p:txBody>
      </p:sp>
      <p:sp>
        <p:nvSpPr>
          <p:cNvPr id="24" name="Text 22"/>
          <p:cNvSpPr/>
          <p:nvPr/>
        </p:nvSpPr>
        <p:spPr>
          <a:xfrm>
            <a:off x="6324600" y="3462021"/>
            <a:ext cx="5054600" cy="342900"/>
          </a:xfrm>
          <a:custGeom>
            <a:avLst/>
            <a:gdLst/>
            <a:ahLst/>
            <a:cxnLst/>
            <a:rect l="l" t="t" r="r" b="b"/>
            <a:pathLst>
              <a:path w="5054600" h="342900">
                <a:moveTo>
                  <a:pt x="50800" y="0"/>
                </a:moveTo>
                <a:lnTo>
                  <a:pt x="5003800" y="0"/>
                </a:lnTo>
                <a:arcTo wR="50800" hR="50800" stAng="16200000" swAng="5400000"/>
                <a:lnTo>
                  <a:pt x="5054600" y="292100"/>
                </a:lnTo>
                <a:arcTo wR="50800" hR="50800" stAng="0" swAng="5400000"/>
                <a:lnTo>
                  <a:pt x="50800" y="342900"/>
                </a:lnTo>
                <a:arcTo wR="50800" hR="50800" stAng="5400000" swAng="5400000"/>
                <a:lnTo>
                  <a:pt x="0" y="50800"/>
                </a:lnTo>
                <a:arcTo wR="50800" hR="50800" stAng="10800000" swAng="5400000"/>
                <a:close/>
              </a:path>
            </a:pathLst>
          </a:custGeom>
          <a:solidFill>
            <a:srgbClr val="FBE5CF"/>
          </a:solidFill>
          <a:ln/>
        </p:spPr>
        <p:txBody>
          <a:bodyPr wrap="square" lIns="0" tIns="76200" rIns="0"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OS hôte : noyau partagé</a:t>
            </a:r>
            <a:endParaRPr lang="en-US" sz="1200" dirty="0"/>
          </a:p>
        </p:txBody>
      </p:sp>
      <p:sp>
        <p:nvSpPr>
          <p:cNvPr id="25" name="Text 23"/>
          <p:cNvSpPr/>
          <p:nvPr/>
        </p:nvSpPr>
        <p:spPr>
          <a:xfrm>
            <a:off x="6324600" y="3868421"/>
            <a:ext cx="5054600" cy="342900"/>
          </a:xfrm>
          <a:custGeom>
            <a:avLst/>
            <a:gdLst/>
            <a:ahLst/>
            <a:cxnLst/>
            <a:rect l="l" t="t" r="r" b="b"/>
            <a:pathLst>
              <a:path w="5054600" h="342900">
                <a:moveTo>
                  <a:pt x="50800" y="0"/>
                </a:moveTo>
                <a:lnTo>
                  <a:pt x="5003800" y="0"/>
                </a:lnTo>
                <a:arcTo wR="50800" hR="50800" stAng="16200000" swAng="5400000"/>
                <a:lnTo>
                  <a:pt x="5054600" y="292100"/>
                </a:lnTo>
                <a:arcTo wR="50800" hR="50800" stAng="0" swAng="5400000"/>
                <a:lnTo>
                  <a:pt x="50800" y="342900"/>
                </a:lnTo>
                <a:arcTo wR="50800" hR="50800" stAng="5400000" swAng="5400000"/>
                <a:lnTo>
                  <a:pt x="0" y="50800"/>
                </a:lnTo>
                <a:arcTo wR="50800" hR="50800" stAng="10800000" swAng="5400000"/>
                <a:close/>
              </a:path>
            </a:pathLst>
          </a:custGeom>
          <a:solidFill>
            <a:srgbClr val="E4E2EA"/>
          </a:solidFill>
          <a:ln/>
        </p:spPr>
        <p:txBody>
          <a:bodyPr wrap="square" lIns="0" tIns="76200" rIns="0"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Matériel</a:t>
            </a:r>
            <a:endParaRPr lang="en-US" sz="1200" dirty="0"/>
          </a:p>
        </p:txBody>
      </p:sp>
      <p:sp>
        <p:nvSpPr>
          <p:cNvPr id="26" name="Text 24"/>
          <p:cNvSpPr/>
          <p:nvPr/>
        </p:nvSpPr>
        <p:spPr>
          <a:xfrm>
            <a:off x="6324600" y="4338321"/>
            <a:ext cx="5206238"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Tous les conteneurs </a:t>
            </a:r>
            <a:r>
              <a:rPr lang="en-US" sz="1300" b="1" dirty="0">
                <a:solidFill>
                  <a:srgbClr val="4A4462"/>
                </a:solidFill>
                <a:latin typeface="IBM Plex Sans" pitchFamily="34" charset="0"/>
                <a:ea typeface="IBM Plex Sans" pitchFamily="34" charset="-122"/>
                <a:cs typeface="IBM Plex Sans" pitchFamily="34" charset="-120"/>
              </a:rPr>
              <a:t>partagent le noyau de l’hôte</a:t>
            </a:r>
            <a:r>
              <a:rPr lang="en-US" sz="1300" dirty="0">
                <a:solidFill>
                  <a:srgbClr val="4A4462"/>
                </a:solidFill>
                <a:latin typeface="IBM Plex Sans" pitchFamily="34" charset="0"/>
                <a:ea typeface="IBM Plex Sans" pitchFamily="34" charset="-122"/>
                <a:cs typeface="IBM Plex Sans" pitchFamily="34" charset="-120"/>
              </a:rPr>
              <a:t> : isolation par les namespaces, limites par les cgroups. Léger et rapide à démarrer. Favorise la </a:t>
            </a:r>
            <a:r>
              <a:rPr lang="en-US" sz="1300" b="1" dirty="0">
                <a:solidFill>
                  <a:srgbClr val="4A4462"/>
                </a:solidFill>
                <a:latin typeface="IBM Plex Sans" pitchFamily="34" charset="0"/>
                <a:ea typeface="IBM Plex Sans" pitchFamily="34" charset="-122"/>
                <a:cs typeface="IBM Plex Sans" pitchFamily="34" charset="-120"/>
              </a:rPr>
              <a:t>portabilité</a:t>
            </a:r>
            <a:r>
              <a:rPr lang="en-US" sz="1300" dirty="0">
                <a:solidFill>
                  <a:srgbClr val="4A4462"/>
                </a:solidFill>
                <a:latin typeface="IBM Plex Sans" pitchFamily="34" charset="0"/>
                <a:ea typeface="IBM Plex Sans" pitchFamily="34" charset="-122"/>
                <a:cs typeface="IBM Plex Sans" pitchFamily="34" charset="-120"/>
              </a:rPr>
              <a:t>.</a:t>
            </a:r>
            <a:endParaRPr lang="en-US" sz="1300" dirty="0"/>
          </a:p>
        </p:txBody>
      </p:sp>
      <p:sp>
        <p:nvSpPr>
          <p:cNvPr id="27" name="Text 2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3 · LE CALCUL</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Hyperviseur et noyau : quelques notions</a:t>
            </a:r>
            <a:endParaRPr lang="en-US" sz="3200" dirty="0"/>
          </a:p>
        </p:txBody>
      </p:sp>
      <p:sp>
        <p:nvSpPr>
          <p:cNvPr id="4" name="Text 2"/>
          <p:cNvSpPr/>
          <p:nvPr/>
        </p:nvSpPr>
        <p:spPr>
          <a:xfrm>
            <a:off x="812800" y="2133600"/>
            <a:ext cx="23807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Type 1 (« bare metal »)</a:t>
            </a:r>
            <a:endParaRPr lang="en-US" sz="1400" dirty="0"/>
          </a:p>
        </p:txBody>
      </p:sp>
      <p:sp>
        <p:nvSpPr>
          <p:cNvPr id="5" name="Text 3"/>
          <p:cNvSpPr/>
          <p:nvPr/>
        </p:nvSpPr>
        <p:spPr>
          <a:xfrm>
            <a:off x="812800" y="2410458"/>
            <a:ext cx="2311400" cy="342900"/>
          </a:xfrm>
          <a:custGeom>
            <a:avLst/>
            <a:gdLst/>
            <a:ahLst/>
            <a:cxnLst/>
            <a:rect l="l" t="t" r="r" b="b"/>
            <a:pathLst>
              <a:path w="2311400" h="342900">
                <a:moveTo>
                  <a:pt x="50800" y="0"/>
                </a:moveTo>
                <a:lnTo>
                  <a:pt x="2260600" y="0"/>
                </a:lnTo>
                <a:arcTo wR="50800" hR="50800" stAng="16200000" swAng="5400000"/>
                <a:lnTo>
                  <a:pt x="2311400" y="292100"/>
                </a:lnTo>
                <a:arcTo wR="50800" hR="50800" stAng="0" swAng="5400000"/>
                <a:lnTo>
                  <a:pt x="50800" y="342900"/>
                </a:lnTo>
                <a:arcTo wR="50800" hR="50800" stAng="5400000" swAng="5400000"/>
                <a:lnTo>
                  <a:pt x="0" y="50800"/>
                </a:lnTo>
                <a:arcTo wR="50800" hR="50800" stAng="10800000" swAng="5400000"/>
                <a:close/>
              </a:path>
            </a:pathLst>
          </a:custGeom>
          <a:solidFill>
            <a:srgbClr val="ECE7F6"/>
          </a:solidFill>
          <a:ln/>
        </p:spPr>
        <p:txBody>
          <a:bodyPr wrap="square" lIns="17653" tIns="76200" rIns="17653"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VM 1 · VM 2 · VM 3</a:t>
            </a:r>
            <a:endParaRPr lang="en-US" sz="1200" dirty="0"/>
          </a:p>
        </p:txBody>
      </p:sp>
      <p:sp>
        <p:nvSpPr>
          <p:cNvPr id="6" name="Text 4"/>
          <p:cNvSpPr/>
          <p:nvPr/>
        </p:nvSpPr>
        <p:spPr>
          <a:xfrm>
            <a:off x="812800" y="2816858"/>
            <a:ext cx="2311400" cy="342900"/>
          </a:xfrm>
          <a:custGeom>
            <a:avLst/>
            <a:gdLst/>
            <a:ahLst/>
            <a:cxnLst/>
            <a:rect l="l" t="t" r="r" b="b"/>
            <a:pathLst>
              <a:path w="2311400" h="342900">
                <a:moveTo>
                  <a:pt x="50800" y="0"/>
                </a:moveTo>
                <a:lnTo>
                  <a:pt x="2260600" y="0"/>
                </a:lnTo>
                <a:arcTo wR="50800" hR="50800" stAng="16200000" swAng="5400000"/>
                <a:lnTo>
                  <a:pt x="2311400" y="292100"/>
                </a:lnTo>
                <a:arcTo wR="50800" hR="50800" stAng="0" swAng="5400000"/>
                <a:lnTo>
                  <a:pt x="50800" y="342900"/>
                </a:lnTo>
                <a:arcTo wR="50800" hR="50800" stAng="5400000" swAng="5400000"/>
                <a:lnTo>
                  <a:pt x="0" y="50800"/>
                </a:lnTo>
                <a:arcTo wR="50800" hR="50800" stAng="10800000" swAng="5400000"/>
                <a:close/>
              </a:path>
            </a:pathLst>
          </a:custGeom>
          <a:solidFill>
            <a:srgbClr val="FBE5CF"/>
          </a:solidFill>
          <a:ln/>
        </p:spPr>
        <p:txBody>
          <a:bodyPr wrap="square" lIns="17653" tIns="76200" rIns="17653"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Hyperviseur</a:t>
            </a:r>
            <a:endParaRPr lang="en-US" sz="1200" dirty="0"/>
          </a:p>
        </p:txBody>
      </p:sp>
      <p:sp>
        <p:nvSpPr>
          <p:cNvPr id="7" name="Text 5"/>
          <p:cNvSpPr/>
          <p:nvPr/>
        </p:nvSpPr>
        <p:spPr>
          <a:xfrm>
            <a:off x="812800" y="3223258"/>
            <a:ext cx="2311400" cy="342900"/>
          </a:xfrm>
          <a:custGeom>
            <a:avLst/>
            <a:gdLst/>
            <a:ahLst/>
            <a:cxnLst/>
            <a:rect l="l" t="t" r="r" b="b"/>
            <a:pathLst>
              <a:path w="2311400" h="342900">
                <a:moveTo>
                  <a:pt x="50800" y="0"/>
                </a:moveTo>
                <a:lnTo>
                  <a:pt x="2260600" y="0"/>
                </a:lnTo>
                <a:arcTo wR="50800" hR="50800" stAng="16200000" swAng="5400000"/>
                <a:lnTo>
                  <a:pt x="2311400" y="292100"/>
                </a:lnTo>
                <a:arcTo wR="50800" hR="50800" stAng="0" swAng="5400000"/>
                <a:lnTo>
                  <a:pt x="50800" y="342900"/>
                </a:lnTo>
                <a:arcTo wR="50800" hR="50800" stAng="5400000" swAng="5400000"/>
                <a:lnTo>
                  <a:pt x="0" y="50800"/>
                </a:lnTo>
                <a:arcTo wR="50800" hR="50800" stAng="10800000" swAng="5400000"/>
                <a:close/>
              </a:path>
            </a:pathLst>
          </a:custGeom>
          <a:solidFill>
            <a:srgbClr val="E4E2EA"/>
          </a:solidFill>
          <a:ln/>
        </p:spPr>
        <p:txBody>
          <a:bodyPr wrap="square" lIns="17653" tIns="76200" rIns="17653"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Matériel</a:t>
            </a:r>
            <a:endParaRPr lang="en-US" sz="1200" dirty="0"/>
          </a:p>
        </p:txBody>
      </p:sp>
      <p:sp>
        <p:nvSpPr>
          <p:cNvPr id="8" name="Text 6"/>
          <p:cNvSpPr/>
          <p:nvPr/>
        </p:nvSpPr>
        <p:spPr>
          <a:xfrm>
            <a:off x="3327400" y="1727200"/>
            <a:ext cx="23807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Type 2 (« hébergé »)</a:t>
            </a:r>
            <a:endParaRPr lang="en-US" sz="1400" dirty="0"/>
          </a:p>
        </p:txBody>
      </p:sp>
      <p:sp>
        <p:nvSpPr>
          <p:cNvPr id="9" name="Text 7"/>
          <p:cNvSpPr/>
          <p:nvPr/>
        </p:nvSpPr>
        <p:spPr>
          <a:xfrm>
            <a:off x="3327400" y="2004058"/>
            <a:ext cx="2311400" cy="342900"/>
          </a:xfrm>
          <a:custGeom>
            <a:avLst/>
            <a:gdLst/>
            <a:ahLst/>
            <a:cxnLst/>
            <a:rect l="l" t="t" r="r" b="b"/>
            <a:pathLst>
              <a:path w="2311400" h="342900">
                <a:moveTo>
                  <a:pt x="50800" y="0"/>
                </a:moveTo>
                <a:lnTo>
                  <a:pt x="2260600" y="0"/>
                </a:lnTo>
                <a:arcTo wR="50800" hR="50800" stAng="16200000" swAng="5400000"/>
                <a:lnTo>
                  <a:pt x="2311400" y="292100"/>
                </a:lnTo>
                <a:arcTo wR="50800" hR="50800" stAng="0" swAng="5400000"/>
                <a:lnTo>
                  <a:pt x="50800" y="342900"/>
                </a:lnTo>
                <a:arcTo wR="50800" hR="50800" stAng="5400000" swAng="5400000"/>
                <a:lnTo>
                  <a:pt x="0" y="50800"/>
                </a:lnTo>
                <a:arcTo wR="50800" hR="50800" stAng="10800000" swAng="5400000"/>
                <a:close/>
              </a:path>
            </a:pathLst>
          </a:custGeom>
          <a:solidFill>
            <a:srgbClr val="ECE7F6"/>
          </a:solidFill>
          <a:ln/>
        </p:spPr>
        <p:txBody>
          <a:bodyPr wrap="square" lIns="17653" tIns="76200" rIns="17653"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VM 1 · VM 2</a:t>
            </a:r>
            <a:endParaRPr lang="en-US" sz="1200" dirty="0"/>
          </a:p>
        </p:txBody>
      </p:sp>
      <p:sp>
        <p:nvSpPr>
          <p:cNvPr id="10" name="Text 8"/>
          <p:cNvSpPr/>
          <p:nvPr/>
        </p:nvSpPr>
        <p:spPr>
          <a:xfrm>
            <a:off x="3327400" y="2410458"/>
            <a:ext cx="2311400" cy="342900"/>
          </a:xfrm>
          <a:custGeom>
            <a:avLst/>
            <a:gdLst/>
            <a:ahLst/>
            <a:cxnLst/>
            <a:rect l="l" t="t" r="r" b="b"/>
            <a:pathLst>
              <a:path w="2311400" h="342900">
                <a:moveTo>
                  <a:pt x="50800" y="0"/>
                </a:moveTo>
                <a:lnTo>
                  <a:pt x="2260600" y="0"/>
                </a:lnTo>
                <a:arcTo wR="50800" hR="50800" stAng="16200000" swAng="5400000"/>
                <a:lnTo>
                  <a:pt x="2311400" y="292100"/>
                </a:lnTo>
                <a:arcTo wR="50800" hR="50800" stAng="0" swAng="5400000"/>
                <a:lnTo>
                  <a:pt x="50800" y="342900"/>
                </a:lnTo>
                <a:arcTo wR="50800" hR="50800" stAng="5400000" swAng="5400000"/>
                <a:lnTo>
                  <a:pt x="0" y="50800"/>
                </a:lnTo>
                <a:arcTo wR="50800" hR="50800" stAng="10800000" swAng="5400000"/>
                <a:close/>
              </a:path>
            </a:pathLst>
          </a:custGeom>
          <a:solidFill>
            <a:srgbClr val="FBE5CF"/>
          </a:solidFill>
          <a:ln/>
        </p:spPr>
        <p:txBody>
          <a:bodyPr wrap="square" lIns="17653" tIns="76200" rIns="17653"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Hyperviseur (logiciel)</a:t>
            </a:r>
            <a:endParaRPr lang="en-US" sz="1200" dirty="0"/>
          </a:p>
        </p:txBody>
      </p:sp>
      <p:sp>
        <p:nvSpPr>
          <p:cNvPr id="11" name="Text 9"/>
          <p:cNvSpPr/>
          <p:nvPr/>
        </p:nvSpPr>
        <p:spPr>
          <a:xfrm>
            <a:off x="3327400" y="2816858"/>
            <a:ext cx="2311400" cy="342900"/>
          </a:xfrm>
          <a:custGeom>
            <a:avLst/>
            <a:gdLst/>
            <a:ahLst/>
            <a:cxnLst/>
            <a:rect l="l" t="t" r="r" b="b"/>
            <a:pathLst>
              <a:path w="2311400" h="342900">
                <a:moveTo>
                  <a:pt x="50800" y="0"/>
                </a:moveTo>
                <a:lnTo>
                  <a:pt x="2260600" y="0"/>
                </a:lnTo>
                <a:arcTo wR="50800" hR="50800" stAng="16200000" swAng="5400000"/>
                <a:lnTo>
                  <a:pt x="2311400" y="292100"/>
                </a:lnTo>
                <a:arcTo wR="50800" hR="50800" stAng="0" swAng="5400000"/>
                <a:lnTo>
                  <a:pt x="50800" y="342900"/>
                </a:lnTo>
                <a:arcTo wR="50800" hR="50800" stAng="5400000" swAng="5400000"/>
                <a:lnTo>
                  <a:pt x="0" y="50800"/>
                </a:lnTo>
                <a:arcTo wR="50800" hR="50800" stAng="10800000" swAng="5400000"/>
                <a:close/>
              </a:path>
            </a:pathLst>
          </a:custGeom>
          <a:solidFill>
            <a:srgbClr val="D3EDF1"/>
          </a:solidFill>
          <a:ln/>
        </p:spPr>
        <p:txBody>
          <a:bodyPr wrap="square" lIns="17653" tIns="76200" rIns="17653"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OS hôte</a:t>
            </a:r>
            <a:endParaRPr lang="en-US" sz="1200" dirty="0"/>
          </a:p>
        </p:txBody>
      </p:sp>
      <p:sp>
        <p:nvSpPr>
          <p:cNvPr id="12" name="Text 10"/>
          <p:cNvSpPr/>
          <p:nvPr/>
        </p:nvSpPr>
        <p:spPr>
          <a:xfrm>
            <a:off x="3327400" y="3223258"/>
            <a:ext cx="2311400" cy="342900"/>
          </a:xfrm>
          <a:custGeom>
            <a:avLst/>
            <a:gdLst/>
            <a:ahLst/>
            <a:cxnLst/>
            <a:rect l="l" t="t" r="r" b="b"/>
            <a:pathLst>
              <a:path w="2311400" h="342900">
                <a:moveTo>
                  <a:pt x="50800" y="0"/>
                </a:moveTo>
                <a:lnTo>
                  <a:pt x="2260600" y="0"/>
                </a:lnTo>
                <a:arcTo wR="50800" hR="50800" stAng="16200000" swAng="5400000"/>
                <a:lnTo>
                  <a:pt x="2311400" y="292100"/>
                </a:lnTo>
                <a:arcTo wR="50800" hR="50800" stAng="0" swAng="5400000"/>
                <a:lnTo>
                  <a:pt x="50800" y="342900"/>
                </a:lnTo>
                <a:arcTo wR="50800" hR="50800" stAng="5400000" swAng="5400000"/>
                <a:lnTo>
                  <a:pt x="0" y="50800"/>
                </a:lnTo>
                <a:arcTo wR="50800" hR="50800" stAng="10800000" swAng="5400000"/>
                <a:close/>
              </a:path>
            </a:pathLst>
          </a:custGeom>
          <a:solidFill>
            <a:srgbClr val="E4E2EA"/>
          </a:solidFill>
          <a:ln/>
        </p:spPr>
        <p:txBody>
          <a:bodyPr wrap="square" lIns="17653" tIns="76200" rIns="17653" bIns="5080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Matériel</a:t>
            </a:r>
            <a:endParaRPr lang="en-US" sz="1200" dirty="0"/>
          </a:p>
        </p:txBody>
      </p:sp>
      <p:sp>
        <p:nvSpPr>
          <p:cNvPr id="13" name="Text 11"/>
          <p:cNvSpPr/>
          <p:nvPr/>
        </p:nvSpPr>
        <p:spPr>
          <a:xfrm>
            <a:off x="812800" y="3718558"/>
            <a:ext cx="49707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La virtualisation n’est pas une technologie nouvelle : IBM la développe dès les années 1960 (CP-40, CP-67, puis VM/370 en 1972).</a:t>
            </a:r>
            <a:endParaRPr lang="en-US" sz="1200" dirty="0"/>
          </a:p>
        </p:txBody>
      </p:sp>
      <p:sp>
        <p:nvSpPr>
          <p:cNvPr id="14" name="Text 12"/>
          <p:cNvSpPr/>
          <p:nvPr/>
        </p:nvSpPr>
        <p:spPr>
          <a:xfrm>
            <a:off x="6045200" y="1727200"/>
            <a:ext cx="549402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Noyau (kernel)</a:t>
            </a:r>
            <a:endParaRPr lang="en-US" sz="1400" dirty="0"/>
          </a:p>
        </p:txBody>
      </p:sp>
      <p:sp>
        <p:nvSpPr>
          <p:cNvPr id="15" name="Text 13"/>
          <p:cNvSpPr/>
          <p:nvPr/>
        </p:nvSpPr>
        <p:spPr>
          <a:xfrm>
            <a:off x="6045200" y="1953258"/>
            <a:ext cx="549402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Contrôle le matériel et répartit ses ressources entre les programmes. Exemple : le noyau Linux.</a:t>
            </a:r>
            <a:endParaRPr lang="en-US" sz="1200" dirty="0"/>
          </a:p>
        </p:txBody>
      </p:sp>
      <p:sp>
        <p:nvSpPr>
          <p:cNvPr id="16" name="Text 14"/>
          <p:cNvSpPr/>
          <p:nvPr/>
        </p:nvSpPr>
        <p:spPr>
          <a:xfrm>
            <a:off x="6045200" y="2491742"/>
            <a:ext cx="549402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Hyperviseur</a:t>
            </a:r>
            <a:endParaRPr lang="en-US" sz="1400" dirty="0"/>
          </a:p>
        </p:txBody>
      </p:sp>
      <p:sp>
        <p:nvSpPr>
          <p:cNvPr id="17" name="Text 15"/>
          <p:cNvSpPr/>
          <p:nvPr/>
        </p:nvSpPr>
        <p:spPr>
          <a:xfrm>
            <a:off x="6045200" y="2717800"/>
            <a:ext cx="549402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Programme qui abstrait le matériel et alloue les ressources à une ou plusieurs VMs.</a:t>
            </a:r>
            <a:endParaRPr lang="en-US" sz="1200" dirty="0"/>
          </a:p>
        </p:txBody>
      </p:sp>
      <p:sp>
        <p:nvSpPr>
          <p:cNvPr id="18" name="Text 16"/>
          <p:cNvSpPr/>
          <p:nvPr/>
        </p:nvSpPr>
        <p:spPr>
          <a:xfrm>
            <a:off x="6045200" y="3256279"/>
            <a:ext cx="549402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Type 1</a:t>
            </a:r>
            <a:endParaRPr lang="en-US" sz="1400" dirty="0"/>
          </a:p>
        </p:txBody>
      </p:sp>
      <p:sp>
        <p:nvSpPr>
          <p:cNvPr id="19" name="Text 17"/>
          <p:cNvSpPr/>
          <p:nvPr/>
        </p:nvSpPr>
        <p:spPr>
          <a:xfrm>
            <a:off x="6045200" y="3482342"/>
            <a:ext cx="549402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S’exécute directement sur le matériel : plus performant et plus sûr. Ex. : VMware ESXi, Hyper-V, Xen, KVM (sur lequel repose AWS Nitro).</a:t>
            </a:r>
            <a:endParaRPr lang="en-US" sz="1200" dirty="0"/>
          </a:p>
        </p:txBody>
      </p:sp>
      <p:sp>
        <p:nvSpPr>
          <p:cNvPr id="20" name="Text 18"/>
          <p:cNvSpPr/>
          <p:nvPr/>
        </p:nvSpPr>
        <p:spPr>
          <a:xfrm>
            <a:off x="6045200" y="4020821"/>
            <a:ext cx="549402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Type 2</a:t>
            </a:r>
            <a:endParaRPr lang="en-US" sz="1400" dirty="0"/>
          </a:p>
        </p:txBody>
      </p:sp>
      <p:sp>
        <p:nvSpPr>
          <p:cNvPr id="21" name="Text 19"/>
          <p:cNvSpPr/>
          <p:nvPr/>
        </p:nvSpPr>
        <p:spPr>
          <a:xfrm>
            <a:off x="6045200" y="4246879"/>
            <a:ext cx="549402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S’exécute au-dessus d’un OS existant, pratique sur un poste de travail. Ex. : VirtualBox, VMware Workstation.</a:t>
            </a:r>
            <a:endParaRPr lang="en-US" sz="12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3 · LE CALCUL</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Les services de calcul chez les trois fournisseurs</a:t>
            </a:r>
            <a:endParaRPr lang="en-US" sz="3200" dirty="0"/>
          </a:p>
        </p:txBody>
      </p:sp>
      <p:sp>
        <p:nvSpPr>
          <p:cNvPr id="4" name="Text 2"/>
          <p:cNvSpPr/>
          <p:nvPr/>
        </p:nvSpPr>
        <p:spPr>
          <a:xfrm>
            <a:off x="812800" y="1727200"/>
            <a:ext cx="10883392"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462"/>
                </a:solidFill>
                <a:latin typeface="IBM Plex Sans" pitchFamily="34" charset="0"/>
                <a:ea typeface="IBM Plex Sans" pitchFamily="34" charset="-122"/>
                <a:cs typeface="IBM Plex Sans" pitchFamily="34" charset="-120"/>
              </a:rPr>
              <a:t>Le concept est le même partout, seuls les noms changent.</a:t>
            </a:r>
            <a:endParaRPr lang="en-US" sz="1400" dirty="0"/>
          </a:p>
        </p:txBody>
      </p:sp>
      <p:sp>
        <p:nvSpPr>
          <p:cNvPr id="5" name="Shape 3"/>
          <p:cNvSpPr/>
          <p:nvPr/>
        </p:nvSpPr>
        <p:spPr>
          <a:xfrm>
            <a:off x="11376025" y="2170429"/>
            <a:ext cx="0" cy="1932940"/>
          </a:xfrm>
          <a:prstGeom prst="line">
            <a:avLst/>
          </a:prstGeom>
          <a:noFill/>
          <a:ln w="6350">
            <a:solidFill>
              <a:srgbClr val="E4E2EA"/>
            </a:solidFill>
            <a:prstDash val="solid"/>
          </a:ln>
        </p:spPr>
        <p:txBody>
          <a:bodyPr/>
          <a:lstStyle/>
          <a:p>
            <a:endParaRPr lang="fr-FR"/>
          </a:p>
        </p:txBody>
      </p:sp>
      <p:sp>
        <p:nvSpPr>
          <p:cNvPr id="6" name="Shape 4"/>
          <p:cNvSpPr/>
          <p:nvPr/>
        </p:nvSpPr>
        <p:spPr>
          <a:xfrm>
            <a:off x="812800" y="4100194"/>
            <a:ext cx="10566400" cy="0"/>
          </a:xfrm>
          <a:prstGeom prst="line">
            <a:avLst/>
          </a:prstGeom>
          <a:noFill/>
          <a:ln w="6350">
            <a:solidFill>
              <a:srgbClr val="E4E2EA"/>
            </a:solidFill>
            <a:prstDash val="solid"/>
          </a:ln>
        </p:spPr>
        <p:txBody>
          <a:bodyPr/>
          <a:lstStyle/>
          <a:p>
            <a:endParaRPr lang="fr-F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80589"/>
          <a:ext cx="10551160" cy="1917700"/>
        </p:xfrm>
        <a:graphic>
          <a:graphicData uri="http://schemas.openxmlformats.org/drawingml/2006/table">
            <a:tbl>
              <a:tblPr/>
              <a:tblGrid>
                <a:gridCol w="3270860">
                  <a:extLst>
                    <a:ext uri="{9D8B030D-6E8A-4147-A177-3AD203B41FA5}">
                      <a16:colId xmlns:a16="http://schemas.microsoft.com/office/drawing/2014/main" val="20000"/>
                    </a:ext>
                  </a:extLst>
                </a:gridCol>
                <a:gridCol w="2426767">
                  <a:extLst>
                    <a:ext uri="{9D8B030D-6E8A-4147-A177-3AD203B41FA5}">
                      <a16:colId xmlns:a16="http://schemas.microsoft.com/office/drawing/2014/main" val="20001"/>
                    </a:ext>
                  </a:extLst>
                </a:gridCol>
                <a:gridCol w="2426767">
                  <a:extLst>
                    <a:ext uri="{9D8B030D-6E8A-4147-A177-3AD203B41FA5}">
                      <a16:colId xmlns:a16="http://schemas.microsoft.com/office/drawing/2014/main" val="20002"/>
                    </a:ext>
                  </a:extLst>
                </a:gridCol>
                <a:gridCol w="2426767">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4F1FA"/>
                          </a:solidFill>
                          <a:latin typeface="IBM Plex Sans" pitchFamily="34" charset="0"/>
                          <a:ea typeface="IBM Plex Sans" pitchFamily="34" charset="-122"/>
                          <a:cs typeface="IBM Plex Sans" pitchFamily="34" charset="-120"/>
                        </a:rPr>
                        <a:t>Catégorie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960"/>
                        </a:lnSpc>
                        <a:buNone/>
                      </a:pPr>
                      <a:r>
                        <a:rPr lang="en-US" sz="1400" b="1" dirty="0">
                          <a:solidFill>
                            <a:srgbClr val="F4F1FA"/>
                          </a:solidFill>
                          <a:latin typeface="IBM Plex Sans" pitchFamily="34" charset="0"/>
                          <a:ea typeface="IBM Plex Sans" pitchFamily="34" charset="-122"/>
                          <a:cs typeface="IBM Plex Sans" pitchFamily="34" charset="-120"/>
                        </a:rPr>
                        <a:t>AWS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960"/>
                        </a:lnSpc>
                        <a:buNone/>
                      </a:pPr>
                      <a:r>
                        <a:rPr lang="en-US" sz="1400" b="1" dirty="0">
                          <a:solidFill>
                            <a:srgbClr val="F4F1FA"/>
                          </a:solidFill>
                          <a:latin typeface="IBM Plex Sans" pitchFamily="34" charset="0"/>
                          <a:ea typeface="IBM Plex Sans" pitchFamily="34" charset="-122"/>
                          <a:cs typeface="IBM Plex Sans" pitchFamily="34" charset="-120"/>
                        </a:rPr>
                        <a:t>Azure</a:t>
                      </a:r>
                      <a:endParaRPr lang="en-US" sz="1400" dirty="0">
                        <a:latin typeface="IBM Plex Sans" charset="0"/>
                        <a:ea typeface="IBM Plex Sans" charset="0"/>
                        <a:cs typeface="IBM Plex Sans" charset="0"/>
                      </a:endParaRPr>
                    </a:p>
                  </a:txBody>
                  <a:tcPr marL="62230" marR="62230" marT="62230" marB="62230">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960"/>
                        </a:lnSpc>
                        <a:buNone/>
                      </a:pPr>
                      <a:r>
                        <a:rPr lang="en-US" sz="1400" b="1" dirty="0">
                          <a:solidFill>
                            <a:srgbClr val="F4F1FA"/>
                          </a:solidFill>
                          <a:latin typeface="IBM Plex Sans" pitchFamily="34" charset="0"/>
                          <a:ea typeface="IBM Plex Sans" pitchFamily="34" charset="-122"/>
                          <a:cs typeface="IBM Plex Sans" pitchFamily="34" charset="-120"/>
                        </a:rPr>
                        <a:t>Google Cloud</a:t>
                      </a:r>
                      <a:endParaRPr lang="en-US" sz="1400" dirty="0">
                        <a:latin typeface="IBM Plex Sans" charset="0"/>
                        <a:ea typeface="IBM Plex Sans" charset="0"/>
                        <a:cs typeface="IBM Plex Sans" charset="0"/>
                      </a:endParaRPr>
                    </a:p>
                  </a:txBody>
                  <a:tcPr marL="62230" marR="62230" marT="62230" marB="62230">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Machine virtuelle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EC2</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Virtual Machines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Compute Engine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Fonctions serverless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Lambda</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Azure Functions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Cloud Run functions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Kubernetes managé</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EKS</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AKS</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GKE</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Conteneurs sans serveur à gérer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Fargate (avec ECS ou EKS)</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Container Apps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Cloud Run</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4"/>
                  </a:ext>
                </a:extLst>
              </a:tr>
            </a:tbl>
          </a:graphicData>
        </a:graphic>
      </p:graphicFrame>
      <p:sp>
        <p:nvSpPr>
          <p:cNvPr id="8" name="Text 5"/>
          <p:cNvSpPr/>
          <p:nvPr/>
        </p:nvSpPr>
        <p:spPr>
          <a:xfrm>
            <a:off x="812800" y="4306571"/>
            <a:ext cx="10566400" cy="699770"/>
          </a:xfrm>
          <a:prstGeom prst="roundRect">
            <a:avLst>
              <a:gd name="adj" fmla="val 10889"/>
            </a:avLst>
          </a:prstGeom>
          <a:solidFill>
            <a:srgbClr val="D3EDF1"/>
          </a:solidFill>
          <a:ln/>
        </p:spPr>
        <p:txBody>
          <a:bodyPr wrap="square" lIns="155482" tIns="104682" rIns="0" bIns="79282" rtlCol="0" anchor="t">
            <a:normAutofit/>
          </a:bodyPr>
          <a:lstStyle/>
          <a:p>
            <a:pPr marL="0" indent="0" algn="l">
              <a:lnSpc>
                <a:spcPts val="1755"/>
              </a:lnSpc>
              <a:buNone/>
            </a:pPr>
            <a:r>
              <a:rPr lang="en-US" sz="1300" b="1" dirty="0">
                <a:solidFill>
                  <a:srgbClr val="231B3A"/>
                </a:solidFill>
                <a:latin typeface="IBM Plex Sans" pitchFamily="34" charset="0"/>
                <a:ea typeface="IBM Plex Sans" pitchFamily="34" charset="-122"/>
                <a:cs typeface="IBM Plex Sans" pitchFamily="34" charset="-120"/>
              </a:rPr>
              <a:t>Serverless :</a:t>
            </a:r>
            <a:r>
              <a:rPr lang="en-US" sz="1300" dirty="0">
                <a:solidFill>
                  <a:srgbClr val="231B3A"/>
                </a:solidFill>
                <a:latin typeface="IBM Plex Sans" pitchFamily="34" charset="0"/>
                <a:ea typeface="IBM Plex Sans" pitchFamily="34" charset="-122"/>
                <a:cs typeface="IBM Plex Sans" pitchFamily="34" charset="-120"/>
              </a:rPr>
              <a:t> on fournit une fonction ou une image, le fournisseur l’exécute à la demande et gère serveurs et passage à l’échelle. On paie à l’exécution.</a:t>
            </a:r>
            <a:endParaRPr lang="en-US" sz="1300" dirty="0"/>
          </a:p>
        </p:txBody>
      </p:sp>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3 · LE CALCUL</a:t>
            </a:r>
            <a:endParaRPr lang="en-US" sz="1200" dirty="0"/>
          </a:p>
        </p:txBody>
      </p:sp>
      <p:sp>
        <p:nvSpPr>
          <p:cNvPr id="3" name="Text 1"/>
          <p:cNvSpPr>
            <a:spLocks noGrp="1"/>
          </p:cNvSpPr>
          <p:nvPr>
            <p:ph type="title"/>
          </p:nvPr>
        </p:nvSpPr>
        <p:spPr>
          <a:xfrm>
            <a:off x="812800" y="1076958"/>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Où faire tourner ses conteneurs : du contrôle à la délégation</a:t>
            </a:r>
            <a:endParaRPr lang="en-US" sz="3200" dirty="0"/>
          </a:p>
        </p:txBody>
      </p:sp>
      <p:sp>
        <p:nvSpPr>
          <p:cNvPr id="4" name="Text 2"/>
          <p:cNvSpPr/>
          <p:nvPr/>
        </p:nvSpPr>
        <p:spPr>
          <a:xfrm>
            <a:off x="812800" y="2174242"/>
            <a:ext cx="2972181"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5B2E9E"/>
                </a:solidFill>
                <a:latin typeface="IBM Plex Sans" pitchFamily="34" charset="0"/>
                <a:ea typeface="IBM Plex Sans" pitchFamily="34" charset="-122"/>
                <a:cs typeface="IBM Plex Sans" pitchFamily="34" charset="-120"/>
              </a:rPr>
              <a:t>Plus de contrôle, plus de gestion</a:t>
            </a:r>
            <a:endParaRPr lang="en-US" sz="1300" dirty="0"/>
          </a:p>
        </p:txBody>
      </p:sp>
      <p:sp>
        <p:nvSpPr>
          <p:cNvPr id="5" name="Text 3"/>
          <p:cNvSpPr/>
          <p:nvPr/>
        </p:nvSpPr>
        <p:spPr>
          <a:xfrm>
            <a:off x="8096504" y="2174242"/>
            <a:ext cx="3282696" cy="248285"/>
          </a:xfrm>
          <a:prstGeom prst="rect">
            <a:avLst/>
          </a:prstGeom>
          <a:noFill/>
          <a:ln/>
        </p:spPr>
        <p:txBody>
          <a:bodyPr wrap="square" lIns="0" tIns="0" rIns="0" bIns="0" rtlCol="0" anchor="t">
            <a:normAutofit/>
          </a:bodyPr>
          <a:lstStyle/>
          <a:p>
            <a:pPr marL="0" indent="0" algn="r">
              <a:lnSpc>
                <a:spcPts val="1755"/>
              </a:lnSpc>
              <a:buNone/>
            </a:pPr>
            <a:r>
              <a:rPr lang="en-US" sz="1300" b="1" dirty="0">
                <a:solidFill>
                  <a:srgbClr val="137485"/>
                </a:solidFill>
                <a:latin typeface="IBM Plex Sans" pitchFamily="34" charset="0"/>
                <a:ea typeface="IBM Plex Sans" pitchFamily="34" charset="-122"/>
                <a:cs typeface="IBM Plex Sans" pitchFamily="34" charset="-120"/>
              </a:rPr>
              <a:t>Moins de gestion, moins de contrôle</a:t>
            </a:r>
            <a:endParaRPr lang="en-US" sz="1300" dirty="0"/>
          </a:p>
        </p:txBody>
      </p:sp>
      <p:pic>
        <p:nvPicPr>
          <p:cNvPr id="6" name="Image 0" descr="connector"/>
          <p:cNvPicPr>
            <a:picLocks noChangeAspect="1"/>
          </p:cNvPicPr>
          <p:nvPr/>
        </p:nvPicPr>
        <p:blipFill>
          <a:blip r:embed="rId3"/>
          <a:srcRect/>
          <a:stretch/>
        </p:blipFill>
        <p:spPr>
          <a:xfrm>
            <a:off x="812800" y="2473325"/>
            <a:ext cx="10566400" cy="127000"/>
          </a:xfrm>
          <a:prstGeom prst="rect">
            <a:avLst/>
          </a:prstGeom>
        </p:spPr>
      </p:pic>
      <p:sp>
        <p:nvSpPr>
          <p:cNvPr id="7" name="Shape 4"/>
          <p:cNvSpPr/>
          <p:nvPr/>
        </p:nvSpPr>
        <p:spPr>
          <a:xfrm>
            <a:off x="812800" y="2803525"/>
            <a:ext cx="2527300" cy="2047240"/>
          </a:xfrm>
          <a:prstGeom prst="roundRect">
            <a:avLst>
              <a:gd name="adj" fmla="val 4963"/>
            </a:avLst>
          </a:prstGeom>
          <a:solidFill>
            <a:srgbClr val="ECE7F6"/>
          </a:solidFill>
          <a:ln/>
        </p:spPr>
        <p:txBody>
          <a:bodyPr/>
          <a:lstStyle/>
          <a:p>
            <a:endParaRPr lang="fr-FR"/>
          </a:p>
        </p:txBody>
      </p:sp>
      <p:sp>
        <p:nvSpPr>
          <p:cNvPr id="8" name="Text 5"/>
          <p:cNvSpPr/>
          <p:nvPr/>
        </p:nvSpPr>
        <p:spPr>
          <a:xfrm>
            <a:off x="990600" y="2981325"/>
            <a:ext cx="2236851" cy="231140"/>
          </a:xfrm>
          <a:prstGeom prst="rect">
            <a:avLst/>
          </a:prstGeom>
          <a:noFill/>
          <a:ln/>
        </p:spPr>
        <p:txBody>
          <a:bodyPr wrap="square" lIns="0" tIns="0" rIns="0" bIns="0" rtlCol="0" anchor="t">
            <a:normAutofit/>
          </a:bodyPr>
          <a:lstStyle/>
          <a:p>
            <a:pPr marL="0" indent="0" algn="l">
              <a:lnSpc>
                <a:spcPts val="1620"/>
              </a:lnSpc>
              <a:buNone/>
            </a:pPr>
            <a:r>
              <a:rPr lang="en-US" sz="1200" b="1" kern="0" spc="50" dirty="0">
                <a:solidFill>
                  <a:srgbClr val="137485"/>
                </a:solidFill>
                <a:latin typeface="IBM Plex Sans" pitchFamily="34" charset="0"/>
                <a:ea typeface="IBM Plex Sans" pitchFamily="34" charset="-122"/>
                <a:cs typeface="IBM Plex Sans" pitchFamily="34" charset="-120"/>
              </a:rPr>
              <a:t>IAAS</a:t>
            </a:r>
            <a:endParaRPr lang="en-US" sz="1200" dirty="0"/>
          </a:p>
        </p:txBody>
      </p:sp>
      <p:sp>
        <p:nvSpPr>
          <p:cNvPr id="9" name="Text 6"/>
          <p:cNvSpPr/>
          <p:nvPr/>
        </p:nvSpPr>
        <p:spPr>
          <a:xfrm>
            <a:off x="990600" y="326326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VM + Docker</a:t>
            </a:r>
            <a:endParaRPr lang="en-US" sz="1500" dirty="0"/>
          </a:p>
        </p:txBody>
      </p:sp>
      <p:sp>
        <p:nvSpPr>
          <p:cNvPr id="10" name="Text 7"/>
          <p:cNvSpPr/>
          <p:nvPr/>
        </p:nvSpPr>
        <p:spPr>
          <a:xfrm>
            <a:off x="990600" y="3568067"/>
            <a:ext cx="223685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Vous gérez l’OS, Docker, les mises à jour et le passage à l’échelle.</a:t>
            </a:r>
            <a:endParaRPr lang="en-US" sz="1200" dirty="0"/>
          </a:p>
        </p:txBody>
      </p:sp>
      <p:sp>
        <p:nvSpPr>
          <p:cNvPr id="11" name="Text 8"/>
          <p:cNvSpPr/>
          <p:nvPr/>
        </p:nvSpPr>
        <p:spPr>
          <a:xfrm>
            <a:off x="990600" y="4261483"/>
            <a:ext cx="223685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EC2, Compute Engine</a:t>
            </a:r>
            <a:endParaRPr lang="en-US" sz="1200" dirty="0"/>
          </a:p>
        </p:txBody>
      </p:sp>
      <p:sp>
        <p:nvSpPr>
          <p:cNvPr id="12" name="Shape 9"/>
          <p:cNvSpPr/>
          <p:nvPr/>
        </p:nvSpPr>
        <p:spPr>
          <a:xfrm>
            <a:off x="3492500" y="2803525"/>
            <a:ext cx="2527300" cy="2047240"/>
          </a:xfrm>
          <a:prstGeom prst="roundRect">
            <a:avLst>
              <a:gd name="adj" fmla="val 4963"/>
            </a:avLst>
          </a:prstGeom>
          <a:solidFill>
            <a:srgbClr val="ECE7F6"/>
          </a:solidFill>
          <a:ln/>
        </p:spPr>
        <p:txBody>
          <a:bodyPr/>
          <a:lstStyle/>
          <a:p>
            <a:endParaRPr lang="fr-FR"/>
          </a:p>
        </p:txBody>
      </p:sp>
      <p:sp>
        <p:nvSpPr>
          <p:cNvPr id="13" name="Text 10"/>
          <p:cNvSpPr/>
          <p:nvPr/>
        </p:nvSpPr>
        <p:spPr>
          <a:xfrm>
            <a:off x="3670300" y="2981325"/>
            <a:ext cx="2236851" cy="231140"/>
          </a:xfrm>
          <a:prstGeom prst="rect">
            <a:avLst/>
          </a:prstGeom>
          <a:noFill/>
          <a:ln/>
        </p:spPr>
        <p:txBody>
          <a:bodyPr wrap="square" lIns="0" tIns="0" rIns="0" bIns="0" rtlCol="0" anchor="t">
            <a:normAutofit/>
          </a:bodyPr>
          <a:lstStyle/>
          <a:p>
            <a:pPr marL="0" indent="0" algn="l">
              <a:lnSpc>
                <a:spcPts val="1620"/>
              </a:lnSpc>
              <a:buNone/>
            </a:pPr>
            <a:r>
              <a:rPr lang="en-US" sz="1200" b="1" kern="0" spc="50" dirty="0">
                <a:solidFill>
                  <a:srgbClr val="137485"/>
                </a:solidFill>
                <a:latin typeface="IBM Plex Sans" pitchFamily="34" charset="0"/>
                <a:ea typeface="IBM Plex Sans" pitchFamily="34" charset="-122"/>
                <a:cs typeface="IBM Plex Sans" pitchFamily="34" charset="-120"/>
              </a:rPr>
              <a:t>CAAS / PAAS</a:t>
            </a:r>
            <a:endParaRPr lang="en-US" sz="1200" dirty="0"/>
          </a:p>
        </p:txBody>
      </p:sp>
      <p:sp>
        <p:nvSpPr>
          <p:cNvPr id="14" name="Text 11"/>
          <p:cNvSpPr/>
          <p:nvPr/>
        </p:nvSpPr>
        <p:spPr>
          <a:xfrm>
            <a:off x="3670300" y="326326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Kubernetes managé</a:t>
            </a:r>
            <a:endParaRPr lang="en-US" sz="1500" dirty="0"/>
          </a:p>
        </p:txBody>
      </p:sp>
      <p:sp>
        <p:nvSpPr>
          <p:cNvPr id="15" name="Text 12"/>
          <p:cNvSpPr/>
          <p:nvPr/>
        </p:nvSpPr>
        <p:spPr>
          <a:xfrm>
            <a:off x="3670300" y="3568067"/>
            <a:ext cx="2236851"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Le fournisseur gère le control plane ; vous gérez Deployments, Services et souvent les nœuds.</a:t>
            </a:r>
            <a:endParaRPr lang="en-US" sz="1200" dirty="0"/>
          </a:p>
        </p:txBody>
      </p:sp>
      <p:sp>
        <p:nvSpPr>
          <p:cNvPr id="16" name="Text 13"/>
          <p:cNvSpPr/>
          <p:nvPr/>
        </p:nvSpPr>
        <p:spPr>
          <a:xfrm>
            <a:off x="3670300" y="4467225"/>
            <a:ext cx="223685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EKS, AKS, GKE</a:t>
            </a:r>
            <a:endParaRPr lang="en-US" sz="1200" dirty="0"/>
          </a:p>
        </p:txBody>
      </p:sp>
      <p:sp>
        <p:nvSpPr>
          <p:cNvPr id="17" name="Shape 14"/>
          <p:cNvSpPr/>
          <p:nvPr/>
        </p:nvSpPr>
        <p:spPr>
          <a:xfrm>
            <a:off x="6172200" y="2803525"/>
            <a:ext cx="2527300" cy="2047240"/>
          </a:xfrm>
          <a:prstGeom prst="roundRect">
            <a:avLst>
              <a:gd name="adj" fmla="val 4963"/>
            </a:avLst>
          </a:prstGeom>
          <a:solidFill>
            <a:srgbClr val="D3EDF1"/>
          </a:solidFill>
          <a:ln/>
        </p:spPr>
        <p:txBody>
          <a:bodyPr/>
          <a:lstStyle/>
          <a:p>
            <a:endParaRPr lang="fr-FR"/>
          </a:p>
        </p:txBody>
      </p:sp>
      <p:sp>
        <p:nvSpPr>
          <p:cNvPr id="18" name="Text 15"/>
          <p:cNvSpPr/>
          <p:nvPr/>
        </p:nvSpPr>
        <p:spPr>
          <a:xfrm>
            <a:off x="6350000" y="2981325"/>
            <a:ext cx="2236851" cy="231140"/>
          </a:xfrm>
          <a:prstGeom prst="rect">
            <a:avLst/>
          </a:prstGeom>
          <a:noFill/>
          <a:ln/>
        </p:spPr>
        <p:txBody>
          <a:bodyPr wrap="square" lIns="0" tIns="0" rIns="0" bIns="0" rtlCol="0" anchor="t">
            <a:normAutofit/>
          </a:bodyPr>
          <a:lstStyle/>
          <a:p>
            <a:pPr marL="0" indent="0" algn="l">
              <a:lnSpc>
                <a:spcPts val="1620"/>
              </a:lnSpc>
              <a:buNone/>
            </a:pPr>
            <a:r>
              <a:rPr lang="en-US" sz="1200" b="1" kern="0" spc="50" dirty="0">
                <a:solidFill>
                  <a:srgbClr val="137485"/>
                </a:solidFill>
                <a:latin typeface="IBM Plex Sans" pitchFamily="34" charset="0"/>
                <a:ea typeface="IBM Plex Sans" pitchFamily="34" charset="-122"/>
                <a:cs typeface="IBM Plex Sans" pitchFamily="34" charset="-120"/>
              </a:rPr>
              <a:t>SERVERLESS</a:t>
            </a:r>
            <a:endParaRPr lang="en-US" sz="1200" dirty="0"/>
          </a:p>
        </p:txBody>
      </p:sp>
      <p:sp>
        <p:nvSpPr>
          <p:cNvPr id="19" name="Text 16"/>
          <p:cNvSpPr/>
          <p:nvPr/>
        </p:nvSpPr>
        <p:spPr>
          <a:xfrm>
            <a:off x="6350000" y="326326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Conteneurs serverless</a:t>
            </a:r>
            <a:endParaRPr lang="en-US" sz="1500" dirty="0"/>
          </a:p>
        </p:txBody>
      </p:sp>
      <p:sp>
        <p:nvSpPr>
          <p:cNvPr id="20" name="Text 17"/>
          <p:cNvSpPr/>
          <p:nvPr/>
        </p:nvSpPr>
        <p:spPr>
          <a:xfrm>
            <a:off x="6350000" y="3568067"/>
            <a:ext cx="223685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Vous fournissez une image, le fournisseur gère tout, y compris le scaling.</a:t>
            </a:r>
            <a:endParaRPr lang="en-US" sz="1200" dirty="0"/>
          </a:p>
        </p:txBody>
      </p:sp>
      <p:sp>
        <p:nvSpPr>
          <p:cNvPr id="21" name="Text 18"/>
          <p:cNvSpPr/>
          <p:nvPr/>
        </p:nvSpPr>
        <p:spPr>
          <a:xfrm>
            <a:off x="6350000" y="4261483"/>
            <a:ext cx="2236851"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Cloud Run, Container Apps, Fargate</a:t>
            </a:r>
            <a:endParaRPr lang="en-US" sz="1200" dirty="0"/>
          </a:p>
        </p:txBody>
      </p:sp>
      <p:sp>
        <p:nvSpPr>
          <p:cNvPr id="22" name="Shape 19"/>
          <p:cNvSpPr/>
          <p:nvPr/>
        </p:nvSpPr>
        <p:spPr>
          <a:xfrm>
            <a:off x="8851900" y="2803525"/>
            <a:ext cx="2527300" cy="2047240"/>
          </a:xfrm>
          <a:prstGeom prst="roundRect">
            <a:avLst>
              <a:gd name="adj" fmla="val 4963"/>
            </a:avLst>
          </a:prstGeom>
          <a:solidFill>
            <a:srgbClr val="D3EDF1"/>
          </a:solidFill>
          <a:ln/>
        </p:spPr>
        <p:txBody>
          <a:bodyPr/>
          <a:lstStyle/>
          <a:p>
            <a:endParaRPr lang="fr-FR"/>
          </a:p>
        </p:txBody>
      </p:sp>
      <p:sp>
        <p:nvSpPr>
          <p:cNvPr id="23" name="Text 20"/>
          <p:cNvSpPr/>
          <p:nvPr/>
        </p:nvSpPr>
        <p:spPr>
          <a:xfrm>
            <a:off x="9029700" y="2981325"/>
            <a:ext cx="2236851" cy="231140"/>
          </a:xfrm>
          <a:prstGeom prst="rect">
            <a:avLst/>
          </a:prstGeom>
          <a:noFill/>
          <a:ln/>
        </p:spPr>
        <p:txBody>
          <a:bodyPr wrap="square" lIns="0" tIns="0" rIns="0" bIns="0" rtlCol="0" anchor="t">
            <a:normAutofit/>
          </a:bodyPr>
          <a:lstStyle/>
          <a:p>
            <a:pPr marL="0" indent="0" algn="l">
              <a:lnSpc>
                <a:spcPts val="1620"/>
              </a:lnSpc>
              <a:buNone/>
            </a:pPr>
            <a:r>
              <a:rPr lang="en-US" sz="1200" b="1" kern="0" spc="50" dirty="0">
                <a:solidFill>
                  <a:srgbClr val="137485"/>
                </a:solidFill>
                <a:latin typeface="IBM Plex Sans" pitchFamily="34" charset="0"/>
                <a:ea typeface="IBM Plex Sans" pitchFamily="34" charset="-122"/>
                <a:cs typeface="IBM Plex Sans" pitchFamily="34" charset="-120"/>
              </a:rPr>
              <a:t>SERVERLESS</a:t>
            </a:r>
            <a:endParaRPr lang="en-US" sz="1200" dirty="0"/>
          </a:p>
        </p:txBody>
      </p:sp>
      <p:sp>
        <p:nvSpPr>
          <p:cNvPr id="24" name="Text 21"/>
          <p:cNvSpPr/>
          <p:nvPr/>
        </p:nvSpPr>
        <p:spPr>
          <a:xfrm>
            <a:off x="9029700" y="326326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Fonctions serverless</a:t>
            </a:r>
            <a:endParaRPr lang="en-US" sz="1500" dirty="0"/>
          </a:p>
        </p:txBody>
      </p:sp>
      <p:sp>
        <p:nvSpPr>
          <p:cNvPr id="25" name="Text 22"/>
          <p:cNvSpPr/>
          <p:nvPr/>
        </p:nvSpPr>
        <p:spPr>
          <a:xfrm>
            <a:off x="9029700" y="3568067"/>
            <a:ext cx="223685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Vous fournissez une fonction ; exécution à la demande, facturée à l’appel.</a:t>
            </a:r>
            <a:endParaRPr lang="en-US" sz="1200" dirty="0"/>
          </a:p>
        </p:txBody>
      </p:sp>
      <p:sp>
        <p:nvSpPr>
          <p:cNvPr id="26" name="Text 23"/>
          <p:cNvSpPr/>
          <p:nvPr/>
        </p:nvSpPr>
        <p:spPr>
          <a:xfrm>
            <a:off x="9029700" y="4261483"/>
            <a:ext cx="223685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Lambda, Azure Functions</a:t>
            </a:r>
            <a:endParaRPr lang="en-US" sz="1200" dirty="0"/>
          </a:p>
        </p:txBody>
      </p:sp>
      <p:sp>
        <p:nvSpPr>
          <p:cNvPr id="27" name="Text 24"/>
          <p:cNvSpPr/>
          <p:nvPr/>
        </p:nvSpPr>
        <p:spPr>
          <a:xfrm>
            <a:off x="812800" y="5053967"/>
            <a:ext cx="10883392"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31B3A"/>
                </a:solidFill>
                <a:latin typeface="IBM Plex Sans" pitchFamily="34" charset="0"/>
                <a:ea typeface="IBM Plex Sans" pitchFamily="34" charset="-122"/>
                <a:cs typeface="IBM Plex Sans" pitchFamily="34" charset="-120"/>
              </a:rPr>
              <a:t>Dans un projet d’IA, ces options coexistent souvent : une VM GPU pour l’entraînement, Kubernetes ou Cloud Run pour servir le modèle, une fonction pour un traitement ponctuel.</a:t>
            </a:r>
            <a:endParaRPr lang="en-US" sz="1300" dirty="0"/>
          </a:p>
        </p:txBody>
      </p:sp>
      <p:sp>
        <p:nvSpPr>
          <p:cNvPr id="28" name="Text 2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3 · LE CALCUL</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Le calcul spécialisé pour l’IA : les familles GPU</a:t>
            </a:r>
            <a:endParaRPr lang="en-US" sz="3200" dirty="0"/>
          </a:p>
        </p:txBody>
      </p:sp>
      <p:sp>
        <p:nvSpPr>
          <p:cNvPr id="4" name="Shape 2"/>
          <p:cNvSpPr/>
          <p:nvPr/>
        </p:nvSpPr>
        <p:spPr>
          <a:xfrm>
            <a:off x="11376025" y="1727200"/>
            <a:ext cx="0" cy="1905000"/>
          </a:xfrm>
          <a:prstGeom prst="line">
            <a:avLst/>
          </a:prstGeom>
          <a:noFill/>
          <a:ln w="6350">
            <a:solidFill>
              <a:srgbClr val="E4E2EA"/>
            </a:solidFill>
            <a:prstDash val="solid"/>
          </a:ln>
        </p:spPr>
        <p:txBody>
          <a:bodyPr/>
          <a:lstStyle/>
          <a:p>
            <a:endParaRPr lang="fr-FR"/>
          </a:p>
        </p:txBody>
      </p:sp>
      <p:sp>
        <p:nvSpPr>
          <p:cNvPr id="5" name="Shape 3"/>
          <p:cNvSpPr/>
          <p:nvPr/>
        </p:nvSpPr>
        <p:spPr>
          <a:xfrm>
            <a:off x="812800" y="3629025"/>
            <a:ext cx="10566400" cy="0"/>
          </a:xfrm>
          <a:prstGeom prst="line">
            <a:avLst/>
          </a:prstGeom>
          <a:noFill/>
          <a:ln w="6350">
            <a:solidFill>
              <a:srgbClr val="E4E2EA"/>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51160" cy="1889760"/>
        </p:xfrm>
        <a:graphic>
          <a:graphicData uri="http://schemas.openxmlformats.org/drawingml/2006/table">
            <a:tbl>
              <a:tblPr/>
              <a:tblGrid>
                <a:gridCol w="2321255">
                  <a:extLst>
                    <a:ext uri="{9D8B030D-6E8A-4147-A177-3AD203B41FA5}">
                      <a16:colId xmlns:a16="http://schemas.microsoft.com/office/drawing/2014/main" val="20000"/>
                    </a:ext>
                  </a:extLst>
                </a:gridCol>
                <a:gridCol w="2743302">
                  <a:extLst>
                    <a:ext uri="{9D8B030D-6E8A-4147-A177-3AD203B41FA5}">
                      <a16:colId xmlns:a16="http://schemas.microsoft.com/office/drawing/2014/main" val="20001"/>
                    </a:ext>
                  </a:extLst>
                </a:gridCol>
                <a:gridCol w="2743302">
                  <a:extLst>
                    <a:ext uri="{9D8B030D-6E8A-4147-A177-3AD203B41FA5}">
                      <a16:colId xmlns:a16="http://schemas.microsoft.com/office/drawing/2014/main" val="20002"/>
                    </a:ext>
                  </a:extLst>
                </a:gridCol>
                <a:gridCol w="2743302">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Usage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AWS</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Azure</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Google Cloud</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Entraînement lourd</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Famille P (P5 : H100, H200 ; P6 : Blackwell)</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Série ND (H100, H200, GB200)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Séries A3 (H100, H200) et A4 (B200)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Inférence, usage courant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Famille G (L4, L40S)</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Série NC</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Séries G2 (L4) et A2 (A100)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Puce IA maison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Trainium (entraînement), Inferentia (inférence)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Maia, surtout pour un usage interne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TPU (Tensor Processing Unit)</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3"/>
                  </a:ext>
                </a:extLst>
              </a:tr>
            </a:tbl>
          </a:graphicData>
        </a:graphic>
      </p:graphicFrame>
      <p:sp>
        <p:nvSpPr>
          <p:cNvPr id="7" name="Shape 4"/>
          <p:cNvSpPr/>
          <p:nvPr/>
        </p:nvSpPr>
        <p:spPr>
          <a:xfrm>
            <a:off x="812800" y="3835400"/>
            <a:ext cx="5181600" cy="1262380"/>
          </a:xfrm>
          <a:prstGeom prst="roundRect">
            <a:avLst>
              <a:gd name="adj" fmla="val 8048"/>
            </a:avLst>
          </a:prstGeom>
          <a:solidFill>
            <a:srgbClr val="FBE5CF"/>
          </a:solidFill>
          <a:ln/>
        </p:spPr>
        <p:txBody>
          <a:bodyPr/>
          <a:lstStyle/>
          <a:p>
            <a:endParaRPr lang="fr-FR"/>
          </a:p>
        </p:txBody>
      </p:sp>
      <p:sp>
        <p:nvSpPr>
          <p:cNvPr id="8" name="Text 5"/>
          <p:cNvSpPr/>
          <p:nvPr/>
        </p:nvSpPr>
        <p:spPr>
          <a:xfrm>
            <a:off x="990600" y="4013200"/>
            <a:ext cx="49707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65400"/>
                </a:solidFill>
                <a:latin typeface="IBM Plex Sans" pitchFamily="34" charset="0"/>
                <a:ea typeface="IBM Plex Sans" pitchFamily="34" charset="-122"/>
                <a:cs typeface="IBM Plex Sans" pitchFamily="34" charset="-120"/>
              </a:rPr>
              <a:t>Les ressources les plus chères</a:t>
            </a:r>
            <a:endParaRPr lang="en-US" sz="1400" dirty="0"/>
          </a:p>
        </p:txBody>
      </p:sp>
      <p:sp>
        <p:nvSpPr>
          <p:cNvPr id="9" name="Text 6"/>
          <p:cNvSpPr/>
          <p:nvPr/>
        </p:nvSpPr>
        <p:spPr>
          <a:xfrm>
            <a:off x="990600" y="4302758"/>
            <a:ext cx="497078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 GPU se loue quelques dollars de l’heure, mais une instance d’entraînement en embarque souvent 8 : estimez le prix de l’instance, pas du GPU.</a:t>
            </a:r>
            <a:endParaRPr lang="en-US" sz="1200" dirty="0"/>
          </a:p>
        </p:txBody>
      </p:sp>
      <p:sp>
        <p:nvSpPr>
          <p:cNvPr id="10" name="Shape 7"/>
          <p:cNvSpPr/>
          <p:nvPr/>
        </p:nvSpPr>
        <p:spPr>
          <a:xfrm>
            <a:off x="6197600" y="3835400"/>
            <a:ext cx="5181600" cy="1262380"/>
          </a:xfrm>
          <a:prstGeom prst="roundRect">
            <a:avLst>
              <a:gd name="adj" fmla="val 8048"/>
            </a:avLst>
          </a:prstGeom>
          <a:solidFill>
            <a:srgbClr val="D3EDF1"/>
          </a:solidFill>
          <a:ln/>
        </p:spPr>
        <p:txBody>
          <a:bodyPr/>
          <a:lstStyle/>
          <a:p>
            <a:endParaRPr lang="fr-FR"/>
          </a:p>
        </p:txBody>
      </p:sp>
      <p:sp>
        <p:nvSpPr>
          <p:cNvPr id="11" name="Text 8"/>
          <p:cNvSpPr/>
          <p:nvPr/>
        </p:nvSpPr>
        <p:spPr>
          <a:xfrm>
            <a:off x="6375400" y="4013200"/>
            <a:ext cx="49707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Des puces conçues pour l’IA</a:t>
            </a:r>
            <a:endParaRPr lang="en-US" sz="1400" dirty="0"/>
          </a:p>
        </p:txBody>
      </p:sp>
      <p:sp>
        <p:nvSpPr>
          <p:cNvPr id="12" name="Text 9"/>
          <p:cNvSpPr/>
          <p:nvPr/>
        </p:nvSpPr>
        <p:spPr>
          <a:xfrm>
            <a:off x="6375400" y="4302758"/>
            <a:ext cx="49707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AWS et Google proposent leurs propres puces, souvent moins chères pour certains usages, mais qui demandent d’adapter son code.</a:t>
            </a:r>
            <a:endParaRPr lang="en-US" sz="1200" dirty="0"/>
          </a:p>
        </p:txBody>
      </p:sp>
      <p:sp>
        <p:nvSpPr>
          <p:cNvPr id="13" name="Text 10"/>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Le VPC : votre réseau privé dans le cloud</a:t>
            </a:r>
            <a:endParaRPr lang="en-US" sz="3200" dirty="0"/>
          </a:p>
        </p:txBody>
      </p:sp>
      <p:sp>
        <p:nvSpPr>
          <p:cNvPr id="3" name="Text 1"/>
          <p:cNvSpPr/>
          <p:nvPr/>
        </p:nvSpPr>
        <p:spPr>
          <a:xfrm>
            <a:off x="2727325" y="1724025"/>
            <a:ext cx="8642350" cy="3854450"/>
          </a:xfrm>
          <a:prstGeom prst="roundRect">
            <a:avLst>
              <a:gd name="adj" fmla="val 2389"/>
            </a:avLst>
          </a:prstGeom>
          <a:solidFill>
            <a:srgbClr val="F1EEF7"/>
          </a:solidFill>
          <a:ln w="19050">
            <a:solidFill>
              <a:srgbClr val="5B2E9E"/>
            </a:solidFill>
            <a:prstDash val="dash"/>
          </a:ln>
        </p:spPr>
        <p:txBody>
          <a:bodyPr wrap="square" lIns="80347" tIns="29547" rIns="0" bIns="29547" rtlCol="0" anchor="t">
            <a:normAutofit/>
          </a:bodyPr>
          <a:lstStyle/>
          <a:p>
            <a:pPr marL="0" indent="0" algn="l">
              <a:lnSpc>
                <a:spcPts val="1680"/>
              </a:lnSpc>
              <a:buNone/>
            </a:pPr>
            <a:r>
              <a:rPr lang="en-US" sz="1200" b="1" dirty="0">
                <a:solidFill>
                  <a:srgbClr val="5B2E9E"/>
                </a:solidFill>
                <a:latin typeface="IBM Plex Sans" pitchFamily="34" charset="0"/>
                <a:ea typeface="IBM Plex Sans" pitchFamily="34" charset="-122"/>
                <a:cs typeface="IBM Plex Sans" pitchFamily="34" charset="-120"/>
              </a:rPr>
              <a:t>VPC · 10.0.0.0/16 (plage d’adresses privées)</a:t>
            </a:r>
            <a:endParaRPr lang="en-US" sz="1200" dirty="0"/>
          </a:p>
        </p:txBody>
      </p:sp>
      <p:sp>
        <p:nvSpPr>
          <p:cNvPr id="4" name="Text 2"/>
          <p:cNvSpPr/>
          <p:nvPr/>
        </p:nvSpPr>
        <p:spPr>
          <a:xfrm>
            <a:off x="2914650" y="2038350"/>
            <a:ext cx="3860800" cy="3416300"/>
          </a:xfrm>
          <a:prstGeom prst="roundRect">
            <a:avLst>
              <a:gd name="adj" fmla="val 2045"/>
            </a:avLst>
          </a:prstGeom>
          <a:solidFill>
            <a:srgbClr val="FDFCFE"/>
          </a:solidFill>
          <a:ln w="12700">
            <a:solidFill>
              <a:srgbClr val="137485"/>
            </a:solidFill>
            <a:prstDash val="solid"/>
          </a:ln>
        </p:spPr>
        <p:txBody>
          <a:bodyPr wrap="square" lIns="84952" tIns="34152" rIns="0" bIns="34152" rtlCol="0" anchor="t">
            <a:normAutofit/>
          </a:bodyPr>
          <a:lstStyle/>
          <a:p>
            <a:pPr marL="0" indent="0" algn="l">
              <a:lnSpc>
                <a:spcPts val="1680"/>
              </a:lnSpc>
              <a:buNone/>
            </a:pPr>
            <a:r>
              <a:rPr lang="en-US" sz="1200" b="1" dirty="0">
                <a:solidFill>
                  <a:srgbClr val="137485"/>
                </a:solidFill>
                <a:latin typeface="IBM Plex Sans" pitchFamily="34" charset="0"/>
                <a:ea typeface="IBM Plex Sans" pitchFamily="34" charset="-122"/>
                <a:cs typeface="IBM Plex Sans" pitchFamily="34" charset="-120"/>
              </a:rPr>
              <a:t>Zone de disponibilité A</a:t>
            </a:r>
            <a:endParaRPr lang="en-US" sz="1200" dirty="0"/>
          </a:p>
        </p:txBody>
      </p:sp>
      <p:sp>
        <p:nvSpPr>
          <p:cNvPr id="5" name="Text 3"/>
          <p:cNvSpPr/>
          <p:nvPr/>
        </p:nvSpPr>
        <p:spPr>
          <a:xfrm>
            <a:off x="7296150" y="2038350"/>
            <a:ext cx="3860800" cy="3416300"/>
          </a:xfrm>
          <a:prstGeom prst="roundRect">
            <a:avLst>
              <a:gd name="adj" fmla="val 2045"/>
            </a:avLst>
          </a:prstGeom>
          <a:solidFill>
            <a:srgbClr val="FDFCFE"/>
          </a:solidFill>
          <a:ln w="12700">
            <a:solidFill>
              <a:srgbClr val="137485"/>
            </a:solidFill>
            <a:prstDash val="solid"/>
          </a:ln>
        </p:spPr>
        <p:txBody>
          <a:bodyPr wrap="square" lIns="84951" tIns="34152" rIns="0" bIns="34152" rtlCol="0" anchor="t">
            <a:normAutofit/>
          </a:bodyPr>
          <a:lstStyle/>
          <a:p>
            <a:pPr marL="0" indent="0" algn="l">
              <a:lnSpc>
                <a:spcPts val="1680"/>
              </a:lnSpc>
              <a:buNone/>
            </a:pPr>
            <a:r>
              <a:rPr lang="en-US" sz="1200" b="1" dirty="0">
                <a:solidFill>
                  <a:srgbClr val="137485"/>
                </a:solidFill>
                <a:latin typeface="IBM Plex Sans" pitchFamily="34" charset="0"/>
                <a:ea typeface="IBM Plex Sans" pitchFamily="34" charset="-122"/>
                <a:cs typeface="IBM Plex Sans" pitchFamily="34" charset="-120"/>
              </a:rPr>
              <a:t>Zone de disponibilité B</a:t>
            </a:r>
            <a:endParaRPr lang="en-US" sz="1200" dirty="0"/>
          </a:p>
        </p:txBody>
      </p:sp>
      <p:sp>
        <p:nvSpPr>
          <p:cNvPr id="6" name="Text 4"/>
          <p:cNvSpPr/>
          <p:nvPr/>
        </p:nvSpPr>
        <p:spPr>
          <a:xfrm>
            <a:off x="3035300" y="2349500"/>
            <a:ext cx="3619500" cy="1206500"/>
          </a:xfrm>
          <a:prstGeom prst="roundRect">
            <a:avLst>
              <a:gd name="adj" fmla="val 5263"/>
            </a:avLst>
          </a:prstGeom>
          <a:solidFill>
            <a:srgbClr val="FBE5CF"/>
          </a:solidFill>
          <a:ln/>
        </p:spPr>
        <p:txBody>
          <a:bodyPr wrap="square" lIns="83001" tIns="32201" rIns="0" bIns="32201" rtlCol="0" anchor="t">
            <a:normAutofit/>
          </a:bodyPr>
          <a:lstStyle/>
          <a:p>
            <a:pPr marL="0" indent="0" algn="l">
              <a:lnSpc>
                <a:spcPts val="1680"/>
              </a:lnSpc>
              <a:buNone/>
            </a:pPr>
            <a:r>
              <a:rPr lang="en-US" sz="1200" b="1" dirty="0">
                <a:solidFill>
                  <a:srgbClr val="A65400"/>
                </a:solidFill>
                <a:latin typeface="IBM Plex Sans" pitchFamily="34" charset="0"/>
                <a:ea typeface="IBM Plex Sans" pitchFamily="34" charset="-122"/>
                <a:cs typeface="IBM Plex Sans" pitchFamily="34" charset="-120"/>
              </a:rPr>
              <a:t>Subnet public · 10.0.1.0/24</a:t>
            </a:r>
            <a:endParaRPr lang="en-US" sz="1200" dirty="0"/>
          </a:p>
        </p:txBody>
      </p:sp>
      <p:sp>
        <p:nvSpPr>
          <p:cNvPr id="7" name="Text 5"/>
          <p:cNvSpPr/>
          <p:nvPr/>
        </p:nvSpPr>
        <p:spPr>
          <a:xfrm>
            <a:off x="7416800" y="2349500"/>
            <a:ext cx="3619500" cy="1206500"/>
          </a:xfrm>
          <a:prstGeom prst="roundRect">
            <a:avLst>
              <a:gd name="adj" fmla="val 5263"/>
            </a:avLst>
          </a:prstGeom>
          <a:solidFill>
            <a:srgbClr val="FBE5CF"/>
          </a:solidFill>
          <a:ln/>
        </p:spPr>
        <p:txBody>
          <a:bodyPr wrap="square" lIns="83001" tIns="32201" rIns="0" bIns="32201" rtlCol="0" anchor="t">
            <a:normAutofit/>
          </a:bodyPr>
          <a:lstStyle/>
          <a:p>
            <a:pPr marL="0" indent="0" algn="l">
              <a:lnSpc>
                <a:spcPts val="1680"/>
              </a:lnSpc>
              <a:buNone/>
            </a:pPr>
            <a:r>
              <a:rPr lang="en-US" sz="1200" b="1" dirty="0">
                <a:solidFill>
                  <a:srgbClr val="A65400"/>
                </a:solidFill>
                <a:latin typeface="IBM Plex Sans" pitchFamily="34" charset="0"/>
                <a:ea typeface="IBM Plex Sans" pitchFamily="34" charset="-122"/>
                <a:cs typeface="IBM Plex Sans" pitchFamily="34" charset="-120"/>
              </a:rPr>
              <a:t>Subnet public · 10.0.2.0/24</a:t>
            </a:r>
            <a:endParaRPr lang="en-US" sz="1200" dirty="0"/>
          </a:p>
        </p:txBody>
      </p:sp>
      <p:sp>
        <p:nvSpPr>
          <p:cNvPr id="8" name="Text 6"/>
          <p:cNvSpPr/>
          <p:nvPr/>
        </p:nvSpPr>
        <p:spPr>
          <a:xfrm>
            <a:off x="3035300" y="3746500"/>
            <a:ext cx="3619500" cy="1587500"/>
          </a:xfrm>
          <a:prstGeom prst="roundRect">
            <a:avLst>
              <a:gd name="adj" fmla="val 4000"/>
            </a:avLst>
          </a:prstGeom>
          <a:solidFill>
            <a:srgbClr val="D3EDF1"/>
          </a:solidFill>
          <a:ln/>
        </p:spPr>
        <p:txBody>
          <a:bodyPr wrap="square" lIns="83001" tIns="32201" rIns="0" bIns="32201" rtlCol="0" anchor="t">
            <a:normAutofit/>
          </a:bodyPr>
          <a:lstStyle/>
          <a:p>
            <a:pPr marL="0" indent="0" algn="l">
              <a:lnSpc>
                <a:spcPts val="1680"/>
              </a:lnSpc>
              <a:buNone/>
            </a:pPr>
            <a:r>
              <a:rPr lang="en-US" sz="1200" b="1" dirty="0">
                <a:solidFill>
                  <a:srgbClr val="137485"/>
                </a:solidFill>
                <a:latin typeface="IBM Plex Sans" pitchFamily="34" charset="0"/>
                <a:ea typeface="IBM Plex Sans" pitchFamily="34" charset="-122"/>
                <a:cs typeface="IBM Plex Sans" pitchFamily="34" charset="-120"/>
              </a:rPr>
              <a:t>Subnet privé · 10.0.3.0/24</a:t>
            </a:r>
            <a:endParaRPr lang="en-US" sz="1200" dirty="0"/>
          </a:p>
        </p:txBody>
      </p:sp>
      <p:sp>
        <p:nvSpPr>
          <p:cNvPr id="9" name="Text 7"/>
          <p:cNvSpPr/>
          <p:nvPr/>
        </p:nvSpPr>
        <p:spPr>
          <a:xfrm>
            <a:off x="7416800" y="3746500"/>
            <a:ext cx="3619500" cy="1587500"/>
          </a:xfrm>
          <a:prstGeom prst="roundRect">
            <a:avLst>
              <a:gd name="adj" fmla="val 4000"/>
            </a:avLst>
          </a:prstGeom>
          <a:solidFill>
            <a:srgbClr val="D3EDF1"/>
          </a:solidFill>
          <a:ln/>
        </p:spPr>
        <p:txBody>
          <a:bodyPr wrap="square" lIns="83001" tIns="32201" rIns="0" bIns="32201" rtlCol="0" anchor="t">
            <a:normAutofit/>
          </a:bodyPr>
          <a:lstStyle/>
          <a:p>
            <a:pPr marL="0" indent="0" algn="l">
              <a:lnSpc>
                <a:spcPts val="1680"/>
              </a:lnSpc>
              <a:buNone/>
            </a:pPr>
            <a:r>
              <a:rPr lang="en-US" sz="1200" b="1" dirty="0">
                <a:solidFill>
                  <a:srgbClr val="137485"/>
                </a:solidFill>
                <a:latin typeface="IBM Plex Sans" pitchFamily="34" charset="0"/>
                <a:ea typeface="IBM Plex Sans" pitchFamily="34" charset="-122"/>
                <a:cs typeface="IBM Plex Sans" pitchFamily="34" charset="-120"/>
              </a:rPr>
              <a:t>Subnet privé · 10.0.4.0/24</a:t>
            </a:r>
            <a:endParaRPr lang="en-US" sz="1200" dirty="0"/>
          </a:p>
        </p:txBody>
      </p:sp>
      <p:sp>
        <p:nvSpPr>
          <p:cNvPr id="10" name="Text 8"/>
          <p:cNvSpPr/>
          <p:nvPr/>
        </p:nvSpPr>
        <p:spPr>
          <a:xfrm>
            <a:off x="819150" y="2736850"/>
            <a:ext cx="1066800" cy="350520"/>
          </a:xfrm>
          <a:custGeom>
            <a:avLst/>
            <a:gdLst/>
            <a:ahLst/>
            <a:cxnLst/>
            <a:rect l="l" t="t" r="r" b="b"/>
            <a:pathLst>
              <a:path w="1066800" h="350520">
                <a:moveTo>
                  <a:pt x="57150" y="0"/>
                </a:moveTo>
                <a:lnTo>
                  <a:pt x="1009650" y="0"/>
                </a:lnTo>
                <a:arcTo wR="57150" hR="57150" stAng="16200000" swAng="5400000"/>
                <a:lnTo>
                  <a:pt x="1066800" y="293370"/>
                </a:lnTo>
                <a:arcTo wR="57150" hR="57150" stAng="0" swAng="5400000"/>
                <a:lnTo>
                  <a:pt x="57150" y="350520"/>
                </a:lnTo>
                <a:arcTo wR="57150" hR="57150" stAng="5400000" swAng="5400000"/>
                <a:lnTo>
                  <a:pt x="0" y="57150"/>
                </a:lnTo>
                <a:arcTo wR="57150" hR="57150" stAng="10800000" swAng="5400000"/>
                <a:close/>
              </a:path>
            </a:pathLst>
          </a:custGeom>
          <a:solidFill>
            <a:srgbClr val="E4E2EA"/>
          </a:solidFill>
          <a:ln w="12700">
            <a:solidFill>
              <a:srgbClr val="6B6585"/>
            </a:solidFill>
            <a:prstDash val="solid"/>
          </a:ln>
        </p:spPr>
        <p:txBody>
          <a:bodyPr wrap="square" lIns="29210" tIns="80010" rIns="29210" bIns="546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Internet</a:t>
            </a:r>
            <a:endParaRPr lang="en-US" sz="1200" dirty="0"/>
          </a:p>
        </p:txBody>
      </p:sp>
      <p:sp>
        <p:nvSpPr>
          <p:cNvPr id="11" name="Text 9"/>
          <p:cNvSpPr/>
          <p:nvPr/>
        </p:nvSpPr>
        <p:spPr>
          <a:xfrm>
            <a:off x="2152650" y="2736850"/>
            <a:ext cx="1130300" cy="495300"/>
          </a:xfrm>
          <a:custGeom>
            <a:avLst/>
            <a:gdLst/>
            <a:ahLst/>
            <a:cxnLst/>
            <a:rect l="l" t="t" r="r" b="b"/>
            <a:pathLst>
              <a:path w="1130300" h="495300">
                <a:moveTo>
                  <a:pt x="57150" y="0"/>
                </a:moveTo>
                <a:lnTo>
                  <a:pt x="1073150" y="0"/>
                </a:lnTo>
                <a:arcTo wR="57150" hR="57150" stAng="16200000" swAng="5400000"/>
                <a:lnTo>
                  <a:pt x="1130300" y="438150"/>
                </a:lnTo>
                <a:arcTo wR="57150" hR="57150" stAng="0" swAng="5400000"/>
                <a:lnTo>
                  <a:pt x="57150" y="495300"/>
                </a:lnTo>
                <a:arcTo wR="57150" hR="57150" stAng="5400000" swAng="5400000"/>
                <a:lnTo>
                  <a:pt x="0" y="57150"/>
                </a:lnTo>
                <a:arcTo wR="57150" hR="57150" stAng="10800000" swAng="5400000"/>
                <a:close/>
              </a:path>
            </a:pathLst>
          </a:custGeom>
          <a:solidFill>
            <a:srgbClr val="ECE7F6"/>
          </a:solidFill>
          <a:ln w="12700">
            <a:solidFill>
              <a:srgbClr val="5B2E9E"/>
            </a:solidFill>
            <a:prstDash val="solid"/>
          </a:ln>
        </p:spPr>
        <p:txBody>
          <a:bodyPr wrap="square" lIns="29210" tIns="80010" rIns="29210" bIns="54610" rtlCol="0" anchor="t">
            <a:normAutofit/>
          </a:bodyPr>
          <a:lstStyle/>
          <a:p>
            <a:pPr marL="0" indent="0" algn="ctr">
              <a:lnSpc>
                <a:spcPts val="1331"/>
              </a:lnSpc>
              <a:buNone/>
            </a:pPr>
            <a:r>
              <a:rPr lang="en-US" sz="1065" b="1" dirty="0">
                <a:solidFill>
                  <a:srgbClr val="231B3A"/>
                </a:solidFill>
                <a:latin typeface="IBM Plex Sans" pitchFamily="34" charset="0"/>
                <a:ea typeface="IBM Plex Sans" pitchFamily="34" charset="-122"/>
                <a:cs typeface="IBM Plex Sans" pitchFamily="34" charset="-120"/>
              </a:rPr>
              <a:t>Internet Gateway</a:t>
            </a:r>
            <a:endParaRPr lang="en-US" sz="1065" dirty="0"/>
          </a:p>
        </p:txBody>
      </p:sp>
      <p:sp>
        <p:nvSpPr>
          <p:cNvPr id="12" name="Text 10"/>
          <p:cNvSpPr/>
          <p:nvPr/>
        </p:nvSpPr>
        <p:spPr>
          <a:xfrm>
            <a:off x="3676650" y="2736850"/>
            <a:ext cx="1765300" cy="350520"/>
          </a:xfrm>
          <a:custGeom>
            <a:avLst/>
            <a:gdLst/>
            <a:ahLst/>
            <a:cxnLst/>
            <a:rect l="l" t="t" r="r" b="b"/>
            <a:pathLst>
              <a:path w="1765300" h="350520">
                <a:moveTo>
                  <a:pt x="57150" y="0"/>
                </a:moveTo>
                <a:lnTo>
                  <a:pt x="1708150" y="0"/>
                </a:lnTo>
                <a:arcTo wR="57150" hR="57150" stAng="16200000" swAng="5400000"/>
                <a:lnTo>
                  <a:pt x="1765300" y="293370"/>
                </a:lnTo>
                <a:arcTo wR="57150" hR="57150" stAng="0" swAng="5400000"/>
                <a:lnTo>
                  <a:pt x="57150" y="350520"/>
                </a:lnTo>
                <a:arcTo wR="57150" hR="57150" stAng="5400000" swAng="5400000"/>
                <a:lnTo>
                  <a:pt x="0" y="57150"/>
                </a:lnTo>
                <a:arcTo wR="57150" hR="57150" stAng="10800000" swAng="5400000"/>
                <a:close/>
              </a:path>
            </a:pathLst>
          </a:custGeom>
          <a:solidFill>
            <a:srgbClr val="FDFCFE"/>
          </a:solidFill>
          <a:ln w="12700">
            <a:solidFill>
              <a:srgbClr val="A65400"/>
            </a:solidFill>
            <a:prstDash val="solid"/>
          </a:ln>
        </p:spPr>
        <p:txBody>
          <a:bodyPr wrap="square" lIns="29210" tIns="80010" rIns="29210" bIns="546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Load balancer</a:t>
            </a:r>
            <a:endParaRPr lang="en-US" sz="1200" dirty="0"/>
          </a:p>
        </p:txBody>
      </p:sp>
      <p:sp>
        <p:nvSpPr>
          <p:cNvPr id="13" name="Text 11"/>
          <p:cNvSpPr/>
          <p:nvPr/>
        </p:nvSpPr>
        <p:spPr>
          <a:xfrm>
            <a:off x="8121650" y="2736850"/>
            <a:ext cx="1765300" cy="350520"/>
          </a:xfrm>
          <a:custGeom>
            <a:avLst/>
            <a:gdLst/>
            <a:ahLst/>
            <a:cxnLst/>
            <a:rect l="l" t="t" r="r" b="b"/>
            <a:pathLst>
              <a:path w="1765300" h="350520">
                <a:moveTo>
                  <a:pt x="57150" y="0"/>
                </a:moveTo>
                <a:lnTo>
                  <a:pt x="1708150" y="0"/>
                </a:lnTo>
                <a:arcTo wR="57150" hR="57150" stAng="16200000" swAng="5400000"/>
                <a:lnTo>
                  <a:pt x="1765300" y="293370"/>
                </a:lnTo>
                <a:arcTo wR="57150" hR="57150" stAng="0" swAng="5400000"/>
                <a:lnTo>
                  <a:pt x="57150" y="350520"/>
                </a:lnTo>
                <a:arcTo wR="57150" hR="57150" stAng="5400000" swAng="5400000"/>
                <a:lnTo>
                  <a:pt x="0" y="57150"/>
                </a:lnTo>
                <a:arcTo wR="57150" hR="57150" stAng="10800000" swAng="5400000"/>
                <a:close/>
              </a:path>
            </a:pathLst>
          </a:custGeom>
          <a:solidFill>
            <a:srgbClr val="FDFCFE"/>
          </a:solidFill>
          <a:ln w="12700">
            <a:solidFill>
              <a:srgbClr val="A65400"/>
            </a:solidFill>
            <a:prstDash val="solid"/>
          </a:ln>
        </p:spPr>
        <p:txBody>
          <a:bodyPr wrap="square" lIns="29210" tIns="80010" rIns="29210" bIns="546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NAT Gateway</a:t>
            </a:r>
            <a:endParaRPr lang="en-US" sz="1200" dirty="0"/>
          </a:p>
        </p:txBody>
      </p:sp>
      <p:sp>
        <p:nvSpPr>
          <p:cNvPr id="14" name="Text 12"/>
          <p:cNvSpPr/>
          <p:nvPr/>
        </p:nvSpPr>
        <p:spPr>
          <a:xfrm>
            <a:off x="3676650" y="4260850"/>
            <a:ext cx="1765300" cy="350520"/>
          </a:xfrm>
          <a:custGeom>
            <a:avLst/>
            <a:gdLst/>
            <a:ahLst/>
            <a:cxnLst/>
            <a:rect l="l" t="t" r="r" b="b"/>
            <a:pathLst>
              <a:path w="1765300" h="350520">
                <a:moveTo>
                  <a:pt x="57150" y="0"/>
                </a:moveTo>
                <a:lnTo>
                  <a:pt x="1708150" y="0"/>
                </a:lnTo>
                <a:arcTo wR="57150" hR="57150" stAng="16200000" swAng="5400000"/>
                <a:lnTo>
                  <a:pt x="1765300" y="293370"/>
                </a:lnTo>
                <a:arcTo wR="57150" hR="57150" stAng="0" swAng="5400000"/>
                <a:lnTo>
                  <a:pt x="57150" y="350520"/>
                </a:lnTo>
                <a:arcTo wR="57150" hR="57150" stAng="5400000" swAng="5400000"/>
                <a:lnTo>
                  <a:pt x="0" y="57150"/>
                </a:lnTo>
                <a:arcTo wR="57150" hR="57150" stAng="10800000" swAng="5400000"/>
                <a:close/>
              </a:path>
            </a:pathLst>
          </a:custGeom>
          <a:solidFill>
            <a:srgbClr val="FDFCFE"/>
          </a:solidFill>
          <a:ln w="12700">
            <a:solidFill>
              <a:srgbClr val="137485"/>
            </a:solidFill>
            <a:prstDash val="solid"/>
          </a:ln>
        </p:spPr>
        <p:txBody>
          <a:bodyPr wrap="square" lIns="29210" tIns="80010" rIns="29210" bIns="546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Application (VMs)</a:t>
            </a:r>
            <a:endParaRPr lang="en-US" sz="1200" dirty="0"/>
          </a:p>
        </p:txBody>
      </p:sp>
      <p:sp>
        <p:nvSpPr>
          <p:cNvPr id="15" name="Text 13"/>
          <p:cNvSpPr/>
          <p:nvPr/>
        </p:nvSpPr>
        <p:spPr>
          <a:xfrm>
            <a:off x="8121650" y="4324350"/>
            <a:ext cx="1765300" cy="350520"/>
          </a:xfrm>
          <a:custGeom>
            <a:avLst/>
            <a:gdLst/>
            <a:ahLst/>
            <a:cxnLst/>
            <a:rect l="l" t="t" r="r" b="b"/>
            <a:pathLst>
              <a:path w="1765300" h="350520">
                <a:moveTo>
                  <a:pt x="57150" y="0"/>
                </a:moveTo>
                <a:lnTo>
                  <a:pt x="1708150" y="0"/>
                </a:lnTo>
                <a:arcTo wR="57150" hR="57150" stAng="16200000" swAng="5400000"/>
                <a:lnTo>
                  <a:pt x="1765300" y="293370"/>
                </a:lnTo>
                <a:arcTo wR="57150" hR="57150" stAng="0" swAng="5400000"/>
                <a:lnTo>
                  <a:pt x="57150" y="350520"/>
                </a:lnTo>
                <a:arcTo wR="57150" hR="57150" stAng="5400000" swAng="5400000"/>
                <a:lnTo>
                  <a:pt x="0" y="57150"/>
                </a:lnTo>
                <a:arcTo wR="57150" hR="57150" stAng="10800000" swAng="5400000"/>
                <a:close/>
              </a:path>
            </a:pathLst>
          </a:custGeom>
          <a:solidFill>
            <a:srgbClr val="FDFCFE"/>
          </a:solidFill>
          <a:ln w="12700">
            <a:solidFill>
              <a:srgbClr val="137485"/>
            </a:solidFill>
            <a:prstDash val="solid"/>
          </a:ln>
        </p:spPr>
        <p:txBody>
          <a:bodyPr wrap="square" lIns="29210" tIns="80010" rIns="29210" bIns="546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Base de données</a:t>
            </a:r>
            <a:endParaRPr lang="en-US" sz="1200" dirty="0"/>
          </a:p>
        </p:txBody>
      </p:sp>
      <p:pic>
        <p:nvPicPr>
          <p:cNvPr id="16" name="Image 0" descr="connector"/>
          <p:cNvPicPr>
            <a:picLocks noChangeAspect="1"/>
          </p:cNvPicPr>
          <p:nvPr/>
        </p:nvPicPr>
        <p:blipFill>
          <a:blip r:embed="rId3"/>
          <a:srcRect/>
          <a:stretch/>
        </p:blipFill>
        <p:spPr>
          <a:xfrm>
            <a:off x="1841500" y="2933700"/>
            <a:ext cx="355600" cy="101600"/>
          </a:xfrm>
          <a:prstGeom prst="rect">
            <a:avLst/>
          </a:prstGeom>
        </p:spPr>
      </p:pic>
      <p:pic>
        <p:nvPicPr>
          <p:cNvPr id="17" name="Image 1" descr="connector"/>
          <p:cNvPicPr>
            <a:picLocks noChangeAspect="1"/>
          </p:cNvPicPr>
          <p:nvPr/>
        </p:nvPicPr>
        <p:blipFill>
          <a:blip r:embed="rId4"/>
          <a:srcRect/>
          <a:stretch/>
        </p:blipFill>
        <p:spPr>
          <a:xfrm>
            <a:off x="3238500" y="2933700"/>
            <a:ext cx="482600" cy="101600"/>
          </a:xfrm>
          <a:prstGeom prst="rect">
            <a:avLst/>
          </a:prstGeom>
        </p:spPr>
      </p:pic>
      <p:pic>
        <p:nvPicPr>
          <p:cNvPr id="18" name="Image 2" descr="connector"/>
          <p:cNvPicPr>
            <a:picLocks noChangeAspect="1"/>
          </p:cNvPicPr>
          <p:nvPr/>
        </p:nvPicPr>
        <p:blipFill>
          <a:blip r:embed="rId5"/>
          <a:srcRect/>
          <a:stretch/>
        </p:blipFill>
        <p:spPr>
          <a:xfrm>
            <a:off x="4508500" y="3187700"/>
            <a:ext cx="101600" cy="1117600"/>
          </a:xfrm>
          <a:prstGeom prst="rect">
            <a:avLst/>
          </a:prstGeom>
        </p:spPr>
      </p:pic>
      <p:pic>
        <p:nvPicPr>
          <p:cNvPr id="19" name="Image 3" descr="connector"/>
          <p:cNvPicPr>
            <a:picLocks noChangeAspect="1"/>
          </p:cNvPicPr>
          <p:nvPr/>
        </p:nvPicPr>
        <p:blipFill>
          <a:blip r:embed="rId6"/>
          <a:srcRect/>
          <a:stretch/>
        </p:blipFill>
        <p:spPr>
          <a:xfrm>
            <a:off x="5397500" y="4584700"/>
            <a:ext cx="2768600" cy="101600"/>
          </a:xfrm>
          <a:prstGeom prst="rect">
            <a:avLst/>
          </a:prstGeom>
        </p:spPr>
      </p:pic>
      <p:pic>
        <p:nvPicPr>
          <p:cNvPr id="20" name="Image 4" descr="connector"/>
          <p:cNvPicPr>
            <a:picLocks noChangeAspect="1"/>
          </p:cNvPicPr>
          <p:nvPr/>
        </p:nvPicPr>
        <p:blipFill>
          <a:blip r:embed="rId7"/>
          <a:srcRect/>
          <a:stretch/>
        </p:blipFill>
        <p:spPr>
          <a:xfrm>
            <a:off x="5397500" y="4330700"/>
            <a:ext cx="1689100" cy="101600"/>
          </a:xfrm>
          <a:prstGeom prst="rect">
            <a:avLst/>
          </a:prstGeom>
        </p:spPr>
      </p:pic>
      <p:pic>
        <p:nvPicPr>
          <p:cNvPr id="21" name="Image 5" descr="connector"/>
          <p:cNvPicPr>
            <a:picLocks noChangeAspect="1"/>
          </p:cNvPicPr>
          <p:nvPr/>
        </p:nvPicPr>
        <p:blipFill>
          <a:blip r:embed="rId8"/>
          <a:srcRect/>
          <a:stretch/>
        </p:blipFill>
        <p:spPr>
          <a:xfrm>
            <a:off x="6985000" y="2933700"/>
            <a:ext cx="101600" cy="1498600"/>
          </a:xfrm>
          <a:prstGeom prst="rect">
            <a:avLst/>
          </a:prstGeom>
        </p:spPr>
      </p:pic>
      <p:pic>
        <p:nvPicPr>
          <p:cNvPr id="22" name="Image 6" descr="connector"/>
          <p:cNvPicPr>
            <a:picLocks noChangeAspect="1"/>
          </p:cNvPicPr>
          <p:nvPr/>
        </p:nvPicPr>
        <p:blipFill>
          <a:blip r:embed="rId9"/>
          <a:srcRect/>
          <a:stretch/>
        </p:blipFill>
        <p:spPr>
          <a:xfrm>
            <a:off x="6985000" y="2933700"/>
            <a:ext cx="1181100" cy="101600"/>
          </a:xfrm>
          <a:prstGeom prst="rect">
            <a:avLst/>
          </a:prstGeom>
        </p:spPr>
      </p:pic>
      <p:sp>
        <p:nvSpPr>
          <p:cNvPr id="23" name="Text 14"/>
          <p:cNvSpPr/>
          <p:nvPr/>
        </p:nvSpPr>
        <p:spPr>
          <a:xfrm>
            <a:off x="8051800" y="3289300"/>
            <a:ext cx="196215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B2E9E"/>
                </a:solidFill>
                <a:latin typeface="IBM Plex Sans" pitchFamily="34" charset="0"/>
                <a:ea typeface="IBM Plex Sans" pitchFamily="34" charset="-122"/>
                <a:cs typeface="IBM Plex Sans" pitchFamily="34" charset="-120"/>
              </a:rPr>
              <a:t>Sortie vers Internet</a:t>
            </a:r>
            <a:endParaRPr lang="en-US" sz="1200" dirty="0"/>
          </a:p>
        </p:txBody>
      </p:sp>
      <p:sp>
        <p:nvSpPr>
          <p:cNvPr id="24" name="Text 1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4 · RÉSEAU ET SÉCURITÉ</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Lire le schéma : les briques du réseau</a:t>
            </a:r>
            <a:endParaRPr lang="en-US" sz="3200" dirty="0"/>
          </a:p>
        </p:txBody>
      </p:sp>
      <p:sp>
        <p:nvSpPr>
          <p:cNvPr id="4" name="Shape 2"/>
          <p:cNvSpPr/>
          <p:nvPr/>
        </p:nvSpPr>
        <p:spPr>
          <a:xfrm>
            <a:off x="812800" y="1727200"/>
            <a:ext cx="3420533" cy="1457960"/>
          </a:xfrm>
          <a:prstGeom prst="roundRect">
            <a:avLst>
              <a:gd name="adj" fmla="val 6969"/>
            </a:avLst>
          </a:prstGeom>
          <a:solidFill>
            <a:srgbClr val="ECE7F6"/>
          </a:solidFill>
          <a:ln/>
        </p:spPr>
        <p:txBody>
          <a:bodyPr/>
          <a:lstStyle/>
          <a:p>
            <a:endParaRPr lang="fr-FR"/>
          </a:p>
        </p:txBody>
      </p:sp>
      <p:sp>
        <p:nvSpPr>
          <p:cNvPr id="5" name="Text 3"/>
          <p:cNvSpPr/>
          <p:nvPr/>
        </p:nvSpPr>
        <p:spPr>
          <a:xfrm>
            <a:off x="990600" y="1905000"/>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B2E9E"/>
                </a:solidFill>
                <a:latin typeface="IBM Plex Sans" pitchFamily="34" charset="0"/>
                <a:ea typeface="IBM Plex Sans" pitchFamily="34" charset="-122"/>
                <a:cs typeface="IBM Plex Sans" pitchFamily="34" charset="-120"/>
              </a:rPr>
              <a:t>Bloc CIDR</a:t>
            </a:r>
            <a:endParaRPr lang="en-US" sz="1500" dirty="0"/>
          </a:p>
        </p:txBody>
      </p:sp>
      <p:sp>
        <p:nvSpPr>
          <p:cNvPr id="6" name="Text 4"/>
          <p:cNvSpPr/>
          <p:nvPr/>
        </p:nvSpPr>
        <p:spPr>
          <a:xfrm>
            <a:off x="990600" y="2184400"/>
            <a:ext cx="3156881"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La plage d’adresses du VPC, prise dans les plages privées (RFC 1918). /16 = 65 536 adresses. À choisir sans chevauchement avec vos autres réseaux.</a:t>
            </a:r>
            <a:endParaRPr lang="en-US" sz="1200" dirty="0"/>
          </a:p>
        </p:txBody>
      </p:sp>
      <p:sp>
        <p:nvSpPr>
          <p:cNvPr id="7" name="Shape 5"/>
          <p:cNvSpPr/>
          <p:nvPr/>
        </p:nvSpPr>
        <p:spPr>
          <a:xfrm>
            <a:off x="4385733" y="1727200"/>
            <a:ext cx="3420533" cy="1457960"/>
          </a:xfrm>
          <a:prstGeom prst="roundRect">
            <a:avLst>
              <a:gd name="adj" fmla="val 6969"/>
            </a:avLst>
          </a:prstGeom>
          <a:solidFill>
            <a:srgbClr val="D3EDF1"/>
          </a:solidFill>
          <a:ln/>
        </p:spPr>
        <p:txBody>
          <a:bodyPr/>
          <a:lstStyle/>
          <a:p>
            <a:endParaRPr lang="fr-FR"/>
          </a:p>
        </p:txBody>
      </p:sp>
      <p:sp>
        <p:nvSpPr>
          <p:cNvPr id="8" name="Text 6"/>
          <p:cNvSpPr/>
          <p:nvPr/>
        </p:nvSpPr>
        <p:spPr>
          <a:xfrm>
            <a:off x="4563533" y="1905000"/>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7485"/>
                </a:solidFill>
                <a:latin typeface="IBM Plex Sans" pitchFamily="34" charset="0"/>
                <a:ea typeface="IBM Plex Sans" pitchFamily="34" charset="-122"/>
                <a:cs typeface="IBM Plex Sans" pitchFamily="34" charset="-120"/>
              </a:rPr>
              <a:t>Subnet public ou privé</a:t>
            </a:r>
            <a:endParaRPr lang="en-US" sz="1500" dirty="0"/>
          </a:p>
        </p:txBody>
      </p:sp>
      <p:sp>
        <p:nvSpPr>
          <p:cNvPr id="9" name="Text 7"/>
          <p:cNvSpPr/>
          <p:nvPr/>
        </p:nvSpPr>
        <p:spPr>
          <a:xfrm>
            <a:off x="4563533" y="2184400"/>
            <a:ext cx="315688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Une division du VPC rattachée à une zone. Public : joignable depuis Internet. Privé : non exposé.</a:t>
            </a:r>
            <a:endParaRPr lang="en-US" sz="1200" dirty="0"/>
          </a:p>
        </p:txBody>
      </p:sp>
      <p:sp>
        <p:nvSpPr>
          <p:cNvPr id="10" name="Shape 8"/>
          <p:cNvSpPr/>
          <p:nvPr/>
        </p:nvSpPr>
        <p:spPr>
          <a:xfrm>
            <a:off x="7958667" y="1727200"/>
            <a:ext cx="3420533" cy="1457960"/>
          </a:xfrm>
          <a:prstGeom prst="roundRect">
            <a:avLst>
              <a:gd name="adj" fmla="val 6969"/>
            </a:avLst>
          </a:prstGeom>
          <a:solidFill>
            <a:srgbClr val="ECE7F6"/>
          </a:solidFill>
          <a:ln/>
        </p:spPr>
        <p:txBody>
          <a:bodyPr/>
          <a:lstStyle/>
          <a:p>
            <a:endParaRPr lang="fr-FR"/>
          </a:p>
        </p:txBody>
      </p:sp>
      <p:sp>
        <p:nvSpPr>
          <p:cNvPr id="11" name="Text 9"/>
          <p:cNvSpPr/>
          <p:nvPr/>
        </p:nvSpPr>
        <p:spPr>
          <a:xfrm>
            <a:off x="8136467" y="1905000"/>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B2E9E"/>
                </a:solidFill>
                <a:latin typeface="IBM Plex Sans" pitchFamily="34" charset="0"/>
                <a:ea typeface="IBM Plex Sans" pitchFamily="34" charset="-122"/>
                <a:cs typeface="IBM Plex Sans" pitchFamily="34" charset="-120"/>
              </a:rPr>
              <a:t>Internet Gateway</a:t>
            </a:r>
            <a:endParaRPr lang="en-US" sz="1500" dirty="0"/>
          </a:p>
        </p:txBody>
      </p:sp>
      <p:sp>
        <p:nvSpPr>
          <p:cNvPr id="12" name="Text 10"/>
          <p:cNvSpPr/>
          <p:nvPr/>
        </p:nvSpPr>
        <p:spPr>
          <a:xfrm>
            <a:off x="8136467" y="2184400"/>
            <a:ext cx="315688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Relie le VPC à Internet, dans les deux sens, pour les ressources publiques.</a:t>
            </a:r>
            <a:endParaRPr lang="en-US" sz="1200" dirty="0"/>
          </a:p>
        </p:txBody>
      </p:sp>
      <p:sp>
        <p:nvSpPr>
          <p:cNvPr id="13" name="Shape 11"/>
          <p:cNvSpPr/>
          <p:nvPr/>
        </p:nvSpPr>
        <p:spPr>
          <a:xfrm>
            <a:off x="812800" y="3337558"/>
            <a:ext cx="3420533" cy="1252220"/>
          </a:xfrm>
          <a:prstGeom prst="roundRect">
            <a:avLst>
              <a:gd name="adj" fmla="val 8114"/>
            </a:avLst>
          </a:prstGeom>
          <a:solidFill>
            <a:srgbClr val="D3EDF1"/>
          </a:solidFill>
          <a:ln/>
        </p:spPr>
        <p:txBody>
          <a:bodyPr/>
          <a:lstStyle/>
          <a:p>
            <a:endParaRPr lang="fr-FR"/>
          </a:p>
        </p:txBody>
      </p:sp>
      <p:sp>
        <p:nvSpPr>
          <p:cNvPr id="14" name="Text 12"/>
          <p:cNvSpPr/>
          <p:nvPr/>
        </p:nvSpPr>
        <p:spPr>
          <a:xfrm>
            <a:off x="990600" y="3515358"/>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7485"/>
                </a:solidFill>
                <a:latin typeface="IBM Plex Sans" pitchFamily="34" charset="0"/>
                <a:ea typeface="IBM Plex Sans" pitchFamily="34" charset="-122"/>
                <a:cs typeface="IBM Plex Sans" pitchFamily="34" charset="-120"/>
              </a:rPr>
              <a:t>NAT Gateway</a:t>
            </a:r>
            <a:endParaRPr lang="en-US" sz="1500" dirty="0"/>
          </a:p>
        </p:txBody>
      </p:sp>
      <p:sp>
        <p:nvSpPr>
          <p:cNvPr id="15" name="Text 13"/>
          <p:cNvSpPr/>
          <p:nvPr/>
        </p:nvSpPr>
        <p:spPr>
          <a:xfrm>
            <a:off x="990600" y="3794758"/>
            <a:ext cx="315688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Permet à un subnet privé de sortir vers Internet sans être joignable de l’extérieur.</a:t>
            </a:r>
            <a:endParaRPr lang="en-US" sz="1200" dirty="0"/>
          </a:p>
        </p:txBody>
      </p:sp>
      <p:sp>
        <p:nvSpPr>
          <p:cNvPr id="16" name="Shape 14"/>
          <p:cNvSpPr/>
          <p:nvPr/>
        </p:nvSpPr>
        <p:spPr>
          <a:xfrm>
            <a:off x="4385733" y="3337558"/>
            <a:ext cx="3420533" cy="1252220"/>
          </a:xfrm>
          <a:prstGeom prst="roundRect">
            <a:avLst>
              <a:gd name="adj" fmla="val 8114"/>
            </a:avLst>
          </a:prstGeom>
          <a:solidFill>
            <a:srgbClr val="ECE7F6"/>
          </a:solidFill>
          <a:ln/>
        </p:spPr>
        <p:txBody>
          <a:bodyPr/>
          <a:lstStyle/>
          <a:p>
            <a:endParaRPr lang="fr-FR"/>
          </a:p>
        </p:txBody>
      </p:sp>
      <p:sp>
        <p:nvSpPr>
          <p:cNvPr id="17" name="Text 15"/>
          <p:cNvSpPr/>
          <p:nvPr/>
        </p:nvSpPr>
        <p:spPr>
          <a:xfrm>
            <a:off x="4563533" y="3515358"/>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B2E9E"/>
                </a:solidFill>
                <a:latin typeface="IBM Plex Sans" pitchFamily="34" charset="0"/>
                <a:ea typeface="IBM Plex Sans" pitchFamily="34" charset="-122"/>
                <a:cs typeface="IBM Plex Sans" pitchFamily="34" charset="-120"/>
              </a:rPr>
              <a:t>Table de routage</a:t>
            </a:r>
            <a:endParaRPr lang="en-US" sz="1500" dirty="0"/>
          </a:p>
        </p:txBody>
      </p:sp>
      <p:sp>
        <p:nvSpPr>
          <p:cNvPr id="18" name="Text 16"/>
          <p:cNvSpPr/>
          <p:nvPr/>
        </p:nvSpPr>
        <p:spPr>
          <a:xfrm>
            <a:off x="4563533" y="3794758"/>
            <a:ext cx="315688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Indique, pour chaque destination, par où envoyer les paquets. Chaque subnet est associé à une table.</a:t>
            </a:r>
            <a:endParaRPr lang="en-US" sz="1200" dirty="0"/>
          </a:p>
        </p:txBody>
      </p:sp>
      <p:sp>
        <p:nvSpPr>
          <p:cNvPr id="19" name="Shape 17"/>
          <p:cNvSpPr/>
          <p:nvPr/>
        </p:nvSpPr>
        <p:spPr>
          <a:xfrm>
            <a:off x="7958667" y="3337558"/>
            <a:ext cx="3420533" cy="1252220"/>
          </a:xfrm>
          <a:prstGeom prst="roundRect">
            <a:avLst>
              <a:gd name="adj" fmla="val 8114"/>
            </a:avLst>
          </a:prstGeom>
          <a:solidFill>
            <a:srgbClr val="D3EDF1"/>
          </a:solidFill>
          <a:ln/>
        </p:spPr>
        <p:txBody>
          <a:bodyPr/>
          <a:lstStyle/>
          <a:p>
            <a:endParaRPr lang="fr-FR"/>
          </a:p>
        </p:txBody>
      </p:sp>
      <p:sp>
        <p:nvSpPr>
          <p:cNvPr id="20" name="Text 18"/>
          <p:cNvSpPr/>
          <p:nvPr/>
        </p:nvSpPr>
        <p:spPr>
          <a:xfrm>
            <a:off x="8136467" y="3515358"/>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7485"/>
                </a:solidFill>
                <a:latin typeface="IBM Plex Sans" pitchFamily="34" charset="0"/>
                <a:ea typeface="IBM Plex Sans" pitchFamily="34" charset="-122"/>
                <a:cs typeface="IBM Plex Sans" pitchFamily="34" charset="-120"/>
              </a:rPr>
              <a:t>Load balancer</a:t>
            </a:r>
            <a:endParaRPr lang="en-US" sz="1500" dirty="0"/>
          </a:p>
        </p:txBody>
      </p:sp>
      <p:sp>
        <p:nvSpPr>
          <p:cNvPr id="21" name="Text 19"/>
          <p:cNvSpPr/>
          <p:nvPr/>
        </p:nvSpPr>
        <p:spPr>
          <a:xfrm>
            <a:off x="8136467" y="3794758"/>
            <a:ext cx="315688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Répartit le trafic entrant entre plusieurs instances, souvent sur plusieurs zones.</a:t>
            </a:r>
            <a:endParaRPr lang="en-US" sz="12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4 · RÉSEAU ET SÉCURITÉ</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Sécuriser : firewalls et gestion des accès (IAM)</a:t>
            </a:r>
            <a:endParaRPr lang="en-US" sz="3200" dirty="0"/>
          </a:p>
        </p:txBody>
      </p:sp>
      <p:sp>
        <p:nvSpPr>
          <p:cNvPr id="4" name="Text 2"/>
          <p:cNvSpPr/>
          <p:nvPr/>
        </p:nvSpPr>
        <p:spPr>
          <a:xfrm>
            <a:off x="812800" y="1727200"/>
            <a:ext cx="549402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B2E9E"/>
                </a:solidFill>
                <a:latin typeface="IBM Plex Sans" pitchFamily="34" charset="0"/>
                <a:ea typeface="IBM Plex Sans" pitchFamily="34" charset="-122"/>
                <a:cs typeface="IBM Plex Sans" pitchFamily="34" charset="-120"/>
              </a:rPr>
              <a:t>Filtrer le trafic réseau</a:t>
            </a:r>
            <a:endParaRPr lang="en-US" sz="1600" dirty="0"/>
          </a:p>
        </p:txBody>
      </p:sp>
      <p:sp>
        <p:nvSpPr>
          <p:cNvPr id="5" name="Shape 3"/>
          <p:cNvSpPr/>
          <p:nvPr/>
        </p:nvSpPr>
        <p:spPr>
          <a:xfrm>
            <a:off x="812800" y="2098042"/>
            <a:ext cx="5334000" cy="1326515"/>
          </a:xfrm>
          <a:prstGeom prst="roundRect">
            <a:avLst>
              <a:gd name="adj" fmla="val 7659"/>
            </a:avLst>
          </a:prstGeom>
          <a:solidFill>
            <a:srgbClr val="ECE7F6"/>
          </a:solidFill>
          <a:ln/>
        </p:spPr>
        <p:txBody>
          <a:bodyPr/>
          <a:lstStyle/>
          <a:p>
            <a:endParaRPr lang="fr-FR"/>
          </a:p>
        </p:txBody>
      </p:sp>
      <p:sp>
        <p:nvSpPr>
          <p:cNvPr id="6" name="Text 4"/>
          <p:cNvSpPr/>
          <p:nvPr/>
        </p:nvSpPr>
        <p:spPr>
          <a:xfrm>
            <a:off x="990600" y="2275842"/>
            <a:ext cx="512775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Firewall stateful</a:t>
            </a:r>
            <a:endParaRPr lang="en-US" sz="1400" dirty="0"/>
          </a:p>
        </p:txBody>
      </p:sp>
      <p:sp>
        <p:nvSpPr>
          <p:cNvPr id="7" name="Text 5"/>
          <p:cNvSpPr/>
          <p:nvPr/>
        </p:nvSpPr>
        <p:spPr>
          <a:xfrm>
            <a:off x="990600" y="2565400"/>
            <a:ext cx="512775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Mémorise les connexions ouvertes : la réponse est autorisée automatiquement. Ex. : Security Groups chez AWS.</a:t>
            </a:r>
            <a:endParaRPr lang="en-US" sz="1200" dirty="0"/>
          </a:p>
        </p:txBody>
      </p:sp>
      <p:sp>
        <p:nvSpPr>
          <p:cNvPr id="8" name="Shape 6"/>
          <p:cNvSpPr/>
          <p:nvPr/>
        </p:nvSpPr>
        <p:spPr>
          <a:xfrm>
            <a:off x="812800" y="3551560"/>
            <a:ext cx="5334000" cy="1326515"/>
          </a:xfrm>
          <a:prstGeom prst="roundRect">
            <a:avLst>
              <a:gd name="adj" fmla="val 7659"/>
            </a:avLst>
          </a:prstGeom>
          <a:solidFill>
            <a:srgbClr val="ECE7F6"/>
          </a:solidFill>
          <a:ln/>
        </p:spPr>
        <p:txBody>
          <a:bodyPr/>
          <a:lstStyle/>
          <a:p>
            <a:endParaRPr lang="fr-FR"/>
          </a:p>
        </p:txBody>
      </p:sp>
      <p:sp>
        <p:nvSpPr>
          <p:cNvPr id="9" name="Text 7"/>
          <p:cNvSpPr/>
          <p:nvPr/>
        </p:nvSpPr>
        <p:spPr>
          <a:xfrm>
            <a:off x="990600" y="3729360"/>
            <a:ext cx="512775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31B3A"/>
                </a:solidFill>
                <a:latin typeface="IBM Plex Sans" pitchFamily="34" charset="0"/>
                <a:ea typeface="IBM Plex Sans" pitchFamily="34" charset="-122"/>
                <a:cs typeface="IBM Plex Sans" pitchFamily="34" charset="-120"/>
              </a:rPr>
              <a:t>Firewall stateless</a:t>
            </a:r>
            <a:endParaRPr lang="en-US" sz="1400" dirty="0"/>
          </a:p>
        </p:txBody>
      </p:sp>
      <p:sp>
        <p:nvSpPr>
          <p:cNvPr id="10" name="Text 8"/>
          <p:cNvSpPr/>
          <p:nvPr/>
        </p:nvSpPr>
        <p:spPr>
          <a:xfrm>
            <a:off x="990600" y="4018917"/>
            <a:ext cx="512775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Évalue chaque paquet isolément : il faut autoriser explicitement le trafic retour. Ex. : Network ACL chez AWS.</a:t>
            </a:r>
            <a:endParaRPr lang="en-US" sz="1200" dirty="0"/>
          </a:p>
        </p:txBody>
      </p:sp>
      <p:sp>
        <p:nvSpPr>
          <p:cNvPr id="11" name="Text 9"/>
          <p:cNvSpPr/>
          <p:nvPr/>
        </p:nvSpPr>
        <p:spPr>
          <a:xfrm>
            <a:off x="812800" y="5005065"/>
            <a:ext cx="54940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585"/>
                </a:solidFill>
                <a:latin typeface="IBM Plex Sans" pitchFamily="34" charset="0"/>
                <a:ea typeface="IBM Plex Sans" pitchFamily="34" charset="-122"/>
                <a:cs typeface="IBM Plex Sans" pitchFamily="34" charset="-120"/>
              </a:rPr>
              <a:t>Et toujours : des logs pour suivre le trafic et détecter les incidents.</a:t>
            </a:r>
            <a:endParaRPr lang="en-US" sz="1200" dirty="0"/>
          </a:p>
        </p:txBody>
      </p:sp>
      <p:sp>
        <p:nvSpPr>
          <p:cNvPr id="12" name="Text 10"/>
          <p:cNvSpPr/>
          <p:nvPr/>
        </p:nvSpPr>
        <p:spPr>
          <a:xfrm>
            <a:off x="6553200" y="1727200"/>
            <a:ext cx="49707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7485"/>
                </a:solidFill>
                <a:latin typeface="IBM Plex Sans" pitchFamily="34" charset="0"/>
                <a:ea typeface="IBM Plex Sans" pitchFamily="34" charset="-122"/>
                <a:cs typeface="IBM Plex Sans" pitchFamily="34" charset="-120"/>
              </a:rPr>
              <a:t>Contrôler qui fait quoi (IAM)</a:t>
            </a:r>
            <a:endParaRPr lang="en-US" sz="1600" dirty="0"/>
          </a:p>
        </p:txBody>
      </p:sp>
      <p:sp>
        <p:nvSpPr>
          <p:cNvPr id="13" name="Text 11"/>
          <p:cNvSpPr/>
          <p:nvPr/>
        </p:nvSpPr>
        <p:spPr>
          <a:xfrm>
            <a:off x="6553200" y="2098042"/>
            <a:ext cx="497078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Qui (utilisateur, service, application) a le droit de faire quoi, sur quelle ressource. Principe central : le </a:t>
            </a:r>
            <a:r>
              <a:rPr lang="en-US" sz="1300" b="1" dirty="0">
                <a:solidFill>
                  <a:srgbClr val="4A4462"/>
                </a:solidFill>
                <a:latin typeface="IBM Plex Sans" pitchFamily="34" charset="0"/>
                <a:ea typeface="IBM Plex Sans" pitchFamily="34" charset="-122"/>
                <a:cs typeface="IBM Plex Sans" pitchFamily="34" charset="-120"/>
              </a:rPr>
              <a:t>moindre privilège</a:t>
            </a:r>
            <a:r>
              <a:rPr lang="en-US" sz="1300" dirty="0">
                <a:solidFill>
                  <a:srgbClr val="4A4462"/>
                </a:solidFill>
                <a:latin typeface="IBM Plex Sans" pitchFamily="34" charset="0"/>
                <a:ea typeface="IBM Plex Sans" pitchFamily="34" charset="-122"/>
                <a:cs typeface="IBM Plex Sans" pitchFamily="34" charset="-120"/>
              </a:rPr>
              <a:t>.</a:t>
            </a:r>
            <a:endParaRPr lang="en-US" sz="1300" dirty="0"/>
          </a:p>
        </p:txBody>
      </p:sp>
      <p:sp>
        <p:nvSpPr>
          <p:cNvPr id="14" name="Text 12"/>
          <p:cNvSpPr/>
          <p:nvPr/>
        </p:nvSpPr>
        <p:spPr>
          <a:xfrm>
            <a:off x="6559550" y="3629658"/>
            <a:ext cx="1638300" cy="566420"/>
          </a:xfrm>
          <a:custGeom>
            <a:avLst/>
            <a:gdLst/>
            <a:ahLst/>
            <a:cxnLst/>
            <a:rect l="l" t="t" r="r" b="b"/>
            <a:pathLst>
              <a:path w="1638300" h="566420">
                <a:moveTo>
                  <a:pt x="57150" y="0"/>
                </a:moveTo>
                <a:lnTo>
                  <a:pt x="1581150" y="0"/>
                </a:lnTo>
                <a:arcTo wR="57150" hR="57150" stAng="16200000" swAng="5400000"/>
                <a:lnTo>
                  <a:pt x="1638300" y="509270"/>
                </a:lnTo>
                <a:arcTo wR="57150" hR="57150" stAng="0" swAng="5400000"/>
                <a:lnTo>
                  <a:pt x="57150" y="566420"/>
                </a:lnTo>
                <a:arcTo wR="57150" hR="57150" stAng="5400000" swAng="5400000"/>
                <a:lnTo>
                  <a:pt x="0" y="57150"/>
                </a:lnTo>
                <a:arcTo wR="57150" hR="57150" stAng="10800000" swAng="5400000"/>
                <a:close/>
              </a:path>
            </a:pathLst>
          </a:custGeom>
          <a:solidFill>
            <a:srgbClr val="FDFCFE"/>
          </a:solidFill>
          <a:ln w="12700">
            <a:solidFill>
              <a:srgbClr val="137485"/>
            </a:solidFill>
            <a:prstDash val="solid"/>
          </a:ln>
        </p:spPr>
        <p:txBody>
          <a:bodyPr wrap="square" lIns="29210" tIns="92710" rIns="29210" bIns="673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Service d’entraînement</a:t>
            </a:r>
            <a:endParaRPr lang="en-US" sz="1200" dirty="0"/>
          </a:p>
        </p:txBody>
      </p:sp>
      <p:sp>
        <p:nvSpPr>
          <p:cNvPr id="15" name="Text 13"/>
          <p:cNvSpPr/>
          <p:nvPr/>
        </p:nvSpPr>
        <p:spPr>
          <a:xfrm>
            <a:off x="9734550" y="3629658"/>
            <a:ext cx="1638300" cy="375920"/>
          </a:xfrm>
          <a:custGeom>
            <a:avLst/>
            <a:gdLst/>
            <a:ahLst/>
            <a:cxnLst/>
            <a:rect l="l" t="t" r="r" b="b"/>
            <a:pathLst>
              <a:path w="1638300" h="375920">
                <a:moveTo>
                  <a:pt x="57150" y="0"/>
                </a:moveTo>
                <a:lnTo>
                  <a:pt x="1581150" y="0"/>
                </a:lnTo>
                <a:arcTo wR="57150" hR="57150" stAng="16200000" swAng="5400000"/>
                <a:lnTo>
                  <a:pt x="1638300" y="318770"/>
                </a:lnTo>
                <a:arcTo wR="57150" hR="57150" stAng="0" swAng="5400000"/>
                <a:lnTo>
                  <a:pt x="57150" y="375920"/>
                </a:lnTo>
                <a:arcTo wR="57150" hR="57150" stAng="5400000" swAng="5400000"/>
                <a:lnTo>
                  <a:pt x="0" y="57150"/>
                </a:lnTo>
                <a:arcTo wR="57150" hR="57150" stAng="10800000" swAng="5400000"/>
                <a:close/>
              </a:path>
            </a:pathLst>
          </a:custGeom>
          <a:solidFill>
            <a:srgbClr val="FDFCFE"/>
          </a:solidFill>
          <a:ln w="12700">
            <a:solidFill>
              <a:srgbClr val="5B2E9E"/>
            </a:solidFill>
            <a:prstDash val="solid"/>
          </a:ln>
        </p:spPr>
        <p:txBody>
          <a:bodyPr wrap="square" lIns="29210" tIns="92710" rIns="29210" bIns="673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Bucket « datasets »</a:t>
            </a:r>
            <a:endParaRPr lang="en-US" sz="1200" dirty="0"/>
          </a:p>
        </p:txBody>
      </p:sp>
      <p:pic>
        <p:nvPicPr>
          <p:cNvPr id="16" name="Image 0" descr="connector"/>
          <p:cNvPicPr>
            <a:picLocks noChangeAspect="1"/>
          </p:cNvPicPr>
          <p:nvPr/>
        </p:nvPicPr>
        <p:blipFill>
          <a:blip r:embed="rId3"/>
          <a:srcRect/>
          <a:stretch/>
        </p:blipFill>
        <p:spPr>
          <a:xfrm>
            <a:off x="8140700" y="3750308"/>
            <a:ext cx="1651000" cy="127000"/>
          </a:xfrm>
          <a:prstGeom prst="rect">
            <a:avLst/>
          </a:prstGeom>
        </p:spPr>
      </p:pic>
      <p:pic>
        <p:nvPicPr>
          <p:cNvPr id="17" name="Image 1" descr="connector"/>
          <p:cNvPicPr>
            <a:picLocks noChangeAspect="1"/>
          </p:cNvPicPr>
          <p:nvPr/>
        </p:nvPicPr>
        <p:blipFill>
          <a:blip r:embed="rId4"/>
          <a:srcRect/>
          <a:stretch/>
        </p:blipFill>
        <p:spPr>
          <a:xfrm>
            <a:off x="8140700" y="4004308"/>
            <a:ext cx="1651000" cy="127000"/>
          </a:xfrm>
          <a:prstGeom prst="rect">
            <a:avLst/>
          </a:prstGeom>
        </p:spPr>
      </p:pic>
      <p:pic>
        <p:nvPicPr>
          <p:cNvPr id="18" name="Image 2" descr="Check"/>
          <p:cNvPicPr>
            <a:picLocks noChangeAspect="1"/>
          </p:cNvPicPr>
          <p:nvPr/>
        </p:nvPicPr>
        <p:blipFill>
          <a:blip r:embed="rId5"/>
          <a:srcRect/>
          <a:stretch/>
        </p:blipFill>
        <p:spPr>
          <a:xfrm>
            <a:off x="8267700" y="3293108"/>
            <a:ext cx="203200" cy="203200"/>
          </a:xfrm>
          <a:prstGeom prst="rect">
            <a:avLst/>
          </a:prstGeom>
        </p:spPr>
      </p:pic>
      <p:sp>
        <p:nvSpPr>
          <p:cNvPr id="19" name="Text 14"/>
          <p:cNvSpPr/>
          <p:nvPr/>
        </p:nvSpPr>
        <p:spPr>
          <a:xfrm>
            <a:off x="8521700" y="3288035"/>
            <a:ext cx="115938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7485"/>
                </a:solidFill>
                <a:latin typeface="IBM Plex Sans" pitchFamily="34" charset="0"/>
                <a:ea typeface="IBM Plex Sans" pitchFamily="34" charset="-122"/>
                <a:cs typeface="IBM Plex Sans" pitchFamily="34" charset="-120"/>
              </a:rPr>
              <a:t>Lire : autorisé</a:t>
            </a:r>
            <a:endParaRPr lang="en-US" sz="1200" dirty="0"/>
          </a:p>
        </p:txBody>
      </p:sp>
      <p:pic>
        <p:nvPicPr>
          <p:cNvPr id="20" name="Image 3" descr="Warning"/>
          <p:cNvPicPr>
            <a:picLocks noChangeAspect="1"/>
          </p:cNvPicPr>
          <p:nvPr/>
        </p:nvPicPr>
        <p:blipFill>
          <a:blip r:embed="rId6"/>
          <a:srcRect t="-533" b="-533"/>
          <a:stretch/>
        </p:blipFill>
        <p:spPr>
          <a:xfrm>
            <a:off x="8267700" y="4385308"/>
            <a:ext cx="188489" cy="203200"/>
          </a:xfrm>
          <a:prstGeom prst="rect">
            <a:avLst/>
          </a:prstGeom>
        </p:spPr>
      </p:pic>
      <p:sp>
        <p:nvSpPr>
          <p:cNvPr id="21" name="Text 15"/>
          <p:cNvSpPr/>
          <p:nvPr/>
        </p:nvSpPr>
        <p:spPr>
          <a:xfrm>
            <a:off x="8506989" y="4273550"/>
            <a:ext cx="127201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65400"/>
                </a:solidFill>
                <a:latin typeface="IBM Plex Sans" pitchFamily="34" charset="0"/>
                <a:ea typeface="IBM Plex Sans" pitchFamily="34" charset="-122"/>
                <a:cs typeface="IBM Plex Sans" pitchFamily="34" charset="-120"/>
              </a:rPr>
              <a:t>Supprimer : refusé</a:t>
            </a:r>
            <a:endParaRPr lang="en-US" sz="1200" dirty="0"/>
          </a:p>
        </p:txBody>
      </p:sp>
      <p:sp>
        <p:nvSpPr>
          <p:cNvPr id="22" name="Text 1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5 · LE STOCKAGE</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Trois types de stockage, un usage chacun</a:t>
            </a:r>
            <a:endParaRPr lang="en-US" sz="3200" dirty="0"/>
          </a:p>
        </p:txBody>
      </p:sp>
      <p:sp>
        <p:nvSpPr>
          <p:cNvPr id="4" name="Text 2"/>
          <p:cNvSpPr/>
          <p:nvPr/>
        </p:nvSpPr>
        <p:spPr>
          <a:xfrm>
            <a:off x="1771650" y="1733550"/>
            <a:ext cx="1257300" cy="325120"/>
          </a:xfrm>
          <a:custGeom>
            <a:avLst/>
            <a:gdLst/>
            <a:ahLst/>
            <a:cxnLst/>
            <a:rect l="l" t="t" r="r" b="b"/>
            <a:pathLst>
              <a:path w="1257300" h="325120">
                <a:moveTo>
                  <a:pt x="57150" y="0"/>
                </a:moveTo>
                <a:lnTo>
                  <a:pt x="1200150" y="0"/>
                </a:lnTo>
                <a:arcTo wR="57150" hR="57150" stAng="16200000" swAng="5400000"/>
                <a:lnTo>
                  <a:pt x="1257300" y="267970"/>
                </a:lnTo>
                <a:arcTo wR="57150" hR="57150" stAng="0" swAng="5400000"/>
                <a:lnTo>
                  <a:pt x="57150" y="325120"/>
                </a:lnTo>
                <a:arcTo wR="57150" hR="57150" stAng="5400000" swAng="5400000"/>
                <a:lnTo>
                  <a:pt x="0" y="57150"/>
                </a:lnTo>
                <a:arcTo wR="57150" hR="57150" stAng="10800000" swAng="5400000"/>
                <a:close/>
              </a:path>
            </a:pathLst>
          </a:custGeom>
          <a:solidFill>
            <a:srgbClr val="FDFCFE"/>
          </a:solidFill>
          <a:ln w="12700">
            <a:solidFill>
              <a:srgbClr val="5B2E9E"/>
            </a:solidFill>
            <a:prstDash val="solid"/>
          </a:ln>
        </p:spPr>
        <p:txBody>
          <a:bodyPr wrap="square" lIns="29210" tIns="67310" rIns="29210" bIns="419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VM</a:t>
            </a:r>
            <a:endParaRPr lang="en-US" sz="1200" dirty="0"/>
          </a:p>
        </p:txBody>
      </p:sp>
      <p:sp>
        <p:nvSpPr>
          <p:cNvPr id="5" name="Text 3"/>
          <p:cNvSpPr/>
          <p:nvPr/>
        </p:nvSpPr>
        <p:spPr>
          <a:xfrm>
            <a:off x="1454150" y="2813050"/>
            <a:ext cx="1892300" cy="325120"/>
          </a:xfrm>
          <a:custGeom>
            <a:avLst/>
            <a:gdLst/>
            <a:ahLst/>
            <a:cxnLst/>
            <a:rect l="l" t="t" r="r" b="b"/>
            <a:pathLst>
              <a:path w="1892300" h="325120">
                <a:moveTo>
                  <a:pt x="57150" y="0"/>
                </a:moveTo>
                <a:lnTo>
                  <a:pt x="1835150" y="0"/>
                </a:lnTo>
                <a:arcTo wR="57150" hR="57150" stAng="16200000" swAng="5400000"/>
                <a:lnTo>
                  <a:pt x="1892300" y="267970"/>
                </a:lnTo>
                <a:arcTo wR="57150" hR="57150" stAng="0" swAng="5400000"/>
                <a:lnTo>
                  <a:pt x="57150" y="325120"/>
                </a:lnTo>
                <a:arcTo wR="57150" hR="57150" stAng="5400000" swAng="5400000"/>
                <a:lnTo>
                  <a:pt x="0" y="57150"/>
                </a:lnTo>
                <a:arcTo wR="57150" hR="57150" stAng="10800000" swAng="5400000"/>
                <a:close/>
              </a:path>
            </a:pathLst>
          </a:custGeom>
          <a:solidFill>
            <a:srgbClr val="ECE7F6"/>
          </a:solidFill>
          <a:ln w="12700">
            <a:solidFill>
              <a:srgbClr val="5B2E9E"/>
            </a:solidFill>
            <a:prstDash val="solid"/>
          </a:ln>
        </p:spPr>
        <p:txBody>
          <a:bodyPr wrap="square" lIns="27864" tIns="67310" rIns="27864" bIns="419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Volume disque</a:t>
            </a:r>
            <a:endParaRPr lang="en-US" sz="1200" dirty="0"/>
          </a:p>
        </p:txBody>
      </p:sp>
      <p:pic>
        <p:nvPicPr>
          <p:cNvPr id="6" name="Image 0" descr="connector"/>
          <p:cNvPicPr>
            <a:picLocks noChangeAspect="1"/>
          </p:cNvPicPr>
          <p:nvPr/>
        </p:nvPicPr>
        <p:blipFill>
          <a:blip r:embed="rId3"/>
          <a:srcRect/>
          <a:stretch/>
        </p:blipFill>
        <p:spPr>
          <a:xfrm>
            <a:off x="2349500" y="2120900"/>
            <a:ext cx="101600" cy="736600"/>
          </a:xfrm>
          <a:prstGeom prst="rect">
            <a:avLst/>
          </a:prstGeom>
        </p:spPr>
      </p:pic>
      <p:sp>
        <p:nvSpPr>
          <p:cNvPr id="7" name="Text 4"/>
          <p:cNvSpPr/>
          <p:nvPr/>
        </p:nvSpPr>
        <p:spPr>
          <a:xfrm>
            <a:off x="2501900" y="2374900"/>
            <a:ext cx="144780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585"/>
                </a:solidFill>
                <a:latin typeface="IBM Plex Sans" pitchFamily="34" charset="0"/>
                <a:ea typeface="IBM Plex Sans" pitchFamily="34" charset="-122"/>
                <a:cs typeface="IBM Plex Sans" pitchFamily="34" charset="-120"/>
              </a:rPr>
              <a:t>attaché</a:t>
            </a:r>
            <a:endParaRPr lang="en-US" sz="1200" dirty="0"/>
          </a:p>
        </p:txBody>
      </p:sp>
      <p:sp>
        <p:nvSpPr>
          <p:cNvPr id="8" name="Text 5"/>
          <p:cNvSpPr/>
          <p:nvPr/>
        </p:nvSpPr>
        <p:spPr>
          <a:xfrm>
            <a:off x="812800" y="3467100"/>
            <a:ext cx="34185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B2E9E"/>
                </a:solidFill>
                <a:latin typeface="IBM Plex Sans" pitchFamily="34" charset="0"/>
                <a:ea typeface="IBM Plex Sans" pitchFamily="34" charset="-122"/>
                <a:cs typeface="IBM Plex Sans" pitchFamily="34" charset="-120"/>
              </a:rPr>
              <a:t>Stockage bloc</a:t>
            </a:r>
            <a:endParaRPr lang="en-US" sz="1500" dirty="0"/>
          </a:p>
        </p:txBody>
      </p:sp>
      <p:sp>
        <p:nvSpPr>
          <p:cNvPr id="9" name="Text 6"/>
          <p:cNvSpPr/>
          <p:nvPr/>
        </p:nvSpPr>
        <p:spPr>
          <a:xfrm>
            <a:off x="812800" y="3784600"/>
            <a:ext cx="341850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 disque virtuel attaché à une VM, à faible latence : pour l’OS et les bases de données.</a:t>
            </a:r>
            <a:endParaRPr lang="en-US" sz="1200" dirty="0"/>
          </a:p>
        </p:txBody>
      </p:sp>
      <p:sp>
        <p:nvSpPr>
          <p:cNvPr id="10" name="Text 7"/>
          <p:cNvSpPr/>
          <p:nvPr/>
        </p:nvSpPr>
        <p:spPr>
          <a:xfrm>
            <a:off x="812800" y="4284985"/>
            <a:ext cx="341850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EBS · Managed Disks · Persistent Disk</a:t>
            </a:r>
            <a:endParaRPr lang="en-US" sz="1200" dirty="0"/>
          </a:p>
        </p:txBody>
      </p:sp>
      <p:sp>
        <p:nvSpPr>
          <p:cNvPr id="11" name="Text 8"/>
          <p:cNvSpPr/>
          <p:nvPr/>
        </p:nvSpPr>
        <p:spPr>
          <a:xfrm>
            <a:off x="4569883" y="1733550"/>
            <a:ext cx="1257300" cy="325120"/>
          </a:xfrm>
          <a:custGeom>
            <a:avLst/>
            <a:gdLst/>
            <a:ahLst/>
            <a:cxnLst/>
            <a:rect l="l" t="t" r="r" b="b"/>
            <a:pathLst>
              <a:path w="1257300" h="325120">
                <a:moveTo>
                  <a:pt x="57150" y="0"/>
                </a:moveTo>
                <a:lnTo>
                  <a:pt x="1200150" y="0"/>
                </a:lnTo>
                <a:arcTo wR="57150" hR="57150" stAng="16200000" swAng="5400000"/>
                <a:lnTo>
                  <a:pt x="1257300" y="267970"/>
                </a:lnTo>
                <a:arcTo wR="57150" hR="57150" stAng="0" swAng="5400000"/>
                <a:lnTo>
                  <a:pt x="57150" y="325120"/>
                </a:lnTo>
                <a:arcTo wR="57150" hR="57150" stAng="5400000" swAng="5400000"/>
                <a:lnTo>
                  <a:pt x="0" y="57150"/>
                </a:lnTo>
                <a:arcTo wR="57150" hR="57150" stAng="10800000" swAng="5400000"/>
                <a:close/>
              </a:path>
            </a:pathLst>
          </a:custGeom>
          <a:solidFill>
            <a:srgbClr val="FDFCFE"/>
          </a:solidFill>
          <a:ln w="12700">
            <a:solidFill>
              <a:srgbClr val="137485"/>
            </a:solidFill>
            <a:prstDash val="solid"/>
          </a:ln>
        </p:spPr>
        <p:txBody>
          <a:bodyPr wrap="square" lIns="29210" tIns="67310" rIns="29210" bIns="419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VM 1</a:t>
            </a:r>
            <a:endParaRPr lang="en-US" sz="1200" dirty="0"/>
          </a:p>
        </p:txBody>
      </p:sp>
      <p:sp>
        <p:nvSpPr>
          <p:cNvPr id="12" name="Text 9"/>
          <p:cNvSpPr/>
          <p:nvPr/>
        </p:nvSpPr>
        <p:spPr>
          <a:xfrm>
            <a:off x="6220883" y="1733550"/>
            <a:ext cx="1257300" cy="325120"/>
          </a:xfrm>
          <a:custGeom>
            <a:avLst/>
            <a:gdLst/>
            <a:ahLst/>
            <a:cxnLst/>
            <a:rect l="l" t="t" r="r" b="b"/>
            <a:pathLst>
              <a:path w="1257300" h="325120">
                <a:moveTo>
                  <a:pt x="57150" y="0"/>
                </a:moveTo>
                <a:lnTo>
                  <a:pt x="1200150" y="0"/>
                </a:lnTo>
                <a:arcTo wR="57150" hR="57150" stAng="16200000" swAng="5400000"/>
                <a:lnTo>
                  <a:pt x="1257300" y="267970"/>
                </a:lnTo>
                <a:arcTo wR="57150" hR="57150" stAng="0" swAng="5400000"/>
                <a:lnTo>
                  <a:pt x="57150" y="325120"/>
                </a:lnTo>
                <a:arcTo wR="57150" hR="57150" stAng="5400000" swAng="5400000"/>
                <a:lnTo>
                  <a:pt x="0" y="57150"/>
                </a:lnTo>
                <a:arcTo wR="57150" hR="57150" stAng="10800000" swAng="5400000"/>
                <a:close/>
              </a:path>
            </a:pathLst>
          </a:custGeom>
          <a:solidFill>
            <a:srgbClr val="FDFCFE"/>
          </a:solidFill>
          <a:ln w="12700">
            <a:solidFill>
              <a:srgbClr val="137485"/>
            </a:solidFill>
            <a:prstDash val="solid"/>
          </a:ln>
        </p:spPr>
        <p:txBody>
          <a:bodyPr wrap="square" lIns="29210" tIns="67310" rIns="29210" bIns="419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VM 2</a:t>
            </a:r>
            <a:endParaRPr lang="en-US" sz="1200" dirty="0"/>
          </a:p>
        </p:txBody>
      </p:sp>
      <p:sp>
        <p:nvSpPr>
          <p:cNvPr id="13" name="Text 10"/>
          <p:cNvSpPr/>
          <p:nvPr/>
        </p:nvSpPr>
        <p:spPr>
          <a:xfrm>
            <a:off x="4823883" y="2813050"/>
            <a:ext cx="2400300" cy="325120"/>
          </a:xfrm>
          <a:custGeom>
            <a:avLst/>
            <a:gdLst/>
            <a:ahLst/>
            <a:cxnLst/>
            <a:rect l="l" t="t" r="r" b="b"/>
            <a:pathLst>
              <a:path w="2400300" h="325120">
                <a:moveTo>
                  <a:pt x="57150" y="0"/>
                </a:moveTo>
                <a:lnTo>
                  <a:pt x="2343150" y="0"/>
                </a:lnTo>
                <a:arcTo wR="57150" hR="57150" stAng="16200000" swAng="5400000"/>
                <a:lnTo>
                  <a:pt x="2400300" y="267970"/>
                </a:lnTo>
                <a:arcTo wR="57150" hR="57150" stAng="0" swAng="5400000"/>
                <a:lnTo>
                  <a:pt x="57150" y="325120"/>
                </a:lnTo>
                <a:arcTo wR="57150" hR="57150" stAng="5400000" swAng="5400000"/>
                <a:lnTo>
                  <a:pt x="0" y="57150"/>
                </a:lnTo>
                <a:arcTo wR="57150" hR="57150" stAng="10800000" swAng="5400000"/>
                <a:close/>
              </a:path>
            </a:pathLst>
          </a:custGeom>
          <a:solidFill>
            <a:srgbClr val="D3EDF1"/>
          </a:solidFill>
          <a:ln w="12700">
            <a:solidFill>
              <a:srgbClr val="137485"/>
            </a:solidFill>
            <a:prstDash val="solid"/>
          </a:ln>
        </p:spPr>
        <p:txBody>
          <a:bodyPr wrap="square" lIns="20244" tIns="67310" rIns="20244" bIns="419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Partage NFS / SMB</a:t>
            </a:r>
            <a:endParaRPr lang="en-US" sz="1200" dirty="0"/>
          </a:p>
        </p:txBody>
      </p:sp>
      <p:pic>
        <p:nvPicPr>
          <p:cNvPr id="14" name="Image 1" descr="connector"/>
          <p:cNvPicPr>
            <a:picLocks noChangeAspect="1"/>
          </p:cNvPicPr>
          <p:nvPr/>
        </p:nvPicPr>
        <p:blipFill>
          <a:blip r:embed="rId3"/>
          <a:srcRect/>
          <a:stretch/>
        </p:blipFill>
        <p:spPr>
          <a:xfrm>
            <a:off x="5147733" y="2120900"/>
            <a:ext cx="101600" cy="736600"/>
          </a:xfrm>
          <a:prstGeom prst="rect">
            <a:avLst/>
          </a:prstGeom>
        </p:spPr>
      </p:pic>
      <p:pic>
        <p:nvPicPr>
          <p:cNvPr id="15" name="Image 2" descr="connector"/>
          <p:cNvPicPr>
            <a:picLocks noChangeAspect="1"/>
          </p:cNvPicPr>
          <p:nvPr/>
        </p:nvPicPr>
        <p:blipFill>
          <a:blip r:embed="rId3"/>
          <a:srcRect/>
          <a:stretch/>
        </p:blipFill>
        <p:spPr>
          <a:xfrm>
            <a:off x="6798733" y="2120900"/>
            <a:ext cx="101600" cy="736600"/>
          </a:xfrm>
          <a:prstGeom prst="rect">
            <a:avLst/>
          </a:prstGeom>
        </p:spPr>
      </p:pic>
      <p:sp>
        <p:nvSpPr>
          <p:cNvPr id="16" name="Text 11"/>
          <p:cNvSpPr/>
          <p:nvPr/>
        </p:nvSpPr>
        <p:spPr>
          <a:xfrm>
            <a:off x="5389033" y="2374900"/>
            <a:ext cx="132080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585"/>
                </a:solidFill>
                <a:latin typeface="IBM Plex Sans" pitchFamily="34" charset="0"/>
                <a:ea typeface="IBM Plex Sans" pitchFamily="34" charset="-122"/>
                <a:cs typeface="IBM Plex Sans" pitchFamily="34" charset="-120"/>
              </a:rPr>
              <a:t>monté</a:t>
            </a:r>
            <a:endParaRPr lang="en-US" sz="1200" dirty="0"/>
          </a:p>
        </p:txBody>
      </p:sp>
      <p:sp>
        <p:nvSpPr>
          <p:cNvPr id="17" name="Text 12"/>
          <p:cNvSpPr/>
          <p:nvPr/>
        </p:nvSpPr>
        <p:spPr>
          <a:xfrm>
            <a:off x="4436533" y="3467100"/>
            <a:ext cx="34185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7485"/>
                </a:solidFill>
                <a:latin typeface="IBM Plex Sans" pitchFamily="34" charset="0"/>
                <a:ea typeface="IBM Plex Sans" pitchFamily="34" charset="-122"/>
                <a:cs typeface="IBM Plex Sans" pitchFamily="34" charset="-120"/>
              </a:rPr>
              <a:t>Stockage fichier</a:t>
            </a:r>
            <a:endParaRPr lang="en-US" sz="1500" dirty="0"/>
          </a:p>
        </p:txBody>
      </p:sp>
      <p:sp>
        <p:nvSpPr>
          <p:cNvPr id="18" name="Text 13"/>
          <p:cNvSpPr/>
          <p:nvPr/>
        </p:nvSpPr>
        <p:spPr>
          <a:xfrm>
            <a:off x="4436533" y="3784600"/>
            <a:ext cx="341850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Un système de fichiers réseau partagé, monté par plusieurs serveurs en même temps.</a:t>
            </a:r>
            <a:endParaRPr lang="en-US" sz="1200" dirty="0"/>
          </a:p>
        </p:txBody>
      </p:sp>
      <p:sp>
        <p:nvSpPr>
          <p:cNvPr id="19" name="Text 14"/>
          <p:cNvSpPr/>
          <p:nvPr/>
        </p:nvSpPr>
        <p:spPr>
          <a:xfrm>
            <a:off x="4436533" y="4284985"/>
            <a:ext cx="341850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EFS · Azure Files · Filestore</a:t>
            </a:r>
            <a:endParaRPr lang="en-US" sz="1200" dirty="0"/>
          </a:p>
        </p:txBody>
      </p:sp>
      <p:sp>
        <p:nvSpPr>
          <p:cNvPr id="20" name="Text 15"/>
          <p:cNvSpPr/>
          <p:nvPr/>
        </p:nvSpPr>
        <p:spPr>
          <a:xfrm>
            <a:off x="9019117" y="1733550"/>
            <a:ext cx="1257300" cy="325120"/>
          </a:xfrm>
          <a:custGeom>
            <a:avLst/>
            <a:gdLst/>
            <a:ahLst/>
            <a:cxnLst/>
            <a:rect l="l" t="t" r="r" b="b"/>
            <a:pathLst>
              <a:path w="1257300" h="325120">
                <a:moveTo>
                  <a:pt x="57150" y="0"/>
                </a:moveTo>
                <a:lnTo>
                  <a:pt x="1200150" y="0"/>
                </a:lnTo>
                <a:arcTo wR="57150" hR="57150" stAng="16200000" swAng="5400000"/>
                <a:lnTo>
                  <a:pt x="1257300" y="267970"/>
                </a:lnTo>
                <a:arcTo wR="57150" hR="57150" stAng="0" swAng="5400000"/>
                <a:lnTo>
                  <a:pt x="57150" y="325120"/>
                </a:lnTo>
                <a:arcTo wR="57150" hR="57150" stAng="5400000" swAng="5400000"/>
                <a:lnTo>
                  <a:pt x="0" y="57150"/>
                </a:lnTo>
                <a:arcTo wR="57150" hR="57150" stAng="10800000" swAng="5400000"/>
                <a:close/>
              </a:path>
            </a:pathLst>
          </a:custGeom>
          <a:solidFill>
            <a:srgbClr val="FDFCFE"/>
          </a:solidFill>
          <a:ln w="12700">
            <a:solidFill>
              <a:srgbClr val="A65400"/>
            </a:solidFill>
            <a:prstDash val="solid"/>
          </a:ln>
        </p:spPr>
        <p:txBody>
          <a:bodyPr wrap="square" lIns="29210" tIns="67310" rIns="29210" bIns="419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Application</a:t>
            </a:r>
            <a:endParaRPr lang="en-US" sz="1200" dirty="0"/>
          </a:p>
        </p:txBody>
      </p:sp>
      <p:sp>
        <p:nvSpPr>
          <p:cNvPr id="21" name="Text 16"/>
          <p:cNvSpPr/>
          <p:nvPr/>
        </p:nvSpPr>
        <p:spPr>
          <a:xfrm>
            <a:off x="8384117" y="2813050"/>
            <a:ext cx="2527300" cy="325120"/>
          </a:xfrm>
          <a:custGeom>
            <a:avLst/>
            <a:gdLst/>
            <a:ahLst/>
            <a:cxnLst/>
            <a:rect l="l" t="t" r="r" b="b"/>
            <a:pathLst>
              <a:path w="2527300" h="325120">
                <a:moveTo>
                  <a:pt x="57150" y="0"/>
                </a:moveTo>
                <a:lnTo>
                  <a:pt x="2470150" y="0"/>
                </a:lnTo>
                <a:arcTo wR="57150" hR="57150" stAng="16200000" swAng="5400000"/>
                <a:lnTo>
                  <a:pt x="2527300" y="267970"/>
                </a:lnTo>
                <a:arcTo wR="57150" hR="57150" stAng="0" swAng="5400000"/>
                <a:lnTo>
                  <a:pt x="57150" y="325120"/>
                </a:lnTo>
                <a:arcTo wR="57150" hR="57150" stAng="5400000" swAng="5400000"/>
                <a:lnTo>
                  <a:pt x="0" y="57150"/>
                </a:lnTo>
                <a:arcTo wR="57150" hR="57150" stAng="10800000" swAng="5400000"/>
                <a:close/>
              </a:path>
            </a:pathLst>
          </a:custGeom>
          <a:solidFill>
            <a:srgbClr val="FBE5CF"/>
          </a:solidFill>
          <a:ln w="12700">
            <a:solidFill>
              <a:srgbClr val="A65400"/>
            </a:solidFill>
            <a:prstDash val="solid"/>
          </a:ln>
        </p:spPr>
        <p:txBody>
          <a:bodyPr wrap="square" lIns="18339" tIns="67310" rIns="18339" bIns="41910"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Bucket : objets</a:t>
            </a:r>
            <a:endParaRPr lang="en-US" sz="1200" dirty="0"/>
          </a:p>
        </p:txBody>
      </p:sp>
      <p:pic>
        <p:nvPicPr>
          <p:cNvPr id="22" name="Image 3" descr="connector"/>
          <p:cNvPicPr>
            <a:picLocks noChangeAspect="1"/>
          </p:cNvPicPr>
          <p:nvPr/>
        </p:nvPicPr>
        <p:blipFill>
          <a:blip r:embed="rId3"/>
          <a:srcRect/>
          <a:stretch/>
        </p:blipFill>
        <p:spPr>
          <a:xfrm>
            <a:off x="9596967" y="2120900"/>
            <a:ext cx="101600" cy="736600"/>
          </a:xfrm>
          <a:prstGeom prst="rect">
            <a:avLst/>
          </a:prstGeom>
        </p:spPr>
      </p:pic>
      <p:sp>
        <p:nvSpPr>
          <p:cNvPr id="23" name="Text 17"/>
          <p:cNvSpPr/>
          <p:nvPr/>
        </p:nvSpPr>
        <p:spPr>
          <a:xfrm>
            <a:off x="9749367" y="2374900"/>
            <a:ext cx="151130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585"/>
                </a:solidFill>
                <a:latin typeface="IBM Plex Sans" pitchFamily="34" charset="0"/>
                <a:ea typeface="IBM Plex Sans" pitchFamily="34" charset="-122"/>
                <a:cs typeface="IBM Plex Sans" pitchFamily="34" charset="-120"/>
              </a:rPr>
              <a:t>API HTTP</a:t>
            </a:r>
            <a:endParaRPr lang="en-US" sz="1200" dirty="0"/>
          </a:p>
        </p:txBody>
      </p:sp>
      <p:sp>
        <p:nvSpPr>
          <p:cNvPr id="24" name="Text 18"/>
          <p:cNvSpPr/>
          <p:nvPr/>
        </p:nvSpPr>
        <p:spPr>
          <a:xfrm>
            <a:off x="8060267" y="3467100"/>
            <a:ext cx="341850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A65400"/>
                </a:solidFill>
                <a:latin typeface="IBM Plex Sans" pitchFamily="34" charset="0"/>
                <a:ea typeface="IBM Plex Sans" pitchFamily="34" charset="-122"/>
                <a:cs typeface="IBM Plex Sans" pitchFamily="34" charset="-120"/>
              </a:rPr>
              <a:t>Stockage objet</a:t>
            </a:r>
            <a:endParaRPr lang="en-US" sz="1500" dirty="0"/>
          </a:p>
        </p:txBody>
      </p:sp>
      <p:sp>
        <p:nvSpPr>
          <p:cNvPr id="25" name="Text 19"/>
          <p:cNvSpPr/>
          <p:nvPr/>
        </p:nvSpPr>
        <p:spPr>
          <a:xfrm>
            <a:off x="8060267" y="3784600"/>
            <a:ext cx="341850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Des objets et leurs métadonnées, accessibles via une API HTTP, sans limite pratique de volume et peu coûteux.</a:t>
            </a:r>
            <a:endParaRPr lang="en-US" sz="1200" dirty="0"/>
          </a:p>
        </p:txBody>
      </p:sp>
      <p:sp>
        <p:nvSpPr>
          <p:cNvPr id="26" name="Text 20"/>
          <p:cNvSpPr/>
          <p:nvPr/>
        </p:nvSpPr>
        <p:spPr>
          <a:xfrm>
            <a:off x="8060267" y="4490715"/>
            <a:ext cx="341850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S3 · Blob Storage · Cloud Storage</a:t>
            </a:r>
            <a:endParaRPr lang="en-US" sz="1200" dirty="0"/>
          </a:p>
        </p:txBody>
      </p:sp>
      <p:sp>
        <p:nvSpPr>
          <p:cNvPr id="27" name="Text 21"/>
          <p:cNvSpPr/>
          <p:nvPr/>
        </p:nvSpPr>
        <p:spPr>
          <a:xfrm>
            <a:off x="812800" y="4899658"/>
            <a:ext cx="10566400" cy="699770"/>
          </a:xfrm>
          <a:prstGeom prst="roundRect">
            <a:avLst>
              <a:gd name="adj" fmla="val 10889"/>
            </a:avLst>
          </a:prstGeom>
          <a:solidFill>
            <a:srgbClr val="F1EEF7"/>
          </a:solidFill>
          <a:ln/>
        </p:spPr>
        <p:txBody>
          <a:bodyPr wrap="square" lIns="155482" tIns="104682" rIns="0" bIns="79282" rtlCol="0" anchor="t">
            <a:normAutofit/>
          </a:bodyPr>
          <a:lstStyle/>
          <a:p>
            <a:pPr marL="0" indent="0" algn="l">
              <a:lnSpc>
                <a:spcPts val="1755"/>
              </a:lnSpc>
              <a:buNone/>
            </a:pPr>
            <a:r>
              <a:rPr lang="en-US" sz="1300" b="1" dirty="0">
                <a:solidFill>
                  <a:srgbClr val="231B3A"/>
                </a:solidFill>
                <a:latin typeface="IBM Plex Sans" pitchFamily="34" charset="0"/>
                <a:ea typeface="IBM Plex Sans" pitchFamily="34" charset="-122"/>
                <a:cs typeface="IBM Plex Sans" pitchFamily="34" charset="-120"/>
              </a:rPr>
              <a:t>Pour l’IA :</a:t>
            </a:r>
            <a:r>
              <a:rPr lang="en-US" sz="1300" dirty="0">
                <a:solidFill>
                  <a:srgbClr val="231B3A"/>
                </a:solidFill>
                <a:latin typeface="IBM Plex Sans" pitchFamily="34" charset="0"/>
                <a:ea typeface="IBM Plex Sans" pitchFamily="34" charset="-122"/>
                <a:cs typeface="IBM Plex Sans" pitchFamily="34" charset="-120"/>
              </a:rPr>
              <a:t> datasets et modèles vivent presque toujours en stockage objet. Pour un entraînement intensif, on les copie vers un stockage plus rapide (NVMe local, système de fichiers parallèle).</a:t>
            </a:r>
            <a:endParaRPr lang="en-US" sz="1300" dirty="0"/>
          </a:p>
        </p:txBody>
      </p:sp>
      <p:sp>
        <p:nvSpPr>
          <p:cNvPr id="28" name="Text 2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5 · LE STOCKAGE</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La réplication n’est pas une sauvegarde</a:t>
            </a:r>
            <a:endParaRPr lang="en-US" sz="3200" dirty="0"/>
          </a:p>
        </p:txBody>
      </p:sp>
      <p:sp>
        <p:nvSpPr>
          <p:cNvPr id="4" name="Shape 2"/>
          <p:cNvSpPr/>
          <p:nvPr/>
        </p:nvSpPr>
        <p:spPr>
          <a:xfrm>
            <a:off x="812800" y="1727200"/>
            <a:ext cx="10566400" cy="2103120"/>
          </a:xfrm>
          <a:prstGeom prst="roundRect">
            <a:avLst>
              <a:gd name="adj" fmla="val 4831"/>
            </a:avLst>
          </a:prstGeom>
          <a:solidFill>
            <a:srgbClr val="F1EEF7"/>
          </a:solidFill>
          <a:ln/>
        </p:spPr>
        <p:txBody>
          <a:bodyPr/>
          <a:lstStyle/>
          <a:p>
            <a:endParaRPr lang="fr-FR"/>
          </a:p>
        </p:txBody>
      </p:sp>
      <p:sp>
        <p:nvSpPr>
          <p:cNvPr id="5" name="Text 3"/>
          <p:cNvSpPr/>
          <p:nvPr/>
        </p:nvSpPr>
        <p:spPr>
          <a:xfrm>
            <a:off x="1066800" y="2213297"/>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5B2E9E"/>
                </a:solidFill>
                <a:latin typeface="IBM Plex Sans" pitchFamily="34" charset="0"/>
                <a:ea typeface="IBM Plex Sans" pitchFamily="34" charset="-122"/>
                <a:cs typeface="IBM Plex Sans" pitchFamily="34" charset="-120"/>
              </a:rPr>
              <a:t>Réplication seule</a:t>
            </a:r>
            <a:endParaRPr lang="en-US" sz="1300" dirty="0"/>
          </a:p>
        </p:txBody>
      </p:sp>
      <p:sp>
        <p:nvSpPr>
          <p:cNvPr id="6" name="Text 4"/>
          <p:cNvSpPr/>
          <p:nvPr/>
        </p:nvSpPr>
        <p:spPr>
          <a:xfrm>
            <a:off x="2762250" y="1987550"/>
            <a:ext cx="2438400" cy="657860"/>
          </a:xfrm>
          <a:prstGeom prst="roundRect">
            <a:avLst>
              <a:gd name="adj" fmla="val 10618"/>
            </a:avLst>
          </a:prstGeom>
          <a:solidFill>
            <a:srgbClr val="FDFCFE"/>
          </a:solidFill>
          <a:ln w="12700">
            <a:solidFill>
              <a:srgbClr val="5B2E9E"/>
            </a:solidFill>
            <a:prstDash val="solid"/>
          </a:ln>
        </p:spPr>
        <p:txBody>
          <a:bodyPr wrap="square" lIns="51538" tIns="110352" rIns="51538" bIns="84952" rtlCol="0" anchor="t">
            <a:normAutofit/>
          </a:bodyPr>
          <a:lstStyle/>
          <a:p>
            <a:pPr marL="0" indent="0" algn="ctr">
              <a:lnSpc>
                <a:spcPts val="1560"/>
              </a:lnSpc>
              <a:buNone/>
            </a:pPr>
            <a:r>
              <a:rPr lang="en-US" sz="1200" b="1" dirty="0">
                <a:solidFill>
                  <a:srgbClr val="231B3A"/>
                </a:solidFill>
                <a:latin typeface="IBM Plex Sans" pitchFamily="34" charset="0"/>
                <a:ea typeface="IBM Plex Sans" pitchFamily="34" charset="-122"/>
                <a:cs typeface="IBM Plex Sans" pitchFamily="34" charset="-120"/>
              </a:rPr>
              <a:t>Fichier écrit : 3 copies sur 3 serveurs</a:t>
            </a:r>
            <a:endParaRPr lang="en-US" sz="1200" dirty="0"/>
          </a:p>
        </p:txBody>
      </p:sp>
      <p:pic>
        <p:nvPicPr>
          <p:cNvPr id="7" name="Image 0" descr="connector"/>
          <p:cNvPicPr>
            <a:picLocks noChangeAspect="1"/>
          </p:cNvPicPr>
          <p:nvPr/>
        </p:nvPicPr>
        <p:blipFill>
          <a:blip r:embed="rId3"/>
          <a:srcRect/>
          <a:stretch/>
        </p:blipFill>
        <p:spPr>
          <a:xfrm>
            <a:off x="5308600" y="2265685"/>
            <a:ext cx="304800" cy="101600"/>
          </a:xfrm>
          <a:prstGeom prst="rect">
            <a:avLst/>
          </a:prstGeom>
        </p:spPr>
      </p:pic>
      <p:sp>
        <p:nvSpPr>
          <p:cNvPr id="8" name="Text 5"/>
          <p:cNvSpPr/>
          <p:nvPr/>
        </p:nvSpPr>
        <p:spPr>
          <a:xfrm>
            <a:off x="5721350" y="2086608"/>
            <a:ext cx="2438400" cy="459740"/>
          </a:xfrm>
          <a:prstGeom prst="roundRect">
            <a:avLst>
              <a:gd name="adj" fmla="val 15193"/>
            </a:avLst>
          </a:prstGeom>
          <a:solidFill>
            <a:srgbClr val="FDFCFE"/>
          </a:solidFill>
          <a:ln w="12700">
            <a:solidFill>
              <a:srgbClr val="6B6585"/>
            </a:solidFill>
            <a:prstDash val="solid"/>
          </a:ln>
        </p:spPr>
        <p:txBody>
          <a:bodyPr wrap="square" lIns="51538" tIns="110352" rIns="51538" bIns="84952" rtlCol="0" anchor="t">
            <a:normAutofit/>
          </a:bodyPr>
          <a:lstStyle/>
          <a:p>
            <a:pPr marL="0" indent="0" algn="ctr">
              <a:lnSpc>
                <a:spcPts val="1560"/>
              </a:lnSpc>
              <a:buNone/>
            </a:pPr>
            <a:r>
              <a:rPr lang="en-US" sz="1200" b="1" dirty="0">
                <a:solidFill>
                  <a:srgbClr val="231B3A"/>
                </a:solidFill>
                <a:latin typeface="IBM Plex Sans" pitchFamily="34" charset="0"/>
                <a:ea typeface="IBM Plex Sans" pitchFamily="34" charset="-122"/>
                <a:cs typeface="IBM Plex Sans" pitchFamily="34" charset="-120"/>
              </a:rPr>
              <a:t>Suppression accidentelle</a:t>
            </a:r>
            <a:endParaRPr lang="en-US" sz="1200" dirty="0"/>
          </a:p>
        </p:txBody>
      </p:sp>
      <p:pic>
        <p:nvPicPr>
          <p:cNvPr id="9" name="Image 1" descr="connector"/>
          <p:cNvPicPr>
            <a:picLocks noChangeAspect="1"/>
          </p:cNvPicPr>
          <p:nvPr/>
        </p:nvPicPr>
        <p:blipFill>
          <a:blip r:embed="rId3"/>
          <a:srcRect/>
          <a:stretch/>
        </p:blipFill>
        <p:spPr>
          <a:xfrm>
            <a:off x="8267700" y="2265685"/>
            <a:ext cx="304800" cy="101600"/>
          </a:xfrm>
          <a:prstGeom prst="rect">
            <a:avLst/>
          </a:prstGeom>
        </p:spPr>
      </p:pic>
      <p:sp>
        <p:nvSpPr>
          <p:cNvPr id="10" name="Text 6"/>
          <p:cNvSpPr/>
          <p:nvPr/>
        </p:nvSpPr>
        <p:spPr>
          <a:xfrm>
            <a:off x="8680450" y="1987550"/>
            <a:ext cx="2438400" cy="657860"/>
          </a:xfrm>
          <a:prstGeom prst="roundRect">
            <a:avLst>
              <a:gd name="adj" fmla="val 10618"/>
            </a:avLst>
          </a:prstGeom>
          <a:solidFill>
            <a:srgbClr val="FBE5CF"/>
          </a:solidFill>
          <a:ln w="12700">
            <a:solidFill>
              <a:srgbClr val="A65400"/>
            </a:solidFill>
            <a:prstDash val="solid"/>
          </a:ln>
        </p:spPr>
        <p:txBody>
          <a:bodyPr wrap="square" lIns="51538" tIns="110352" rIns="51538" bIns="84952" rtlCol="0" anchor="t">
            <a:normAutofit/>
          </a:bodyPr>
          <a:lstStyle/>
          <a:p>
            <a:pPr marL="0" indent="0" algn="ctr">
              <a:lnSpc>
                <a:spcPts val="1560"/>
              </a:lnSpc>
              <a:buNone/>
            </a:pPr>
            <a:r>
              <a:rPr lang="en-US" sz="1200" b="1" dirty="0">
                <a:solidFill>
                  <a:srgbClr val="231B3A"/>
                </a:solidFill>
                <a:latin typeface="IBM Plex Sans" pitchFamily="34" charset="0"/>
                <a:ea typeface="IBM Plex Sans" pitchFamily="34" charset="-122"/>
                <a:cs typeface="IBM Plex Sans" pitchFamily="34" charset="-120"/>
              </a:rPr>
              <a:t>Supprimé sur les 3 copies : données perdues</a:t>
            </a:r>
            <a:endParaRPr lang="en-US" sz="1200" dirty="0"/>
          </a:p>
        </p:txBody>
      </p:sp>
      <p:sp>
        <p:nvSpPr>
          <p:cNvPr id="11" name="Text 7"/>
          <p:cNvSpPr/>
          <p:nvPr/>
        </p:nvSpPr>
        <p:spPr>
          <a:xfrm>
            <a:off x="1066800" y="30346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37485"/>
                </a:solidFill>
                <a:latin typeface="IBM Plex Sans" pitchFamily="34" charset="0"/>
                <a:ea typeface="IBM Plex Sans" pitchFamily="34" charset="-122"/>
                <a:cs typeface="IBM Plex Sans" pitchFamily="34" charset="-120"/>
              </a:rPr>
              <a:t>Avec snapshot ou versioning</a:t>
            </a:r>
            <a:endParaRPr lang="en-US" sz="1300" dirty="0"/>
          </a:p>
        </p:txBody>
      </p:sp>
      <p:sp>
        <p:nvSpPr>
          <p:cNvPr id="12" name="Text 8"/>
          <p:cNvSpPr/>
          <p:nvPr/>
        </p:nvSpPr>
        <p:spPr>
          <a:xfrm>
            <a:off x="2762250" y="3011165"/>
            <a:ext cx="2438400" cy="459740"/>
          </a:xfrm>
          <a:prstGeom prst="roundRect">
            <a:avLst>
              <a:gd name="adj" fmla="val 15193"/>
            </a:avLst>
          </a:prstGeom>
          <a:solidFill>
            <a:srgbClr val="FDFCFE"/>
          </a:solidFill>
          <a:ln w="12700">
            <a:solidFill>
              <a:srgbClr val="137485"/>
            </a:solidFill>
            <a:prstDash val="solid"/>
          </a:ln>
        </p:spPr>
        <p:txBody>
          <a:bodyPr wrap="square" lIns="51538" tIns="110352" rIns="51538" bIns="84952" rtlCol="0" anchor="t">
            <a:normAutofit/>
          </a:bodyPr>
          <a:lstStyle/>
          <a:p>
            <a:pPr marL="0" indent="0" algn="ctr">
              <a:lnSpc>
                <a:spcPts val="1560"/>
              </a:lnSpc>
              <a:buNone/>
            </a:pPr>
            <a:r>
              <a:rPr lang="en-US" sz="1200" b="1" dirty="0">
                <a:solidFill>
                  <a:srgbClr val="231B3A"/>
                </a:solidFill>
                <a:latin typeface="IBM Plex Sans" pitchFamily="34" charset="0"/>
                <a:ea typeface="IBM Plex Sans" pitchFamily="34" charset="-122"/>
                <a:cs typeface="IBM Plex Sans" pitchFamily="34" charset="-120"/>
              </a:rPr>
              <a:t>Snapshot : copie à l’instant T</a:t>
            </a:r>
            <a:endParaRPr lang="en-US" sz="1200" dirty="0"/>
          </a:p>
        </p:txBody>
      </p:sp>
      <p:pic>
        <p:nvPicPr>
          <p:cNvPr id="13" name="Image 2" descr="connector"/>
          <p:cNvPicPr>
            <a:picLocks noChangeAspect="1"/>
          </p:cNvPicPr>
          <p:nvPr/>
        </p:nvPicPr>
        <p:blipFill>
          <a:blip r:embed="rId3"/>
          <a:srcRect/>
          <a:stretch/>
        </p:blipFill>
        <p:spPr>
          <a:xfrm>
            <a:off x="5308600" y="3190242"/>
            <a:ext cx="304800" cy="101600"/>
          </a:xfrm>
          <a:prstGeom prst="rect">
            <a:avLst/>
          </a:prstGeom>
        </p:spPr>
      </p:pic>
      <p:sp>
        <p:nvSpPr>
          <p:cNvPr id="14" name="Text 9"/>
          <p:cNvSpPr/>
          <p:nvPr/>
        </p:nvSpPr>
        <p:spPr>
          <a:xfrm>
            <a:off x="5721350" y="3011165"/>
            <a:ext cx="2438400" cy="459740"/>
          </a:xfrm>
          <a:prstGeom prst="roundRect">
            <a:avLst>
              <a:gd name="adj" fmla="val 15193"/>
            </a:avLst>
          </a:prstGeom>
          <a:solidFill>
            <a:srgbClr val="FDFCFE"/>
          </a:solidFill>
          <a:ln w="12700">
            <a:solidFill>
              <a:srgbClr val="6B6585"/>
            </a:solidFill>
            <a:prstDash val="solid"/>
          </a:ln>
        </p:spPr>
        <p:txBody>
          <a:bodyPr wrap="square" lIns="51538" tIns="110352" rIns="51538" bIns="84952" rtlCol="0" anchor="t">
            <a:normAutofit/>
          </a:bodyPr>
          <a:lstStyle/>
          <a:p>
            <a:pPr marL="0" indent="0" algn="ctr">
              <a:lnSpc>
                <a:spcPts val="1560"/>
              </a:lnSpc>
              <a:buNone/>
            </a:pPr>
            <a:r>
              <a:rPr lang="en-US" sz="1200" b="1" dirty="0">
                <a:solidFill>
                  <a:srgbClr val="231B3A"/>
                </a:solidFill>
                <a:latin typeface="IBM Plex Sans" pitchFamily="34" charset="0"/>
                <a:ea typeface="IBM Plex Sans" pitchFamily="34" charset="-122"/>
                <a:cs typeface="IBM Plex Sans" pitchFamily="34" charset="-120"/>
              </a:rPr>
              <a:t>Suppression accidentelle</a:t>
            </a:r>
            <a:endParaRPr lang="en-US" sz="1200" dirty="0"/>
          </a:p>
        </p:txBody>
      </p:sp>
      <p:pic>
        <p:nvPicPr>
          <p:cNvPr id="15" name="Image 3" descr="connector"/>
          <p:cNvPicPr>
            <a:picLocks noChangeAspect="1"/>
          </p:cNvPicPr>
          <p:nvPr/>
        </p:nvPicPr>
        <p:blipFill>
          <a:blip r:embed="rId3"/>
          <a:srcRect/>
          <a:stretch/>
        </p:blipFill>
        <p:spPr>
          <a:xfrm>
            <a:off x="8267700" y="3190242"/>
            <a:ext cx="304800" cy="101600"/>
          </a:xfrm>
          <a:prstGeom prst="rect">
            <a:avLst/>
          </a:prstGeom>
        </p:spPr>
      </p:pic>
      <p:sp>
        <p:nvSpPr>
          <p:cNvPr id="16" name="Text 10"/>
          <p:cNvSpPr/>
          <p:nvPr/>
        </p:nvSpPr>
        <p:spPr>
          <a:xfrm>
            <a:off x="8680450" y="2912108"/>
            <a:ext cx="2438400" cy="657860"/>
          </a:xfrm>
          <a:prstGeom prst="roundRect">
            <a:avLst>
              <a:gd name="adj" fmla="val 10618"/>
            </a:avLst>
          </a:prstGeom>
          <a:solidFill>
            <a:srgbClr val="D3EDF1"/>
          </a:solidFill>
          <a:ln w="12700">
            <a:solidFill>
              <a:srgbClr val="137485"/>
            </a:solidFill>
            <a:prstDash val="solid"/>
          </a:ln>
        </p:spPr>
        <p:txBody>
          <a:bodyPr wrap="square" lIns="51538" tIns="110352" rIns="51538" bIns="84952" rtlCol="0" anchor="t">
            <a:normAutofit/>
          </a:bodyPr>
          <a:lstStyle/>
          <a:p>
            <a:pPr marL="0" indent="0" algn="ctr">
              <a:lnSpc>
                <a:spcPts val="1560"/>
              </a:lnSpc>
              <a:buNone/>
            </a:pPr>
            <a:r>
              <a:rPr lang="en-US" sz="1200" b="1" dirty="0">
                <a:solidFill>
                  <a:srgbClr val="231B3A"/>
                </a:solidFill>
                <a:latin typeface="IBM Plex Sans" pitchFamily="34" charset="0"/>
                <a:ea typeface="IBM Plex Sans" pitchFamily="34" charset="-122"/>
                <a:cs typeface="IBM Plex Sans" pitchFamily="34" charset="-120"/>
              </a:rPr>
              <a:t>Restauration depuis le snapshot : données récupérées</a:t>
            </a:r>
            <a:endParaRPr lang="en-US" sz="1200" dirty="0"/>
          </a:p>
        </p:txBody>
      </p:sp>
      <p:sp>
        <p:nvSpPr>
          <p:cNvPr id="17" name="Shape 11"/>
          <p:cNvSpPr/>
          <p:nvPr/>
        </p:nvSpPr>
        <p:spPr>
          <a:xfrm>
            <a:off x="812800" y="4033515"/>
            <a:ext cx="5181600" cy="1262380"/>
          </a:xfrm>
          <a:prstGeom prst="roundRect">
            <a:avLst>
              <a:gd name="adj" fmla="val 8048"/>
            </a:avLst>
          </a:prstGeom>
          <a:solidFill>
            <a:srgbClr val="ECE7F6"/>
          </a:solidFill>
          <a:ln/>
        </p:spPr>
        <p:txBody>
          <a:bodyPr/>
          <a:lstStyle/>
          <a:p>
            <a:endParaRPr lang="fr-FR"/>
          </a:p>
        </p:txBody>
      </p:sp>
      <p:sp>
        <p:nvSpPr>
          <p:cNvPr id="18" name="Text 12"/>
          <p:cNvSpPr/>
          <p:nvPr/>
        </p:nvSpPr>
        <p:spPr>
          <a:xfrm>
            <a:off x="990600" y="4211315"/>
            <a:ext cx="49707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Réplication</a:t>
            </a:r>
            <a:endParaRPr lang="en-US" sz="1400" dirty="0"/>
          </a:p>
        </p:txBody>
      </p:sp>
      <p:sp>
        <p:nvSpPr>
          <p:cNvPr id="19" name="Text 13"/>
          <p:cNvSpPr/>
          <p:nvPr/>
        </p:nvSpPr>
        <p:spPr>
          <a:xfrm>
            <a:off x="990600" y="4500885"/>
            <a:ext cx="49707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Copie en continu sur plusieurs serveurs ou zones. Protège contre une </a:t>
            </a:r>
            <a:r>
              <a:rPr lang="en-US" sz="1200" b="1" dirty="0">
                <a:solidFill>
                  <a:srgbClr val="4A4462"/>
                </a:solidFill>
                <a:latin typeface="IBM Plex Sans" pitchFamily="34" charset="0"/>
                <a:ea typeface="IBM Plex Sans" pitchFamily="34" charset="-122"/>
                <a:cs typeface="IBM Plex Sans" pitchFamily="34" charset="-120"/>
              </a:rPr>
              <a:t>panne</a:t>
            </a:r>
            <a:r>
              <a:rPr lang="en-US" sz="1200" dirty="0">
                <a:solidFill>
                  <a:srgbClr val="4A4462"/>
                </a:solidFill>
                <a:latin typeface="IBM Plex Sans" pitchFamily="34" charset="0"/>
                <a:ea typeface="IBM Plex Sans" pitchFamily="34" charset="-122"/>
                <a:cs typeface="IBM Plex Sans" pitchFamily="34" charset="-120"/>
              </a:rPr>
              <a:t> : c’est de la disponibilité.</a:t>
            </a:r>
            <a:endParaRPr lang="en-US" sz="1200" dirty="0"/>
          </a:p>
        </p:txBody>
      </p:sp>
      <p:sp>
        <p:nvSpPr>
          <p:cNvPr id="20" name="Shape 14"/>
          <p:cNvSpPr/>
          <p:nvPr/>
        </p:nvSpPr>
        <p:spPr>
          <a:xfrm>
            <a:off x="6197600" y="4033515"/>
            <a:ext cx="5181600" cy="1262380"/>
          </a:xfrm>
          <a:prstGeom prst="roundRect">
            <a:avLst>
              <a:gd name="adj" fmla="val 8048"/>
            </a:avLst>
          </a:prstGeom>
          <a:solidFill>
            <a:srgbClr val="D3EDF1"/>
          </a:solidFill>
          <a:ln/>
        </p:spPr>
        <p:txBody>
          <a:bodyPr/>
          <a:lstStyle/>
          <a:p>
            <a:endParaRPr lang="fr-FR"/>
          </a:p>
        </p:txBody>
      </p:sp>
      <p:sp>
        <p:nvSpPr>
          <p:cNvPr id="21" name="Text 15"/>
          <p:cNvSpPr/>
          <p:nvPr/>
        </p:nvSpPr>
        <p:spPr>
          <a:xfrm>
            <a:off x="6375400" y="4211315"/>
            <a:ext cx="49707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Sauvegarde</a:t>
            </a:r>
            <a:endParaRPr lang="en-US" sz="1400" dirty="0"/>
          </a:p>
        </p:txBody>
      </p:sp>
      <p:sp>
        <p:nvSpPr>
          <p:cNvPr id="22" name="Text 16"/>
          <p:cNvSpPr/>
          <p:nvPr/>
        </p:nvSpPr>
        <p:spPr>
          <a:xfrm>
            <a:off x="6375400" y="4500885"/>
            <a:ext cx="497078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Snapshots (copie d’un volume à un instant T) ou versioning d’un bucket (historique de chaque objet). Protège contre une </a:t>
            </a:r>
            <a:r>
              <a:rPr lang="en-US" sz="1200" b="1" dirty="0">
                <a:solidFill>
                  <a:srgbClr val="4A4462"/>
                </a:solidFill>
                <a:latin typeface="IBM Plex Sans" pitchFamily="34" charset="0"/>
                <a:ea typeface="IBM Plex Sans" pitchFamily="34" charset="-122"/>
                <a:cs typeface="IBM Plex Sans" pitchFamily="34" charset="-120"/>
              </a:rPr>
              <a:t>erreur</a:t>
            </a:r>
            <a:r>
              <a:rPr lang="en-US" sz="1200" dirty="0">
                <a:solidFill>
                  <a:srgbClr val="4A4462"/>
                </a:solidFill>
                <a:latin typeface="IBM Plex Sans" pitchFamily="34" charset="0"/>
                <a:ea typeface="IBM Plex Sans" pitchFamily="34" charset="-122"/>
                <a:cs typeface="IBM Plex Sans" pitchFamily="34" charset="-120"/>
              </a:rPr>
              <a:t> ou une corruption.</a:t>
            </a:r>
            <a:endParaRPr lang="en-US" sz="1200" dirty="0"/>
          </a:p>
        </p:txBody>
      </p:sp>
      <p:sp>
        <p:nvSpPr>
          <p:cNvPr id="23" name="Text 17"/>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0823"/>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137485"/>
                </a:solidFill>
                <a:latin typeface="IBM Plex Sans" pitchFamily="34" charset="0"/>
                <a:ea typeface="IBM Plex Sans" pitchFamily="34" charset="-122"/>
                <a:cs typeface="IBM Plex Sans" pitchFamily="34" charset="-120"/>
              </a:rPr>
              <a:t>5 · LE STOCKAGE</a:t>
            </a:r>
            <a:endParaRPr lang="en-US" sz="1159" dirty="0"/>
          </a:p>
        </p:txBody>
      </p:sp>
      <p:sp>
        <p:nvSpPr>
          <p:cNvPr id="3" name="Text 1"/>
          <p:cNvSpPr>
            <a:spLocks noGrp="1"/>
          </p:cNvSpPr>
          <p:nvPr>
            <p:ph type="title"/>
          </p:nvPr>
        </p:nvSpPr>
        <p:spPr>
          <a:xfrm>
            <a:off x="812800" y="1069020"/>
            <a:ext cx="10883392" cy="886142"/>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231B3A"/>
                </a:solidFill>
                <a:latin typeface="IBM Plex Sans" pitchFamily="34" charset="0"/>
                <a:ea typeface="IBM Plex Sans" pitchFamily="34" charset="-122"/>
                <a:cs typeface="IBM Plex Sans" pitchFamily="34" charset="-120"/>
              </a:rPr>
              <a:t>Base de données : à gérer soi-même ou en service managé ?</a:t>
            </a:r>
            <a:endParaRPr lang="en-US" sz="3100" dirty="0"/>
          </a:p>
        </p:txBody>
      </p:sp>
      <p:sp>
        <p:nvSpPr>
          <p:cNvPr id="4" name="Text 2"/>
          <p:cNvSpPr/>
          <p:nvPr/>
        </p:nvSpPr>
        <p:spPr>
          <a:xfrm>
            <a:off x="812800" y="2132967"/>
            <a:ext cx="5232400" cy="245322"/>
          </a:xfrm>
          <a:prstGeom prst="rect">
            <a:avLst/>
          </a:prstGeom>
          <a:noFill/>
          <a:ln/>
        </p:spPr>
        <p:txBody>
          <a:bodyPr wrap="square" lIns="0" tIns="0" rIns="0" bIns="0" rtlCol="0" anchor="t">
            <a:normAutofit/>
          </a:bodyPr>
          <a:lstStyle/>
          <a:p>
            <a:pPr marL="0" indent="0" algn="l">
              <a:lnSpc>
                <a:spcPts val="1772"/>
              </a:lnSpc>
              <a:buNone/>
            </a:pPr>
            <a:r>
              <a:rPr lang="en-US" sz="1477" b="1" dirty="0">
                <a:solidFill>
                  <a:srgbClr val="5B2E9E"/>
                </a:solidFill>
                <a:latin typeface="IBM Plex Sans" pitchFamily="34" charset="0"/>
                <a:ea typeface="IBM Plex Sans" pitchFamily="34" charset="-122"/>
                <a:cs typeface="IBM Plex Sans" pitchFamily="34" charset="-120"/>
              </a:rPr>
              <a:t>Sur une VM (ex. MySQL installé)</a:t>
            </a:r>
            <a:endParaRPr lang="en-US" sz="1477" dirty="0"/>
          </a:p>
        </p:txBody>
      </p:sp>
      <p:sp>
        <p:nvSpPr>
          <p:cNvPr id="5" name="Shape 3"/>
          <p:cNvSpPr/>
          <p:nvPr/>
        </p:nvSpPr>
        <p:spPr>
          <a:xfrm>
            <a:off x="815975" y="2470361"/>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6" name="Text 4"/>
          <p:cNvSpPr/>
          <p:nvPr/>
        </p:nvSpPr>
        <p:spPr>
          <a:xfrm>
            <a:off x="919480" y="2548466"/>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Schéma et requêtes</a:t>
            </a:r>
            <a:endParaRPr lang="en-US" sz="1200" dirty="0"/>
          </a:p>
        </p:txBody>
      </p:sp>
      <p:sp>
        <p:nvSpPr>
          <p:cNvPr id="7" name="Shape 5"/>
          <p:cNvSpPr/>
          <p:nvPr/>
        </p:nvSpPr>
        <p:spPr>
          <a:xfrm>
            <a:off x="3797300" y="2467186"/>
            <a:ext cx="2095500" cy="359939"/>
          </a:xfrm>
          <a:prstGeom prst="roundRect">
            <a:avLst>
              <a:gd name="adj" fmla="val 14114"/>
            </a:avLst>
          </a:prstGeom>
          <a:solidFill>
            <a:srgbClr val="D3EDF1"/>
          </a:solidFill>
          <a:ln/>
        </p:spPr>
        <p:txBody>
          <a:bodyPr/>
          <a:lstStyle/>
          <a:p>
            <a:endParaRPr lang="fr-FR"/>
          </a:p>
        </p:txBody>
      </p:sp>
      <p:sp>
        <p:nvSpPr>
          <p:cNvPr id="8" name="Text 6"/>
          <p:cNvSpPr/>
          <p:nvPr/>
        </p:nvSpPr>
        <p:spPr>
          <a:xfrm>
            <a:off x="3870516" y="2543386"/>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9" name="Shape 7"/>
          <p:cNvSpPr/>
          <p:nvPr/>
        </p:nvSpPr>
        <p:spPr>
          <a:xfrm>
            <a:off x="815975" y="2881102"/>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10" name="Text 8"/>
          <p:cNvSpPr/>
          <p:nvPr/>
        </p:nvSpPr>
        <p:spPr>
          <a:xfrm>
            <a:off x="919480" y="2959207"/>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Paramétrage fin</a:t>
            </a:r>
            <a:endParaRPr lang="en-US" sz="1200" dirty="0"/>
          </a:p>
        </p:txBody>
      </p:sp>
      <p:sp>
        <p:nvSpPr>
          <p:cNvPr id="11" name="Shape 9"/>
          <p:cNvSpPr/>
          <p:nvPr/>
        </p:nvSpPr>
        <p:spPr>
          <a:xfrm>
            <a:off x="3797300" y="2877927"/>
            <a:ext cx="2095500" cy="359939"/>
          </a:xfrm>
          <a:prstGeom prst="roundRect">
            <a:avLst>
              <a:gd name="adj" fmla="val 14114"/>
            </a:avLst>
          </a:prstGeom>
          <a:solidFill>
            <a:srgbClr val="D3EDF1"/>
          </a:solidFill>
          <a:ln/>
        </p:spPr>
        <p:txBody>
          <a:bodyPr/>
          <a:lstStyle/>
          <a:p>
            <a:endParaRPr lang="fr-FR"/>
          </a:p>
        </p:txBody>
      </p:sp>
      <p:sp>
        <p:nvSpPr>
          <p:cNvPr id="12" name="Text 10"/>
          <p:cNvSpPr/>
          <p:nvPr/>
        </p:nvSpPr>
        <p:spPr>
          <a:xfrm>
            <a:off x="3870516" y="2954127"/>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3" name="Shape 11"/>
          <p:cNvSpPr/>
          <p:nvPr/>
        </p:nvSpPr>
        <p:spPr>
          <a:xfrm>
            <a:off x="815975" y="3291842"/>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14" name="Text 12"/>
          <p:cNvSpPr/>
          <p:nvPr/>
        </p:nvSpPr>
        <p:spPr>
          <a:xfrm>
            <a:off x="919480" y="3369947"/>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Sauvegardes et réplication</a:t>
            </a:r>
            <a:endParaRPr lang="en-US" sz="1200" dirty="0"/>
          </a:p>
        </p:txBody>
      </p:sp>
      <p:sp>
        <p:nvSpPr>
          <p:cNvPr id="15" name="Shape 13"/>
          <p:cNvSpPr/>
          <p:nvPr/>
        </p:nvSpPr>
        <p:spPr>
          <a:xfrm>
            <a:off x="3797300" y="3288667"/>
            <a:ext cx="2095500" cy="359939"/>
          </a:xfrm>
          <a:prstGeom prst="roundRect">
            <a:avLst>
              <a:gd name="adj" fmla="val 14114"/>
            </a:avLst>
          </a:prstGeom>
          <a:solidFill>
            <a:srgbClr val="D3EDF1"/>
          </a:solidFill>
          <a:ln/>
        </p:spPr>
        <p:txBody>
          <a:bodyPr/>
          <a:lstStyle/>
          <a:p>
            <a:endParaRPr lang="fr-FR"/>
          </a:p>
        </p:txBody>
      </p:sp>
      <p:sp>
        <p:nvSpPr>
          <p:cNvPr id="16" name="Text 14"/>
          <p:cNvSpPr/>
          <p:nvPr/>
        </p:nvSpPr>
        <p:spPr>
          <a:xfrm>
            <a:off x="3870516" y="3364867"/>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17" name="Shape 15"/>
          <p:cNvSpPr/>
          <p:nvPr/>
        </p:nvSpPr>
        <p:spPr>
          <a:xfrm>
            <a:off x="815975" y="3702583"/>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18" name="Text 16"/>
          <p:cNvSpPr/>
          <p:nvPr/>
        </p:nvSpPr>
        <p:spPr>
          <a:xfrm>
            <a:off x="919480" y="3780688"/>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Mises à jour du moteur</a:t>
            </a:r>
            <a:endParaRPr lang="en-US" sz="1200" dirty="0"/>
          </a:p>
        </p:txBody>
      </p:sp>
      <p:sp>
        <p:nvSpPr>
          <p:cNvPr id="19" name="Shape 17"/>
          <p:cNvSpPr/>
          <p:nvPr/>
        </p:nvSpPr>
        <p:spPr>
          <a:xfrm>
            <a:off x="3797300" y="3699408"/>
            <a:ext cx="2095500" cy="359939"/>
          </a:xfrm>
          <a:prstGeom prst="roundRect">
            <a:avLst>
              <a:gd name="adj" fmla="val 14114"/>
            </a:avLst>
          </a:prstGeom>
          <a:solidFill>
            <a:srgbClr val="D3EDF1"/>
          </a:solidFill>
          <a:ln/>
        </p:spPr>
        <p:txBody>
          <a:bodyPr/>
          <a:lstStyle/>
          <a:p>
            <a:endParaRPr lang="fr-FR"/>
          </a:p>
        </p:txBody>
      </p:sp>
      <p:sp>
        <p:nvSpPr>
          <p:cNvPr id="20" name="Text 18"/>
          <p:cNvSpPr/>
          <p:nvPr/>
        </p:nvSpPr>
        <p:spPr>
          <a:xfrm>
            <a:off x="3870516" y="3775608"/>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21" name="Shape 19"/>
          <p:cNvSpPr/>
          <p:nvPr/>
        </p:nvSpPr>
        <p:spPr>
          <a:xfrm>
            <a:off x="815975" y="4113324"/>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22" name="Text 20"/>
          <p:cNvSpPr/>
          <p:nvPr/>
        </p:nvSpPr>
        <p:spPr>
          <a:xfrm>
            <a:off x="919480" y="4191429"/>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Système d’exploitation</a:t>
            </a:r>
            <a:endParaRPr lang="en-US" sz="1200" dirty="0"/>
          </a:p>
        </p:txBody>
      </p:sp>
      <p:sp>
        <p:nvSpPr>
          <p:cNvPr id="23" name="Shape 21"/>
          <p:cNvSpPr/>
          <p:nvPr/>
        </p:nvSpPr>
        <p:spPr>
          <a:xfrm>
            <a:off x="3797300" y="4110149"/>
            <a:ext cx="2095500" cy="359939"/>
          </a:xfrm>
          <a:prstGeom prst="roundRect">
            <a:avLst>
              <a:gd name="adj" fmla="val 14114"/>
            </a:avLst>
          </a:prstGeom>
          <a:solidFill>
            <a:srgbClr val="D3EDF1"/>
          </a:solidFill>
          <a:ln/>
        </p:spPr>
        <p:txBody>
          <a:bodyPr/>
          <a:lstStyle/>
          <a:p>
            <a:endParaRPr lang="fr-FR"/>
          </a:p>
        </p:txBody>
      </p:sp>
      <p:sp>
        <p:nvSpPr>
          <p:cNvPr id="24" name="Text 22"/>
          <p:cNvSpPr/>
          <p:nvPr/>
        </p:nvSpPr>
        <p:spPr>
          <a:xfrm>
            <a:off x="3870516" y="4186349"/>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25" name="Shape 23"/>
          <p:cNvSpPr/>
          <p:nvPr/>
        </p:nvSpPr>
        <p:spPr>
          <a:xfrm>
            <a:off x="815975" y="4524053"/>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26" name="Text 24"/>
          <p:cNvSpPr/>
          <p:nvPr/>
        </p:nvSpPr>
        <p:spPr>
          <a:xfrm>
            <a:off x="919480" y="4602158"/>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Serveur</a:t>
            </a:r>
            <a:endParaRPr lang="en-US" sz="1200" dirty="0"/>
          </a:p>
        </p:txBody>
      </p:sp>
      <p:sp>
        <p:nvSpPr>
          <p:cNvPr id="27" name="Shape 25"/>
          <p:cNvSpPr/>
          <p:nvPr/>
        </p:nvSpPr>
        <p:spPr>
          <a:xfrm>
            <a:off x="3797300" y="4520878"/>
            <a:ext cx="2095500" cy="359939"/>
          </a:xfrm>
          <a:prstGeom prst="roundRect">
            <a:avLst>
              <a:gd name="adj" fmla="val 14114"/>
            </a:avLst>
          </a:prstGeom>
          <a:solidFill>
            <a:srgbClr val="5B2E9E"/>
          </a:solidFill>
          <a:ln/>
        </p:spPr>
        <p:txBody>
          <a:bodyPr/>
          <a:lstStyle/>
          <a:p>
            <a:endParaRPr lang="fr-FR"/>
          </a:p>
        </p:txBody>
      </p:sp>
      <p:sp>
        <p:nvSpPr>
          <p:cNvPr id="28" name="Text 26"/>
          <p:cNvSpPr/>
          <p:nvPr/>
        </p:nvSpPr>
        <p:spPr>
          <a:xfrm>
            <a:off x="3870516" y="4597078"/>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29" name="Text 27"/>
          <p:cNvSpPr/>
          <p:nvPr/>
        </p:nvSpPr>
        <p:spPr>
          <a:xfrm>
            <a:off x="812800" y="4995118"/>
            <a:ext cx="5232400" cy="454131"/>
          </a:xfrm>
          <a:prstGeom prst="rect">
            <a:avLst/>
          </a:prstGeom>
          <a:noFill/>
          <a:ln/>
        </p:spPr>
        <p:txBody>
          <a:bodyPr wrap="square" lIns="0" tIns="0" rIns="0" bIns="0" rtlCol="0" anchor="t">
            <a:normAutofit/>
          </a:bodyPr>
          <a:lstStyle/>
          <a:p>
            <a:pPr marL="0" indent="0" algn="l">
              <a:lnSpc>
                <a:spcPts val="1711"/>
              </a:lnSpc>
              <a:buNone/>
            </a:pPr>
            <a:r>
              <a:rPr lang="en-US" sz="1268" b="1" dirty="0">
                <a:solidFill>
                  <a:srgbClr val="4A4462"/>
                </a:solidFill>
                <a:latin typeface="IBM Plex Sans" pitchFamily="34" charset="0"/>
                <a:ea typeface="IBM Plex Sans" pitchFamily="34" charset="-122"/>
                <a:cs typeface="IBM Plex Sans" pitchFamily="34" charset="-120"/>
              </a:rPr>
              <a:t>+</a:t>
            </a:r>
            <a:r>
              <a:rPr lang="en-US" sz="1268" dirty="0">
                <a:solidFill>
                  <a:srgbClr val="4A4462"/>
                </a:solidFill>
                <a:latin typeface="IBM Plex Sans" pitchFamily="34" charset="0"/>
                <a:ea typeface="IBM Plex Sans" pitchFamily="34" charset="-122"/>
                <a:cs typeface="IBM Plex Sans" pitchFamily="34" charset="-120"/>
              </a:rPr>
              <a:t> Contrôle total, tout est administrable.</a:t>
            </a:r>
            <a:endParaRPr lang="en-US" sz="1268" dirty="0"/>
          </a:p>
          <a:p>
            <a:pPr marL="0" indent="0" algn="l">
              <a:lnSpc>
                <a:spcPts val="1711"/>
              </a:lnSpc>
              <a:buNone/>
            </a:pPr>
            <a:r>
              <a:rPr lang="en-US" sz="1268" b="1" dirty="0">
                <a:solidFill>
                  <a:srgbClr val="4A4462"/>
                </a:solidFill>
                <a:latin typeface="IBM Plex Sans" pitchFamily="34" charset="0"/>
                <a:ea typeface="IBM Plex Sans" pitchFamily="34" charset="-122"/>
                <a:cs typeface="IBM Plex Sans" pitchFamily="34" charset="-120"/>
              </a:rPr>
              <a:t>−</a:t>
            </a:r>
            <a:r>
              <a:rPr lang="en-US" sz="1268" dirty="0">
                <a:solidFill>
                  <a:srgbClr val="4A4462"/>
                </a:solidFill>
                <a:latin typeface="IBM Plex Sans" pitchFamily="34" charset="0"/>
                <a:ea typeface="IBM Plex Sans" pitchFamily="34" charset="-122"/>
                <a:cs typeface="IBM Plex Sans" pitchFamily="34" charset="-120"/>
              </a:rPr>
              <a:t> Toute l’exploitation vous revient.</a:t>
            </a:r>
            <a:endParaRPr lang="en-US" sz="1268" dirty="0"/>
          </a:p>
        </p:txBody>
      </p:sp>
      <p:sp>
        <p:nvSpPr>
          <p:cNvPr id="30" name="Text 28"/>
          <p:cNvSpPr/>
          <p:nvPr/>
        </p:nvSpPr>
        <p:spPr>
          <a:xfrm>
            <a:off x="6299200" y="2132967"/>
            <a:ext cx="5232400" cy="245322"/>
          </a:xfrm>
          <a:prstGeom prst="rect">
            <a:avLst/>
          </a:prstGeom>
          <a:noFill/>
          <a:ln/>
        </p:spPr>
        <p:txBody>
          <a:bodyPr wrap="square" lIns="0" tIns="0" rIns="0" bIns="0" rtlCol="0" anchor="t">
            <a:normAutofit/>
          </a:bodyPr>
          <a:lstStyle/>
          <a:p>
            <a:pPr marL="0" indent="0" algn="l">
              <a:lnSpc>
                <a:spcPts val="1772"/>
              </a:lnSpc>
              <a:buNone/>
            </a:pPr>
            <a:r>
              <a:rPr lang="en-US" sz="1477" b="1" dirty="0">
                <a:solidFill>
                  <a:srgbClr val="137485"/>
                </a:solidFill>
                <a:latin typeface="IBM Plex Sans" pitchFamily="34" charset="0"/>
                <a:ea typeface="IBM Plex Sans" pitchFamily="34" charset="-122"/>
                <a:cs typeface="IBM Plex Sans" pitchFamily="34" charset="-120"/>
              </a:rPr>
              <a:t>DBaaS (base managée)</a:t>
            </a:r>
            <a:endParaRPr lang="en-US" sz="1477" dirty="0"/>
          </a:p>
        </p:txBody>
      </p:sp>
      <p:sp>
        <p:nvSpPr>
          <p:cNvPr id="31" name="Shape 29"/>
          <p:cNvSpPr/>
          <p:nvPr/>
        </p:nvSpPr>
        <p:spPr>
          <a:xfrm>
            <a:off x="6302375" y="2470361"/>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32" name="Text 30"/>
          <p:cNvSpPr/>
          <p:nvPr/>
        </p:nvSpPr>
        <p:spPr>
          <a:xfrm>
            <a:off x="6405880" y="2548466"/>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Schéma et requêtes</a:t>
            </a:r>
            <a:endParaRPr lang="en-US" sz="1200" dirty="0"/>
          </a:p>
        </p:txBody>
      </p:sp>
      <p:sp>
        <p:nvSpPr>
          <p:cNvPr id="33" name="Shape 31"/>
          <p:cNvSpPr/>
          <p:nvPr/>
        </p:nvSpPr>
        <p:spPr>
          <a:xfrm>
            <a:off x="9283700" y="2467186"/>
            <a:ext cx="2095500" cy="359939"/>
          </a:xfrm>
          <a:prstGeom prst="roundRect">
            <a:avLst>
              <a:gd name="adj" fmla="val 14114"/>
            </a:avLst>
          </a:prstGeom>
          <a:solidFill>
            <a:srgbClr val="D3EDF1"/>
          </a:solidFill>
          <a:ln/>
        </p:spPr>
        <p:txBody>
          <a:bodyPr/>
          <a:lstStyle/>
          <a:p>
            <a:endParaRPr lang="fr-FR"/>
          </a:p>
        </p:txBody>
      </p:sp>
      <p:sp>
        <p:nvSpPr>
          <p:cNvPr id="34" name="Text 32"/>
          <p:cNvSpPr/>
          <p:nvPr/>
        </p:nvSpPr>
        <p:spPr>
          <a:xfrm>
            <a:off x="9356916" y="2543386"/>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Vous</a:t>
            </a:r>
            <a:endParaRPr lang="en-US" sz="1200" dirty="0"/>
          </a:p>
        </p:txBody>
      </p:sp>
      <p:sp>
        <p:nvSpPr>
          <p:cNvPr id="35" name="Shape 33"/>
          <p:cNvSpPr/>
          <p:nvPr/>
        </p:nvSpPr>
        <p:spPr>
          <a:xfrm>
            <a:off x="6302375" y="2881102"/>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36" name="Text 34"/>
          <p:cNvSpPr/>
          <p:nvPr/>
        </p:nvSpPr>
        <p:spPr>
          <a:xfrm>
            <a:off x="6405880" y="2959207"/>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Paramétrage fin</a:t>
            </a:r>
            <a:endParaRPr lang="en-US" sz="1200" dirty="0"/>
          </a:p>
        </p:txBody>
      </p:sp>
      <p:sp>
        <p:nvSpPr>
          <p:cNvPr id="37" name="Shape 35"/>
          <p:cNvSpPr/>
          <p:nvPr/>
        </p:nvSpPr>
        <p:spPr>
          <a:xfrm>
            <a:off x="9283700" y="2877927"/>
            <a:ext cx="2095500" cy="359939"/>
          </a:xfrm>
          <a:prstGeom prst="roundRect">
            <a:avLst>
              <a:gd name="adj" fmla="val 14114"/>
            </a:avLst>
          </a:prstGeom>
          <a:solidFill>
            <a:srgbClr val="ECE7F6"/>
          </a:solidFill>
          <a:ln/>
        </p:spPr>
        <p:txBody>
          <a:bodyPr/>
          <a:lstStyle/>
          <a:p>
            <a:endParaRPr lang="fr-FR"/>
          </a:p>
        </p:txBody>
      </p:sp>
      <p:sp>
        <p:nvSpPr>
          <p:cNvPr id="38" name="Text 36"/>
          <p:cNvSpPr/>
          <p:nvPr/>
        </p:nvSpPr>
        <p:spPr>
          <a:xfrm>
            <a:off x="9356916" y="2954127"/>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Vous, dans un cadre limité</a:t>
            </a:r>
            <a:endParaRPr lang="en-US" sz="1200" dirty="0"/>
          </a:p>
        </p:txBody>
      </p:sp>
      <p:sp>
        <p:nvSpPr>
          <p:cNvPr id="39" name="Shape 37"/>
          <p:cNvSpPr/>
          <p:nvPr/>
        </p:nvSpPr>
        <p:spPr>
          <a:xfrm>
            <a:off x="6302375" y="3291842"/>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40" name="Text 38"/>
          <p:cNvSpPr/>
          <p:nvPr/>
        </p:nvSpPr>
        <p:spPr>
          <a:xfrm>
            <a:off x="6405880" y="3369947"/>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Sauvegardes et réplication</a:t>
            </a:r>
            <a:endParaRPr lang="en-US" sz="1200" dirty="0"/>
          </a:p>
        </p:txBody>
      </p:sp>
      <p:sp>
        <p:nvSpPr>
          <p:cNvPr id="41" name="Shape 39"/>
          <p:cNvSpPr/>
          <p:nvPr/>
        </p:nvSpPr>
        <p:spPr>
          <a:xfrm>
            <a:off x="9283700" y="3288667"/>
            <a:ext cx="2095500" cy="359939"/>
          </a:xfrm>
          <a:prstGeom prst="roundRect">
            <a:avLst>
              <a:gd name="adj" fmla="val 14114"/>
            </a:avLst>
          </a:prstGeom>
          <a:solidFill>
            <a:srgbClr val="5B2E9E"/>
          </a:solidFill>
          <a:ln/>
        </p:spPr>
        <p:txBody>
          <a:bodyPr/>
          <a:lstStyle/>
          <a:p>
            <a:endParaRPr lang="fr-FR"/>
          </a:p>
        </p:txBody>
      </p:sp>
      <p:sp>
        <p:nvSpPr>
          <p:cNvPr id="42" name="Text 40"/>
          <p:cNvSpPr/>
          <p:nvPr/>
        </p:nvSpPr>
        <p:spPr>
          <a:xfrm>
            <a:off x="9356916" y="3364867"/>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3" name="Shape 41"/>
          <p:cNvSpPr/>
          <p:nvPr/>
        </p:nvSpPr>
        <p:spPr>
          <a:xfrm>
            <a:off x="6302375" y="3702583"/>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44" name="Text 42"/>
          <p:cNvSpPr/>
          <p:nvPr/>
        </p:nvSpPr>
        <p:spPr>
          <a:xfrm>
            <a:off x="6405880" y="3780688"/>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Mises à jour du moteur</a:t>
            </a:r>
            <a:endParaRPr lang="en-US" sz="1200" dirty="0"/>
          </a:p>
        </p:txBody>
      </p:sp>
      <p:sp>
        <p:nvSpPr>
          <p:cNvPr id="45" name="Shape 43"/>
          <p:cNvSpPr/>
          <p:nvPr/>
        </p:nvSpPr>
        <p:spPr>
          <a:xfrm>
            <a:off x="9283700" y="3699408"/>
            <a:ext cx="2095500" cy="359939"/>
          </a:xfrm>
          <a:prstGeom prst="roundRect">
            <a:avLst>
              <a:gd name="adj" fmla="val 14114"/>
            </a:avLst>
          </a:prstGeom>
          <a:solidFill>
            <a:srgbClr val="5B2E9E"/>
          </a:solidFill>
          <a:ln/>
        </p:spPr>
        <p:txBody>
          <a:bodyPr/>
          <a:lstStyle/>
          <a:p>
            <a:endParaRPr lang="fr-FR"/>
          </a:p>
        </p:txBody>
      </p:sp>
      <p:sp>
        <p:nvSpPr>
          <p:cNvPr id="46" name="Text 44"/>
          <p:cNvSpPr/>
          <p:nvPr/>
        </p:nvSpPr>
        <p:spPr>
          <a:xfrm>
            <a:off x="9356916" y="3775608"/>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47" name="Shape 45"/>
          <p:cNvSpPr/>
          <p:nvPr/>
        </p:nvSpPr>
        <p:spPr>
          <a:xfrm>
            <a:off x="6302375" y="4113324"/>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48" name="Text 46"/>
          <p:cNvSpPr/>
          <p:nvPr/>
        </p:nvSpPr>
        <p:spPr>
          <a:xfrm>
            <a:off x="6405880" y="4191429"/>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Système d’exploitation</a:t>
            </a:r>
            <a:endParaRPr lang="en-US" sz="1200" dirty="0"/>
          </a:p>
        </p:txBody>
      </p:sp>
      <p:sp>
        <p:nvSpPr>
          <p:cNvPr id="49" name="Shape 47"/>
          <p:cNvSpPr/>
          <p:nvPr/>
        </p:nvSpPr>
        <p:spPr>
          <a:xfrm>
            <a:off x="9283700" y="4110149"/>
            <a:ext cx="2095500" cy="359939"/>
          </a:xfrm>
          <a:prstGeom prst="roundRect">
            <a:avLst>
              <a:gd name="adj" fmla="val 14114"/>
            </a:avLst>
          </a:prstGeom>
          <a:solidFill>
            <a:srgbClr val="5B2E9E"/>
          </a:solidFill>
          <a:ln/>
        </p:spPr>
        <p:txBody>
          <a:bodyPr/>
          <a:lstStyle/>
          <a:p>
            <a:endParaRPr lang="fr-FR"/>
          </a:p>
        </p:txBody>
      </p:sp>
      <p:sp>
        <p:nvSpPr>
          <p:cNvPr id="50" name="Text 48"/>
          <p:cNvSpPr/>
          <p:nvPr/>
        </p:nvSpPr>
        <p:spPr>
          <a:xfrm>
            <a:off x="9356916" y="4186349"/>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51" name="Shape 49"/>
          <p:cNvSpPr/>
          <p:nvPr/>
        </p:nvSpPr>
        <p:spPr>
          <a:xfrm>
            <a:off x="6302375" y="4524053"/>
            <a:ext cx="2927350" cy="353589"/>
          </a:xfrm>
          <a:prstGeom prst="roundRect">
            <a:avLst>
              <a:gd name="adj" fmla="val 13469"/>
            </a:avLst>
          </a:prstGeom>
          <a:solidFill>
            <a:srgbClr val="FDFCFE"/>
          </a:solidFill>
          <a:ln w="6350">
            <a:solidFill>
              <a:srgbClr val="E4E2EA"/>
            </a:solidFill>
            <a:prstDash val="solid"/>
          </a:ln>
        </p:spPr>
        <p:txBody>
          <a:bodyPr/>
          <a:lstStyle/>
          <a:p>
            <a:endParaRPr lang="fr-FR"/>
          </a:p>
        </p:txBody>
      </p:sp>
      <p:sp>
        <p:nvSpPr>
          <p:cNvPr id="52" name="Text 50"/>
          <p:cNvSpPr/>
          <p:nvPr/>
        </p:nvSpPr>
        <p:spPr>
          <a:xfrm>
            <a:off x="6405880" y="4602158"/>
            <a:ext cx="2801950" cy="22277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Serveur</a:t>
            </a:r>
            <a:endParaRPr lang="en-US" sz="1200" dirty="0"/>
          </a:p>
        </p:txBody>
      </p:sp>
      <p:sp>
        <p:nvSpPr>
          <p:cNvPr id="53" name="Shape 51"/>
          <p:cNvSpPr/>
          <p:nvPr/>
        </p:nvSpPr>
        <p:spPr>
          <a:xfrm>
            <a:off x="9283700" y="4520878"/>
            <a:ext cx="2095500" cy="359939"/>
          </a:xfrm>
          <a:prstGeom prst="roundRect">
            <a:avLst>
              <a:gd name="adj" fmla="val 14114"/>
            </a:avLst>
          </a:prstGeom>
          <a:solidFill>
            <a:srgbClr val="5B2E9E"/>
          </a:solidFill>
          <a:ln/>
        </p:spPr>
        <p:txBody>
          <a:bodyPr/>
          <a:lstStyle/>
          <a:p>
            <a:endParaRPr lang="fr-FR"/>
          </a:p>
        </p:txBody>
      </p:sp>
      <p:sp>
        <p:nvSpPr>
          <p:cNvPr id="54" name="Text 52"/>
          <p:cNvSpPr/>
          <p:nvPr/>
        </p:nvSpPr>
        <p:spPr>
          <a:xfrm>
            <a:off x="9356916" y="4597078"/>
            <a:ext cx="1949069" cy="232939"/>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DFCFE"/>
                </a:solidFill>
                <a:latin typeface="IBM Plex Sans" pitchFamily="34" charset="0"/>
                <a:ea typeface="IBM Plex Sans" pitchFamily="34" charset="-122"/>
                <a:cs typeface="IBM Plex Sans" pitchFamily="34" charset="-120"/>
              </a:rPr>
              <a:t>Fournisseur</a:t>
            </a:r>
            <a:endParaRPr lang="en-US" sz="1200" dirty="0"/>
          </a:p>
        </p:txBody>
      </p:sp>
      <p:sp>
        <p:nvSpPr>
          <p:cNvPr id="55" name="Text 53"/>
          <p:cNvSpPr/>
          <p:nvPr/>
        </p:nvSpPr>
        <p:spPr>
          <a:xfrm>
            <a:off x="6299200" y="4995118"/>
            <a:ext cx="5232400" cy="454131"/>
          </a:xfrm>
          <a:prstGeom prst="rect">
            <a:avLst/>
          </a:prstGeom>
          <a:noFill/>
          <a:ln/>
        </p:spPr>
        <p:txBody>
          <a:bodyPr wrap="square" lIns="0" tIns="0" rIns="0" bIns="0" rtlCol="0" anchor="t">
            <a:normAutofit/>
          </a:bodyPr>
          <a:lstStyle/>
          <a:p>
            <a:pPr marL="0" indent="0" algn="l">
              <a:lnSpc>
                <a:spcPts val="1711"/>
              </a:lnSpc>
              <a:buNone/>
            </a:pPr>
            <a:r>
              <a:rPr lang="en-US" sz="1268" b="1" dirty="0">
                <a:solidFill>
                  <a:srgbClr val="4A4462"/>
                </a:solidFill>
                <a:latin typeface="IBM Plex Sans" pitchFamily="34" charset="0"/>
                <a:ea typeface="IBM Plex Sans" pitchFamily="34" charset="-122"/>
                <a:cs typeface="IBM Plex Sans" pitchFamily="34" charset="-120"/>
              </a:rPr>
              <a:t>+</a:t>
            </a:r>
            <a:r>
              <a:rPr lang="en-US" sz="1268" dirty="0">
                <a:solidFill>
                  <a:srgbClr val="4A4462"/>
                </a:solidFill>
                <a:latin typeface="IBM Plex Sans" pitchFamily="34" charset="0"/>
                <a:ea typeface="IBM Plex Sans" pitchFamily="34" charset="-122"/>
                <a:cs typeface="IBM Plex Sans" pitchFamily="34" charset="-120"/>
              </a:rPr>
              <a:t> Beaucoup moins d’exploitation.</a:t>
            </a:r>
            <a:endParaRPr lang="en-US" sz="1268" dirty="0"/>
          </a:p>
          <a:p>
            <a:pPr marL="0" indent="0" algn="l">
              <a:lnSpc>
                <a:spcPts val="1711"/>
              </a:lnSpc>
              <a:buNone/>
            </a:pPr>
            <a:r>
              <a:rPr lang="en-US" sz="1268" b="1" dirty="0">
                <a:solidFill>
                  <a:srgbClr val="4A4462"/>
                </a:solidFill>
                <a:latin typeface="IBM Plex Sans" pitchFamily="34" charset="0"/>
                <a:ea typeface="IBM Plex Sans" pitchFamily="34" charset="-122"/>
                <a:cs typeface="IBM Plex Sans" pitchFamily="34" charset="-120"/>
              </a:rPr>
              <a:t>−</a:t>
            </a:r>
            <a:r>
              <a:rPr lang="en-US" sz="1268" dirty="0">
                <a:solidFill>
                  <a:srgbClr val="4A4462"/>
                </a:solidFill>
                <a:latin typeface="IBM Plex Sans" pitchFamily="34" charset="0"/>
                <a:ea typeface="IBM Plex Sans" pitchFamily="34" charset="-122"/>
                <a:cs typeface="IBM Plex Sans" pitchFamily="34" charset="-120"/>
              </a:rPr>
              <a:t> Moins de liberté de configuration, dépendance au fournisseur.</a:t>
            </a:r>
            <a:endParaRPr lang="en-US" sz="1268" dirty="0"/>
          </a:p>
        </p:txBody>
      </p:sp>
      <p:sp>
        <p:nvSpPr>
          <p:cNvPr id="56" name="Text 54"/>
          <p:cNvSpPr/>
          <p:nvPr/>
        </p:nvSpPr>
        <p:spPr>
          <a:xfrm>
            <a:off x="812800" y="5627055"/>
            <a:ext cx="10883392" cy="240348"/>
          </a:xfrm>
          <a:prstGeom prst="rect">
            <a:avLst/>
          </a:prstGeom>
          <a:noFill/>
          <a:ln/>
        </p:spPr>
        <p:txBody>
          <a:bodyPr wrap="square" lIns="0" tIns="0" rIns="0" bIns="0" rtlCol="0" anchor="t">
            <a:normAutofit/>
          </a:bodyPr>
          <a:lstStyle/>
          <a:p>
            <a:pPr marL="0" indent="0" algn="l">
              <a:lnSpc>
                <a:spcPts val="1722"/>
              </a:lnSpc>
              <a:buNone/>
            </a:pPr>
            <a:r>
              <a:rPr lang="en-US" sz="1276" b="1" dirty="0">
                <a:solidFill>
                  <a:srgbClr val="231B3A"/>
                </a:solidFill>
                <a:latin typeface="IBM Plex Sans" pitchFamily="34" charset="0"/>
                <a:ea typeface="IBM Plex Sans" pitchFamily="34" charset="-122"/>
                <a:cs typeface="IBM Plex Sans" pitchFamily="34" charset="-120"/>
              </a:rPr>
              <a:t>Exemples de DBaaS : Amazon RDS, Cloud SQL, Azure SQL Database ; et en NoSQL : DynamoDB, Firestore, Cosmos DB.</a:t>
            </a:r>
            <a:endParaRPr lang="en-US" sz="1276" dirty="0"/>
          </a:p>
        </p:txBody>
      </p:sp>
      <p:sp>
        <p:nvSpPr>
          <p:cNvPr id="57" name="Text 5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6 · L’IA DANS LE CLOUD</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Un projet d’IA de bout en bout dans le cloud</a:t>
            </a:r>
            <a:endParaRPr lang="en-US" sz="3200" dirty="0"/>
          </a:p>
        </p:txBody>
      </p:sp>
      <p:sp>
        <p:nvSpPr>
          <p:cNvPr id="4" name="Shape 2"/>
          <p:cNvSpPr/>
          <p:nvPr/>
        </p:nvSpPr>
        <p:spPr>
          <a:xfrm>
            <a:off x="819150" y="1733550"/>
            <a:ext cx="1816100" cy="2296160"/>
          </a:xfrm>
          <a:prstGeom prst="roundRect">
            <a:avLst>
              <a:gd name="adj" fmla="val 5245"/>
            </a:avLst>
          </a:prstGeom>
          <a:solidFill>
            <a:srgbClr val="D3EDF1"/>
          </a:solidFill>
          <a:ln w="12700">
            <a:solidFill>
              <a:srgbClr val="137485"/>
            </a:solidFill>
            <a:prstDash val="solid"/>
          </a:ln>
        </p:spPr>
        <p:txBody>
          <a:bodyPr/>
          <a:lstStyle/>
          <a:p>
            <a:endParaRPr lang="fr-FR"/>
          </a:p>
        </p:txBody>
      </p:sp>
      <p:sp>
        <p:nvSpPr>
          <p:cNvPr id="5" name="Text 3"/>
          <p:cNvSpPr/>
          <p:nvPr/>
        </p:nvSpPr>
        <p:spPr>
          <a:xfrm>
            <a:off x="962660" y="187705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37485"/>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1</a:t>
            </a:r>
            <a:endParaRPr lang="en-US" sz="1400" dirty="0"/>
          </a:p>
        </p:txBody>
      </p:sp>
      <p:sp>
        <p:nvSpPr>
          <p:cNvPr id="6" name="Text 4"/>
          <p:cNvSpPr/>
          <p:nvPr/>
        </p:nvSpPr>
        <p:spPr>
          <a:xfrm>
            <a:off x="962660" y="2296158"/>
            <a:ext cx="1579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Données</a:t>
            </a:r>
            <a:endParaRPr lang="en-US" sz="1500" dirty="0"/>
          </a:p>
        </p:txBody>
      </p:sp>
      <p:sp>
        <p:nvSpPr>
          <p:cNvPr id="7" name="Text 5"/>
          <p:cNvSpPr/>
          <p:nvPr/>
        </p:nvSpPr>
        <p:spPr>
          <a:xfrm>
            <a:off x="962660" y="2588258"/>
            <a:ext cx="15798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Stocker datasets bruts et préparés</a:t>
            </a:r>
            <a:endParaRPr lang="en-US" sz="1200" dirty="0"/>
          </a:p>
        </p:txBody>
      </p:sp>
      <p:sp>
        <p:nvSpPr>
          <p:cNvPr id="8" name="Text 6"/>
          <p:cNvSpPr/>
          <p:nvPr/>
        </p:nvSpPr>
        <p:spPr>
          <a:xfrm>
            <a:off x="962660" y="3063242"/>
            <a:ext cx="1579880"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S3 · Blob · Cloud Storage</a:t>
            </a:r>
            <a:endParaRPr lang="en-US" sz="1200" dirty="0"/>
          </a:p>
        </p:txBody>
      </p:sp>
      <p:pic>
        <p:nvPicPr>
          <p:cNvPr id="9" name="Image 0" descr="connector"/>
          <p:cNvPicPr>
            <a:picLocks noChangeAspect="1"/>
          </p:cNvPicPr>
          <p:nvPr/>
        </p:nvPicPr>
        <p:blipFill>
          <a:blip r:embed="rId3"/>
          <a:srcRect/>
          <a:stretch/>
        </p:blipFill>
        <p:spPr>
          <a:xfrm>
            <a:off x="2692400" y="2818135"/>
            <a:ext cx="254000" cy="127000"/>
          </a:xfrm>
          <a:prstGeom prst="rect">
            <a:avLst/>
          </a:prstGeom>
        </p:spPr>
      </p:pic>
      <p:sp>
        <p:nvSpPr>
          <p:cNvPr id="10" name="Shape 7"/>
          <p:cNvSpPr/>
          <p:nvPr/>
        </p:nvSpPr>
        <p:spPr>
          <a:xfrm>
            <a:off x="3003550" y="1733550"/>
            <a:ext cx="1816100" cy="2296160"/>
          </a:xfrm>
          <a:prstGeom prst="roundRect">
            <a:avLst>
              <a:gd name="adj" fmla="val 5245"/>
            </a:avLst>
          </a:prstGeom>
          <a:solidFill>
            <a:srgbClr val="ECE7F6"/>
          </a:solidFill>
          <a:ln w="12700">
            <a:solidFill>
              <a:srgbClr val="5B2E9E"/>
            </a:solidFill>
            <a:prstDash val="solid"/>
          </a:ln>
        </p:spPr>
        <p:txBody>
          <a:bodyPr/>
          <a:lstStyle/>
          <a:p>
            <a:endParaRPr lang="fr-FR"/>
          </a:p>
        </p:txBody>
      </p:sp>
      <p:sp>
        <p:nvSpPr>
          <p:cNvPr id="11" name="Text 8"/>
          <p:cNvSpPr/>
          <p:nvPr/>
        </p:nvSpPr>
        <p:spPr>
          <a:xfrm>
            <a:off x="3147060" y="187705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2</a:t>
            </a:r>
            <a:endParaRPr lang="en-US" sz="1400" dirty="0"/>
          </a:p>
        </p:txBody>
      </p:sp>
      <p:sp>
        <p:nvSpPr>
          <p:cNvPr id="12" name="Text 9"/>
          <p:cNvSpPr/>
          <p:nvPr/>
        </p:nvSpPr>
        <p:spPr>
          <a:xfrm>
            <a:off x="3147060" y="2296158"/>
            <a:ext cx="1579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Préparation</a:t>
            </a:r>
            <a:endParaRPr lang="en-US" sz="1500" dirty="0"/>
          </a:p>
        </p:txBody>
      </p:sp>
      <p:sp>
        <p:nvSpPr>
          <p:cNvPr id="13" name="Text 10"/>
          <p:cNvSpPr/>
          <p:nvPr/>
        </p:nvSpPr>
        <p:spPr>
          <a:xfrm>
            <a:off x="3147060" y="2588258"/>
            <a:ext cx="15798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Nettoyer, explorer, créer les features</a:t>
            </a:r>
            <a:endParaRPr lang="en-US" sz="1200" dirty="0"/>
          </a:p>
        </p:txBody>
      </p:sp>
      <p:sp>
        <p:nvSpPr>
          <p:cNvPr id="14" name="Text 11"/>
          <p:cNvSpPr/>
          <p:nvPr/>
        </p:nvSpPr>
        <p:spPr>
          <a:xfrm>
            <a:off x="3147060" y="3063242"/>
            <a:ext cx="1579880"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Notebooks managés, Spark</a:t>
            </a:r>
            <a:endParaRPr lang="en-US" sz="1200" dirty="0"/>
          </a:p>
        </p:txBody>
      </p:sp>
      <p:pic>
        <p:nvPicPr>
          <p:cNvPr id="15" name="Image 1" descr="connector"/>
          <p:cNvPicPr>
            <a:picLocks noChangeAspect="1"/>
          </p:cNvPicPr>
          <p:nvPr/>
        </p:nvPicPr>
        <p:blipFill>
          <a:blip r:embed="rId3"/>
          <a:srcRect/>
          <a:stretch/>
        </p:blipFill>
        <p:spPr>
          <a:xfrm>
            <a:off x="4876800" y="2818135"/>
            <a:ext cx="254000" cy="127000"/>
          </a:xfrm>
          <a:prstGeom prst="rect">
            <a:avLst/>
          </a:prstGeom>
        </p:spPr>
      </p:pic>
      <p:sp>
        <p:nvSpPr>
          <p:cNvPr id="16" name="Shape 12"/>
          <p:cNvSpPr/>
          <p:nvPr/>
        </p:nvSpPr>
        <p:spPr>
          <a:xfrm>
            <a:off x="5187950" y="1733550"/>
            <a:ext cx="1816100" cy="2296160"/>
          </a:xfrm>
          <a:prstGeom prst="roundRect">
            <a:avLst>
              <a:gd name="adj" fmla="val 5245"/>
            </a:avLst>
          </a:prstGeom>
          <a:solidFill>
            <a:srgbClr val="FBE5CF"/>
          </a:solidFill>
          <a:ln w="12700">
            <a:solidFill>
              <a:srgbClr val="A65400"/>
            </a:solidFill>
            <a:prstDash val="solid"/>
          </a:ln>
        </p:spPr>
        <p:txBody>
          <a:bodyPr/>
          <a:lstStyle/>
          <a:p>
            <a:endParaRPr lang="fr-FR"/>
          </a:p>
        </p:txBody>
      </p:sp>
      <p:sp>
        <p:nvSpPr>
          <p:cNvPr id="17" name="Text 13"/>
          <p:cNvSpPr/>
          <p:nvPr/>
        </p:nvSpPr>
        <p:spPr>
          <a:xfrm>
            <a:off x="5331460" y="187705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A65400"/>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3</a:t>
            </a:r>
            <a:endParaRPr lang="en-US" sz="1400" dirty="0"/>
          </a:p>
        </p:txBody>
      </p:sp>
      <p:sp>
        <p:nvSpPr>
          <p:cNvPr id="18" name="Text 14"/>
          <p:cNvSpPr/>
          <p:nvPr/>
        </p:nvSpPr>
        <p:spPr>
          <a:xfrm>
            <a:off x="5331460" y="2296158"/>
            <a:ext cx="1579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Entraînement</a:t>
            </a:r>
            <a:endParaRPr lang="en-US" sz="1500" dirty="0"/>
          </a:p>
        </p:txBody>
      </p:sp>
      <p:sp>
        <p:nvSpPr>
          <p:cNvPr id="19" name="Text 15"/>
          <p:cNvSpPr/>
          <p:nvPr/>
        </p:nvSpPr>
        <p:spPr>
          <a:xfrm>
            <a:off x="5331460" y="2588258"/>
            <a:ext cx="15798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Entraîner sur GPU, souvent en spot</a:t>
            </a:r>
            <a:endParaRPr lang="en-US" sz="1200" dirty="0"/>
          </a:p>
        </p:txBody>
      </p:sp>
      <p:sp>
        <p:nvSpPr>
          <p:cNvPr id="20" name="Text 16"/>
          <p:cNvSpPr/>
          <p:nvPr/>
        </p:nvSpPr>
        <p:spPr>
          <a:xfrm>
            <a:off x="5331460" y="3063242"/>
            <a:ext cx="1579880"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A65400"/>
                </a:solidFill>
                <a:latin typeface="IBM Plex Sans" pitchFamily="34" charset="0"/>
                <a:ea typeface="IBM Plex Sans" pitchFamily="34" charset="-122"/>
                <a:cs typeface="IBM Plex Sans" pitchFamily="34" charset="-120"/>
              </a:rPr>
              <a:t>Instances P, ND, A3 · TPU</a:t>
            </a:r>
            <a:endParaRPr lang="en-US" sz="1200" dirty="0"/>
          </a:p>
        </p:txBody>
      </p:sp>
      <p:pic>
        <p:nvPicPr>
          <p:cNvPr id="21" name="Image 2" descr="connector"/>
          <p:cNvPicPr>
            <a:picLocks noChangeAspect="1"/>
          </p:cNvPicPr>
          <p:nvPr/>
        </p:nvPicPr>
        <p:blipFill>
          <a:blip r:embed="rId3"/>
          <a:srcRect/>
          <a:stretch/>
        </p:blipFill>
        <p:spPr>
          <a:xfrm>
            <a:off x="7061200" y="2818135"/>
            <a:ext cx="254000" cy="127000"/>
          </a:xfrm>
          <a:prstGeom prst="rect">
            <a:avLst/>
          </a:prstGeom>
        </p:spPr>
      </p:pic>
      <p:sp>
        <p:nvSpPr>
          <p:cNvPr id="22" name="Shape 17"/>
          <p:cNvSpPr/>
          <p:nvPr/>
        </p:nvSpPr>
        <p:spPr>
          <a:xfrm>
            <a:off x="7372350" y="1733550"/>
            <a:ext cx="1816100" cy="2296160"/>
          </a:xfrm>
          <a:prstGeom prst="roundRect">
            <a:avLst>
              <a:gd name="adj" fmla="val 5245"/>
            </a:avLst>
          </a:prstGeom>
          <a:solidFill>
            <a:srgbClr val="ECE7F6"/>
          </a:solidFill>
          <a:ln w="12700">
            <a:solidFill>
              <a:srgbClr val="5B2E9E"/>
            </a:solidFill>
            <a:prstDash val="solid"/>
          </a:ln>
        </p:spPr>
        <p:txBody>
          <a:bodyPr/>
          <a:lstStyle/>
          <a:p>
            <a:endParaRPr lang="fr-FR"/>
          </a:p>
        </p:txBody>
      </p:sp>
      <p:sp>
        <p:nvSpPr>
          <p:cNvPr id="23" name="Text 18"/>
          <p:cNvSpPr/>
          <p:nvPr/>
        </p:nvSpPr>
        <p:spPr>
          <a:xfrm>
            <a:off x="7515860" y="187705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5B2E9E"/>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4</a:t>
            </a:r>
            <a:endParaRPr lang="en-US" sz="1400" dirty="0"/>
          </a:p>
        </p:txBody>
      </p:sp>
      <p:sp>
        <p:nvSpPr>
          <p:cNvPr id="24" name="Text 19"/>
          <p:cNvSpPr/>
          <p:nvPr/>
        </p:nvSpPr>
        <p:spPr>
          <a:xfrm>
            <a:off x="7515860" y="2296158"/>
            <a:ext cx="1579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Registre</a:t>
            </a:r>
            <a:endParaRPr lang="en-US" sz="1500" dirty="0"/>
          </a:p>
        </p:txBody>
      </p:sp>
      <p:sp>
        <p:nvSpPr>
          <p:cNvPr id="25" name="Text 20"/>
          <p:cNvSpPr/>
          <p:nvPr/>
        </p:nvSpPr>
        <p:spPr>
          <a:xfrm>
            <a:off x="7515860" y="2588258"/>
            <a:ext cx="15798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Versionner et valider le modèle</a:t>
            </a:r>
            <a:endParaRPr lang="en-US" sz="1200" dirty="0"/>
          </a:p>
        </p:txBody>
      </p:sp>
      <p:sp>
        <p:nvSpPr>
          <p:cNvPr id="26" name="Text 21"/>
          <p:cNvSpPr/>
          <p:nvPr/>
        </p:nvSpPr>
        <p:spPr>
          <a:xfrm>
            <a:off x="7515860" y="3063242"/>
            <a:ext cx="1579880"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B2E9E"/>
                </a:solidFill>
                <a:latin typeface="IBM Plex Sans" pitchFamily="34" charset="0"/>
                <a:ea typeface="IBM Plex Sans" pitchFamily="34" charset="-122"/>
                <a:cs typeface="IBM Plex Sans" pitchFamily="34" charset="-120"/>
              </a:rPr>
              <a:t>Registre des plateformes ML</a:t>
            </a:r>
            <a:endParaRPr lang="en-US" sz="1200" dirty="0"/>
          </a:p>
        </p:txBody>
      </p:sp>
      <p:pic>
        <p:nvPicPr>
          <p:cNvPr id="27" name="Image 3" descr="connector"/>
          <p:cNvPicPr>
            <a:picLocks noChangeAspect="1"/>
          </p:cNvPicPr>
          <p:nvPr/>
        </p:nvPicPr>
        <p:blipFill>
          <a:blip r:embed="rId3"/>
          <a:srcRect/>
          <a:stretch/>
        </p:blipFill>
        <p:spPr>
          <a:xfrm>
            <a:off x="9245600" y="2818135"/>
            <a:ext cx="254000" cy="127000"/>
          </a:xfrm>
          <a:prstGeom prst="rect">
            <a:avLst/>
          </a:prstGeom>
        </p:spPr>
      </p:pic>
      <p:sp>
        <p:nvSpPr>
          <p:cNvPr id="28" name="Shape 22"/>
          <p:cNvSpPr/>
          <p:nvPr/>
        </p:nvSpPr>
        <p:spPr>
          <a:xfrm>
            <a:off x="9556750" y="1733550"/>
            <a:ext cx="1816100" cy="2296160"/>
          </a:xfrm>
          <a:prstGeom prst="roundRect">
            <a:avLst>
              <a:gd name="adj" fmla="val 5245"/>
            </a:avLst>
          </a:prstGeom>
          <a:solidFill>
            <a:srgbClr val="D3EDF1"/>
          </a:solidFill>
          <a:ln w="12700">
            <a:solidFill>
              <a:srgbClr val="137485"/>
            </a:solidFill>
            <a:prstDash val="solid"/>
          </a:ln>
        </p:spPr>
        <p:txBody>
          <a:bodyPr/>
          <a:lstStyle/>
          <a:p>
            <a:endParaRPr lang="fr-FR"/>
          </a:p>
        </p:txBody>
      </p:sp>
      <p:sp>
        <p:nvSpPr>
          <p:cNvPr id="29" name="Text 23"/>
          <p:cNvSpPr/>
          <p:nvPr/>
        </p:nvSpPr>
        <p:spPr>
          <a:xfrm>
            <a:off x="9700260" y="187705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37485"/>
          </a:solidFill>
          <a:ln/>
        </p:spPr>
        <p:txBody>
          <a:bodyPr wrap="square" lIns="0" tIns="0" rIns="0" bIns="0" rtlCol="0" anchor="t">
            <a:normAutofit/>
          </a:bodyPr>
          <a:lstStyle/>
          <a:p>
            <a:pPr marL="0" indent="0" algn="ctr">
              <a:lnSpc>
                <a:spcPts val="2800"/>
              </a:lnSpc>
              <a:buNone/>
            </a:pPr>
            <a:r>
              <a:rPr lang="en-US" sz="1400" b="1" dirty="0">
                <a:solidFill>
                  <a:srgbClr val="FDFCFE"/>
                </a:solidFill>
                <a:latin typeface="IBM Plex Sans" pitchFamily="34" charset="0"/>
                <a:ea typeface="IBM Plex Sans" pitchFamily="34" charset="-122"/>
                <a:cs typeface="IBM Plex Sans" pitchFamily="34" charset="-120"/>
              </a:rPr>
              <a:t>5</a:t>
            </a:r>
            <a:endParaRPr lang="en-US" sz="1400" dirty="0"/>
          </a:p>
        </p:txBody>
      </p:sp>
      <p:sp>
        <p:nvSpPr>
          <p:cNvPr id="30" name="Text 24"/>
          <p:cNvSpPr/>
          <p:nvPr/>
        </p:nvSpPr>
        <p:spPr>
          <a:xfrm>
            <a:off x="9700260" y="2296158"/>
            <a:ext cx="15798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1B3A"/>
                </a:solidFill>
                <a:latin typeface="IBM Plex Sans" pitchFamily="34" charset="0"/>
                <a:ea typeface="IBM Plex Sans" pitchFamily="34" charset="-122"/>
                <a:cs typeface="IBM Plex Sans" pitchFamily="34" charset="-120"/>
              </a:rPr>
              <a:t>Inférence</a:t>
            </a:r>
            <a:endParaRPr lang="en-US" sz="1500" dirty="0"/>
          </a:p>
        </p:txBody>
      </p:sp>
      <p:sp>
        <p:nvSpPr>
          <p:cNvPr id="31" name="Text 25"/>
          <p:cNvSpPr/>
          <p:nvPr/>
        </p:nvSpPr>
        <p:spPr>
          <a:xfrm>
            <a:off x="9700260" y="2588258"/>
            <a:ext cx="1579880"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Servir le modèle via une API qui passe à l’échelle</a:t>
            </a:r>
            <a:endParaRPr lang="en-US" sz="1200" dirty="0"/>
          </a:p>
        </p:txBody>
      </p:sp>
      <p:sp>
        <p:nvSpPr>
          <p:cNvPr id="32" name="Text 26"/>
          <p:cNvSpPr/>
          <p:nvPr/>
        </p:nvSpPr>
        <p:spPr>
          <a:xfrm>
            <a:off x="9700260" y="3268985"/>
            <a:ext cx="1579880" cy="64262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37485"/>
                </a:solidFill>
                <a:latin typeface="IBM Plex Sans" pitchFamily="34" charset="0"/>
                <a:ea typeface="IBM Plex Sans" pitchFamily="34" charset="-122"/>
                <a:cs typeface="IBM Plex Sans" pitchFamily="34" charset="-120"/>
              </a:rPr>
              <a:t>Endpoints managés, Kubernetes, Cloud Run</a:t>
            </a:r>
            <a:endParaRPr lang="en-US" sz="1200" dirty="0"/>
          </a:p>
        </p:txBody>
      </p:sp>
      <p:sp>
        <p:nvSpPr>
          <p:cNvPr id="33" name="Shape 27"/>
          <p:cNvSpPr/>
          <p:nvPr/>
        </p:nvSpPr>
        <p:spPr>
          <a:xfrm>
            <a:off x="812800" y="4239258"/>
            <a:ext cx="5207000" cy="916940"/>
          </a:xfrm>
          <a:prstGeom prst="roundRect">
            <a:avLst>
              <a:gd name="adj" fmla="val 9695"/>
            </a:avLst>
          </a:prstGeom>
          <a:solidFill>
            <a:srgbClr val="F1EEF7"/>
          </a:solidFill>
          <a:ln/>
        </p:spPr>
        <p:txBody>
          <a:bodyPr/>
          <a:lstStyle/>
          <a:p>
            <a:endParaRPr lang="fr-FR"/>
          </a:p>
        </p:txBody>
      </p:sp>
      <p:pic>
        <p:nvPicPr>
          <p:cNvPr id="34" name="Image 4" descr="Lock"/>
          <p:cNvPicPr>
            <a:picLocks noChangeAspect="1"/>
          </p:cNvPicPr>
          <p:nvPr/>
        </p:nvPicPr>
        <p:blipFill>
          <a:blip r:embed="rId4"/>
          <a:srcRect/>
          <a:stretch/>
        </p:blipFill>
        <p:spPr>
          <a:xfrm>
            <a:off x="990600" y="4545335"/>
            <a:ext cx="304800" cy="304800"/>
          </a:xfrm>
          <a:prstGeom prst="rect">
            <a:avLst/>
          </a:prstGeom>
        </p:spPr>
      </p:pic>
      <p:sp>
        <p:nvSpPr>
          <p:cNvPr id="35" name="Text 28"/>
          <p:cNvSpPr/>
          <p:nvPr/>
        </p:nvSpPr>
        <p:spPr>
          <a:xfrm>
            <a:off x="1422400" y="4378958"/>
            <a:ext cx="455218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Sécurité, à chaque étape</a:t>
            </a:r>
            <a:endParaRPr lang="en-US" sz="1400" dirty="0"/>
          </a:p>
        </p:txBody>
      </p:sp>
      <p:sp>
        <p:nvSpPr>
          <p:cNvPr id="36" name="Text 29"/>
          <p:cNvSpPr/>
          <p:nvPr/>
        </p:nvSpPr>
        <p:spPr>
          <a:xfrm>
            <a:off x="1422400" y="4605015"/>
            <a:ext cx="4552188"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Tout vit dans un VPC ; chaque étape n’a que les droits IAM nécessaires.</a:t>
            </a:r>
            <a:endParaRPr lang="en-US" sz="1200" dirty="0"/>
          </a:p>
        </p:txBody>
      </p:sp>
      <p:sp>
        <p:nvSpPr>
          <p:cNvPr id="37" name="Shape 30"/>
          <p:cNvSpPr/>
          <p:nvPr/>
        </p:nvSpPr>
        <p:spPr>
          <a:xfrm>
            <a:off x="6172200" y="4239258"/>
            <a:ext cx="5207000" cy="916940"/>
          </a:xfrm>
          <a:prstGeom prst="roundRect">
            <a:avLst>
              <a:gd name="adj" fmla="val 9695"/>
            </a:avLst>
          </a:prstGeom>
          <a:solidFill>
            <a:srgbClr val="F1EEF7"/>
          </a:solidFill>
          <a:ln/>
        </p:spPr>
        <p:txBody>
          <a:bodyPr/>
          <a:lstStyle/>
          <a:p>
            <a:endParaRPr lang="fr-FR"/>
          </a:p>
        </p:txBody>
      </p:sp>
      <p:pic>
        <p:nvPicPr>
          <p:cNvPr id="38" name="Image 5" descr="Activity"/>
          <p:cNvPicPr>
            <a:picLocks noChangeAspect="1"/>
          </p:cNvPicPr>
          <p:nvPr/>
        </p:nvPicPr>
        <p:blipFill>
          <a:blip r:embed="rId5"/>
          <a:srcRect/>
          <a:stretch/>
        </p:blipFill>
        <p:spPr>
          <a:xfrm>
            <a:off x="6350000" y="4545335"/>
            <a:ext cx="304800" cy="304800"/>
          </a:xfrm>
          <a:prstGeom prst="rect">
            <a:avLst/>
          </a:prstGeom>
        </p:spPr>
      </p:pic>
      <p:sp>
        <p:nvSpPr>
          <p:cNvPr id="39" name="Text 31"/>
          <p:cNvSpPr/>
          <p:nvPr/>
        </p:nvSpPr>
        <p:spPr>
          <a:xfrm>
            <a:off x="6781800" y="4378958"/>
            <a:ext cx="455218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Supervision</a:t>
            </a:r>
            <a:endParaRPr lang="en-US" sz="1400" dirty="0"/>
          </a:p>
        </p:txBody>
      </p:sp>
      <p:sp>
        <p:nvSpPr>
          <p:cNvPr id="40" name="Text 32"/>
          <p:cNvSpPr/>
          <p:nvPr/>
        </p:nvSpPr>
        <p:spPr>
          <a:xfrm>
            <a:off x="6781800" y="4605015"/>
            <a:ext cx="4552188"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Logs, coût des GPU, qualité du modèle et dérive des données en production.</a:t>
            </a:r>
            <a:endParaRPr lang="en-US" sz="1200" dirty="0"/>
          </a:p>
        </p:txBody>
      </p:sp>
      <p:sp>
        <p:nvSpPr>
          <p:cNvPr id="41" name="Text 3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6 · L’IA DANS LE CLOUD</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Entraîner et déployer ses propres modèles</a:t>
            </a:r>
            <a:endParaRPr lang="en-US" sz="3200" dirty="0"/>
          </a:p>
        </p:txBody>
      </p:sp>
      <p:sp>
        <p:nvSpPr>
          <p:cNvPr id="4" name="Text 2"/>
          <p:cNvSpPr/>
          <p:nvPr/>
        </p:nvSpPr>
        <p:spPr>
          <a:xfrm>
            <a:off x="812800" y="1777367"/>
            <a:ext cx="3773868"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31B3A"/>
                </a:solidFill>
                <a:latin typeface="IBM Plex Sans" pitchFamily="34" charset="0"/>
                <a:ea typeface="IBM Plex Sans" pitchFamily="34" charset="-122"/>
                <a:cs typeface="IBM Plex Sans" pitchFamily="34" charset="-120"/>
              </a:rPr>
              <a:t>Ces plateformes couvrent tout le cycle de vie :</a:t>
            </a:r>
            <a:endParaRPr lang="en-US" sz="1400" dirty="0"/>
          </a:p>
        </p:txBody>
      </p:sp>
      <p:sp>
        <p:nvSpPr>
          <p:cNvPr id="5" name="Text 3"/>
          <p:cNvSpPr/>
          <p:nvPr/>
        </p:nvSpPr>
        <p:spPr>
          <a:xfrm>
            <a:off x="4578350" y="1727200"/>
            <a:ext cx="900642" cy="340360"/>
          </a:xfrm>
          <a:prstGeom prst="roundRect">
            <a:avLst>
              <a:gd name="adj" fmla="val 44776"/>
            </a:avLst>
          </a:prstGeom>
          <a:solidFill>
            <a:srgbClr val="F1EEF7"/>
          </a:solidFill>
          <a:ln/>
        </p:spPr>
        <p:txBody>
          <a:bodyPr wrap="none" lIns="0" tIns="0" rIns="0" bIns="0" rtlCol="0" anchor="ctr">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Préparer</a:t>
            </a:r>
            <a:endParaRPr lang="en-US" sz="1200" dirty="0"/>
          </a:p>
        </p:txBody>
      </p:sp>
      <p:sp>
        <p:nvSpPr>
          <p:cNvPr id="6" name="Text 4"/>
          <p:cNvSpPr/>
          <p:nvPr/>
        </p:nvSpPr>
        <p:spPr>
          <a:xfrm>
            <a:off x="5580592" y="1727200"/>
            <a:ext cx="937472" cy="340360"/>
          </a:xfrm>
          <a:prstGeom prst="roundRect">
            <a:avLst>
              <a:gd name="adj" fmla="val 44776"/>
            </a:avLst>
          </a:prstGeom>
          <a:solidFill>
            <a:srgbClr val="F1EEF7"/>
          </a:solidFill>
          <a:ln/>
        </p:spPr>
        <p:txBody>
          <a:bodyPr wrap="none" lIns="0" tIns="0" rIns="0" bIns="0" rtlCol="0" anchor="ctr">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Entraîner</a:t>
            </a:r>
            <a:endParaRPr lang="en-US" sz="1200" dirty="0"/>
          </a:p>
        </p:txBody>
      </p:sp>
      <p:sp>
        <p:nvSpPr>
          <p:cNvPr id="7" name="Text 5"/>
          <p:cNvSpPr/>
          <p:nvPr/>
        </p:nvSpPr>
        <p:spPr>
          <a:xfrm>
            <a:off x="6619663" y="1727200"/>
            <a:ext cx="913871" cy="340360"/>
          </a:xfrm>
          <a:prstGeom prst="roundRect">
            <a:avLst>
              <a:gd name="adj" fmla="val 44776"/>
            </a:avLst>
          </a:prstGeom>
          <a:solidFill>
            <a:srgbClr val="F1EEF7"/>
          </a:solidFill>
          <a:ln/>
        </p:spPr>
        <p:txBody>
          <a:bodyPr wrap="none" lIns="0" tIns="0" rIns="0" bIns="0" rtlCol="0" anchor="ctr">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Déployer</a:t>
            </a:r>
            <a:endParaRPr lang="en-US" sz="1200" dirty="0"/>
          </a:p>
        </p:txBody>
      </p:sp>
      <p:sp>
        <p:nvSpPr>
          <p:cNvPr id="8" name="Text 6"/>
          <p:cNvSpPr/>
          <p:nvPr/>
        </p:nvSpPr>
        <p:spPr>
          <a:xfrm>
            <a:off x="7635134" y="1727200"/>
            <a:ext cx="1042670" cy="340360"/>
          </a:xfrm>
          <a:prstGeom prst="roundRect">
            <a:avLst>
              <a:gd name="adj" fmla="val 44776"/>
            </a:avLst>
          </a:prstGeom>
          <a:solidFill>
            <a:srgbClr val="F1EEF7"/>
          </a:solidFill>
          <a:ln/>
        </p:spPr>
        <p:txBody>
          <a:bodyPr wrap="none" lIns="0" tIns="0" rIns="0" bIns="0" rtlCol="0" anchor="ctr">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Superviser</a:t>
            </a:r>
            <a:endParaRPr lang="en-US" sz="1200" dirty="0"/>
          </a:p>
        </p:txBody>
      </p:sp>
      <p:sp>
        <p:nvSpPr>
          <p:cNvPr id="9" name="Shape 7"/>
          <p:cNvSpPr/>
          <p:nvPr/>
        </p:nvSpPr>
        <p:spPr>
          <a:xfrm>
            <a:off x="822325" y="2280283"/>
            <a:ext cx="3367617" cy="2180590"/>
          </a:xfrm>
          <a:prstGeom prst="roundRect">
            <a:avLst>
              <a:gd name="adj" fmla="val 4222"/>
            </a:avLst>
          </a:prstGeom>
          <a:solidFill>
            <a:srgbClr val="FDFCFE"/>
          </a:solidFill>
          <a:ln w="19050">
            <a:solidFill>
              <a:srgbClr val="A65400"/>
            </a:solidFill>
            <a:prstDash val="solid"/>
          </a:ln>
        </p:spPr>
        <p:txBody>
          <a:bodyPr/>
          <a:lstStyle/>
          <a:p>
            <a:endParaRPr lang="fr-FR"/>
          </a:p>
        </p:txBody>
      </p:sp>
      <p:sp>
        <p:nvSpPr>
          <p:cNvPr id="10" name="Text 8"/>
          <p:cNvSpPr/>
          <p:nvPr/>
        </p:nvSpPr>
        <p:spPr>
          <a:xfrm>
            <a:off x="1031240" y="2489200"/>
            <a:ext cx="303828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65400"/>
                </a:solidFill>
                <a:latin typeface="IBM Plex Sans" pitchFamily="34" charset="0"/>
                <a:ea typeface="IBM Plex Sans" pitchFamily="34" charset="-122"/>
                <a:cs typeface="IBM Plex Sans" pitchFamily="34" charset="-120"/>
              </a:rPr>
              <a:t>AWS</a:t>
            </a:r>
            <a:endParaRPr lang="en-US" sz="1300" dirty="0"/>
          </a:p>
        </p:txBody>
      </p:sp>
      <p:sp>
        <p:nvSpPr>
          <p:cNvPr id="11" name="Text 9"/>
          <p:cNvSpPr/>
          <p:nvPr/>
        </p:nvSpPr>
        <p:spPr>
          <a:xfrm>
            <a:off x="1031240" y="2796542"/>
            <a:ext cx="30382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Amazon SageMaker</a:t>
            </a:r>
            <a:endParaRPr lang="en-US" sz="1600" dirty="0"/>
          </a:p>
        </p:txBody>
      </p:sp>
      <p:sp>
        <p:nvSpPr>
          <p:cNvPr id="12" name="Text 10"/>
          <p:cNvSpPr/>
          <p:nvPr/>
        </p:nvSpPr>
        <p:spPr>
          <a:xfrm>
            <a:off x="1031240" y="3116585"/>
            <a:ext cx="303828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Notebooks managés, entraînement distribué, déploiement d’endpoints, pipelines MLOps.</a:t>
            </a:r>
            <a:endParaRPr lang="en-US" sz="1300" dirty="0"/>
          </a:p>
        </p:txBody>
      </p:sp>
      <p:sp>
        <p:nvSpPr>
          <p:cNvPr id="13" name="Shape 11"/>
          <p:cNvSpPr/>
          <p:nvPr/>
        </p:nvSpPr>
        <p:spPr>
          <a:xfrm>
            <a:off x="4412192" y="2280283"/>
            <a:ext cx="3367617" cy="2180590"/>
          </a:xfrm>
          <a:prstGeom prst="roundRect">
            <a:avLst>
              <a:gd name="adj" fmla="val 4222"/>
            </a:avLst>
          </a:prstGeom>
          <a:solidFill>
            <a:srgbClr val="FDFCFE"/>
          </a:solidFill>
          <a:ln w="19050">
            <a:solidFill>
              <a:srgbClr val="5B2E9E"/>
            </a:solidFill>
            <a:prstDash val="solid"/>
          </a:ln>
        </p:spPr>
        <p:txBody>
          <a:bodyPr/>
          <a:lstStyle/>
          <a:p>
            <a:endParaRPr lang="fr-FR"/>
          </a:p>
        </p:txBody>
      </p:sp>
      <p:sp>
        <p:nvSpPr>
          <p:cNvPr id="14" name="Text 12"/>
          <p:cNvSpPr/>
          <p:nvPr/>
        </p:nvSpPr>
        <p:spPr>
          <a:xfrm>
            <a:off x="4621107" y="2489200"/>
            <a:ext cx="303828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B2E9E"/>
                </a:solidFill>
                <a:latin typeface="IBM Plex Sans" pitchFamily="34" charset="0"/>
                <a:ea typeface="IBM Plex Sans" pitchFamily="34" charset="-122"/>
                <a:cs typeface="IBM Plex Sans" pitchFamily="34" charset="-120"/>
              </a:rPr>
              <a:t>Azure</a:t>
            </a:r>
            <a:endParaRPr lang="en-US" sz="1300" dirty="0"/>
          </a:p>
        </p:txBody>
      </p:sp>
      <p:sp>
        <p:nvSpPr>
          <p:cNvPr id="15" name="Text 13"/>
          <p:cNvSpPr/>
          <p:nvPr/>
        </p:nvSpPr>
        <p:spPr>
          <a:xfrm>
            <a:off x="4621107" y="2796542"/>
            <a:ext cx="30382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Azure Machine Learning</a:t>
            </a:r>
            <a:endParaRPr lang="en-US" sz="1600" dirty="0"/>
          </a:p>
        </p:txBody>
      </p:sp>
      <p:sp>
        <p:nvSpPr>
          <p:cNvPr id="16" name="Text 14"/>
          <p:cNvSpPr/>
          <p:nvPr/>
        </p:nvSpPr>
        <p:spPr>
          <a:xfrm>
            <a:off x="4621107" y="3116585"/>
            <a:ext cx="303828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Workspace pour entraîner et versionner des modèles ; s’articule avec Microsoft Foundry pour l’IA générative.</a:t>
            </a:r>
            <a:endParaRPr lang="en-US" sz="1300" dirty="0"/>
          </a:p>
        </p:txBody>
      </p:sp>
      <p:sp>
        <p:nvSpPr>
          <p:cNvPr id="17" name="Shape 15"/>
          <p:cNvSpPr/>
          <p:nvPr/>
        </p:nvSpPr>
        <p:spPr>
          <a:xfrm>
            <a:off x="8002058" y="2280283"/>
            <a:ext cx="3367617" cy="2180590"/>
          </a:xfrm>
          <a:prstGeom prst="roundRect">
            <a:avLst>
              <a:gd name="adj" fmla="val 4222"/>
            </a:avLst>
          </a:prstGeom>
          <a:solidFill>
            <a:srgbClr val="FDFCFE"/>
          </a:solidFill>
          <a:ln w="19050">
            <a:solidFill>
              <a:srgbClr val="137485"/>
            </a:solidFill>
            <a:prstDash val="solid"/>
          </a:ln>
        </p:spPr>
        <p:txBody>
          <a:bodyPr/>
          <a:lstStyle/>
          <a:p>
            <a:endParaRPr lang="fr-FR"/>
          </a:p>
        </p:txBody>
      </p:sp>
      <p:sp>
        <p:nvSpPr>
          <p:cNvPr id="18" name="Text 16"/>
          <p:cNvSpPr/>
          <p:nvPr/>
        </p:nvSpPr>
        <p:spPr>
          <a:xfrm>
            <a:off x="8210973" y="2489200"/>
            <a:ext cx="303828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7485"/>
                </a:solidFill>
                <a:latin typeface="IBM Plex Sans" pitchFamily="34" charset="0"/>
                <a:ea typeface="IBM Plex Sans" pitchFamily="34" charset="-122"/>
                <a:cs typeface="IBM Plex Sans" pitchFamily="34" charset="-120"/>
              </a:rPr>
              <a:t>Google Cloud</a:t>
            </a:r>
            <a:endParaRPr lang="en-US" sz="1300" dirty="0"/>
          </a:p>
        </p:txBody>
      </p:sp>
      <p:sp>
        <p:nvSpPr>
          <p:cNvPr id="19" name="Text 17"/>
          <p:cNvSpPr/>
          <p:nvPr/>
        </p:nvSpPr>
        <p:spPr>
          <a:xfrm>
            <a:off x="8210973" y="2796542"/>
            <a:ext cx="303828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1B3A"/>
                </a:solidFill>
                <a:latin typeface="IBM Plex Sans" pitchFamily="34" charset="0"/>
                <a:ea typeface="IBM Plex Sans" pitchFamily="34" charset="-122"/>
                <a:cs typeface="IBM Plex Sans" pitchFamily="34" charset="-120"/>
              </a:rPr>
              <a:t>Gemini Enterprise Agent Platform</a:t>
            </a:r>
            <a:endParaRPr lang="en-US" sz="1600" dirty="0"/>
          </a:p>
        </p:txBody>
      </p:sp>
      <p:sp>
        <p:nvSpPr>
          <p:cNvPr id="20" name="Text 18"/>
          <p:cNvSpPr/>
          <p:nvPr/>
        </p:nvSpPr>
        <p:spPr>
          <a:xfrm>
            <a:off x="8210973" y="3360415"/>
            <a:ext cx="3038280"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Le successeur de Vertex AI depuis avril 2026 : entraînement de modèles et construction d’agents dans une même plateforme.</a:t>
            </a:r>
            <a:endParaRPr lang="en-US" sz="13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6 · L’IA DANS LE CLOUD</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Consommer un modèle déjà entraîné</a:t>
            </a:r>
            <a:endParaRPr lang="en-US" sz="3200" dirty="0"/>
          </a:p>
        </p:txBody>
      </p:sp>
      <p:sp>
        <p:nvSpPr>
          <p:cNvPr id="4" name="Text 2"/>
          <p:cNvSpPr/>
          <p:nvPr/>
        </p:nvSpPr>
        <p:spPr>
          <a:xfrm>
            <a:off x="812800" y="1727200"/>
            <a:ext cx="10883392"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462"/>
                </a:solidFill>
                <a:latin typeface="IBM Plex Sans" pitchFamily="34" charset="0"/>
                <a:ea typeface="IBM Plex Sans" pitchFamily="34" charset="-122"/>
                <a:cs typeface="IBM Plex Sans" pitchFamily="34" charset="-120"/>
              </a:rPr>
              <a:t>Rien à entraîner ni à héberger : on appelle une API et on paie à l’usage, souvent au token ou à la requête.</a:t>
            </a:r>
            <a:endParaRPr lang="en-US" sz="1400" dirty="0"/>
          </a:p>
        </p:txBody>
      </p:sp>
      <p:sp>
        <p:nvSpPr>
          <p:cNvPr id="5" name="Shape 3"/>
          <p:cNvSpPr/>
          <p:nvPr/>
        </p:nvSpPr>
        <p:spPr>
          <a:xfrm>
            <a:off x="11376025" y="2170435"/>
            <a:ext cx="0" cy="2030730"/>
          </a:xfrm>
          <a:prstGeom prst="line">
            <a:avLst/>
          </a:prstGeom>
          <a:noFill/>
          <a:ln w="6350">
            <a:solidFill>
              <a:srgbClr val="E4E2EA"/>
            </a:solidFill>
            <a:prstDash val="solid"/>
          </a:ln>
        </p:spPr>
        <p:txBody>
          <a:bodyPr/>
          <a:lstStyle/>
          <a:p>
            <a:endParaRPr lang="fr-FR"/>
          </a:p>
        </p:txBody>
      </p:sp>
      <p:sp>
        <p:nvSpPr>
          <p:cNvPr id="6" name="Shape 4"/>
          <p:cNvSpPr/>
          <p:nvPr/>
        </p:nvSpPr>
        <p:spPr>
          <a:xfrm>
            <a:off x="812800" y="4197990"/>
            <a:ext cx="10566400" cy="0"/>
          </a:xfrm>
          <a:prstGeom prst="line">
            <a:avLst/>
          </a:prstGeom>
          <a:noFill/>
          <a:ln w="6350">
            <a:solidFill>
              <a:srgbClr val="E4E2EA"/>
            </a:solidFill>
            <a:prstDash val="solid"/>
          </a:ln>
        </p:spPr>
        <p:txBody>
          <a:bodyPr/>
          <a:lstStyle/>
          <a:p>
            <a:endParaRPr lang="fr-F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80595"/>
          <a:ext cx="10551160" cy="2015490"/>
        </p:xfrm>
        <a:graphic>
          <a:graphicData uri="http://schemas.openxmlformats.org/drawingml/2006/table">
            <a:tbl>
              <a:tblPr/>
              <a:tblGrid>
                <a:gridCol w="2321255">
                  <a:extLst>
                    <a:ext uri="{9D8B030D-6E8A-4147-A177-3AD203B41FA5}">
                      <a16:colId xmlns:a16="http://schemas.microsoft.com/office/drawing/2014/main" val="20000"/>
                    </a:ext>
                  </a:extLst>
                </a:gridCol>
                <a:gridCol w="2321255">
                  <a:extLst>
                    <a:ext uri="{9D8B030D-6E8A-4147-A177-3AD203B41FA5}">
                      <a16:colId xmlns:a16="http://schemas.microsoft.com/office/drawing/2014/main" val="20001"/>
                    </a:ext>
                  </a:extLst>
                </a:gridCol>
                <a:gridCol w="2954325">
                  <a:extLst>
                    <a:ext uri="{9D8B030D-6E8A-4147-A177-3AD203B41FA5}">
                      <a16:colId xmlns:a16="http://schemas.microsoft.com/office/drawing/2014/main" val="20002"/>
                    </a:ext>
                  </a:extLst>
                </a:gridCol>
                <a:gridCol w="2954325">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Catégorie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AWS</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Azure</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Google Cloud</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Modèles de fondation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Amazon Bedrock</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Microsoft Foundry (ex-Azure AI Foundry)</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Gemini Enterprise Agent Platform (ex-Vertex AI)</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Vision par ordinateur</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Rekognition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Azure AI Vision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Cloud Vision API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Traitement du langage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Comprehend</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Azure AI Language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Cloud Natural Language API</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Parole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Transcribe, Polly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Azure AI Speech</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Speech-to-Text, Text-to-Speech</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4"/>
                  </a:ext>
                </a:extLst>
              </a:tr>
            </a:tbl>
          </a:graphicData>
        </a:graphic>
      </p:graphicFrame>
      <p:sp>
        <p:nvSpPr>
          <p:cNvPr id="8" name="Text 5"/>
          <p:cNvSpPr/>
          <p:nvPr/>
        </p:nvSpPr>
        <p:spPr>
          <a:xfrm>
            <a:off x="812800" y="4404358"/>
            <a:ext cx="10883392"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231B3A"/>
                </a:solidFill>
                <a:latin typeface="IBM Plex Sans" pitchFamily="34" charset="0"/>
                <a:ea typeface="IBM Plex Sans" pitchFamily="34" charset="-122"/>
                <a:cs typeface="IBM Plex Sans" pitchFamily="34" charset="-120"/>
              </a:rPr>
              <a:t>Ces catalogues évoluent vite : retenez la logique (une API, un prix à l’usage, aucune infrastructure à gérer).</a:t>
            </a:r>
            <a:endParaRPr lang="en-US" sz="1300" dirty="0"/>
          </a:p>
        </p:txBody>
      </p:sp>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6 · L’IA DANS LE CLOUD</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Maîtriser le coût du calcul GPU</a:t>
            </a:r>
            <a:endParaRPr lang="en-US" sz="3200" dirty="0"/>
          </a:p>
        </p:txBody>
      </p:sp>
      <p:pic>
        <p:nvPicPr>
          <p:cNvPr id="4" name="Image 0" descr="Plus on accepte un risque d'interruption, plus le prix baisse : à la demande en haut à gauche, réservé au milieu, spot en bas à droite"/>
          <p:cNvPicPr>
            <a:picLocks noChangeAspect="1"/>
          </p:cNvPicPr>
          <p:nvPr/>
        </p:nvPicPr>
        <p:blipFill>
          <a:blip r:embed="rId3"/>
          <a:srcRect/>
          <a:stretch/>
        </p:blipFill>
        <p:spPr>
          <a:xfrm>
            <a:off x="812800" y="1727200"/>
            <a:ext cx="4572000" cy="3556000"/>
          </a:xfrm>
          <a:prstGeom prst="rect">
            <a:avLst/>
          </a:prstGeom>
        </p:spPr>
      </p:pic>
      <p:sp>
        <p:nvSpPr>
          <p:cNvPr id="5" name="Text 2"/>
          <p:cNvSpPr/>
          <p:nvPr/>
        </p:nvSpPr>
        <p:spPr>
          <a:xfrm>
            <a:off x="1257300" y="1727200"/>
            <a:ext cx="132080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585"/>
                </a:solidFill>
                <a:latin typeface="IBM Plex Sans" pitchFamily="34" charset="0"/>
                <a:ea typeface="IBM Plex Sans" pitchFamily="34" charset="-122"/>
                <a:cs typeface="IBM Plex Sans" pitchFamily="34" charset="-120"/>
              </a:rPr>
              <a:t>Prix</a:t>
            </a:r>
            <a:endParaRPr lang="en-US" sz="1200" dirty="0"/>
          </a:p>
        </p:txBody>
      </p:sp>
      <p:sp>
        <p:nvSpPr>
          <p:cNvPr id="6" name="Text 3"/>
          <p:cNvSpPr/>
          <p:nvPr/>
        </p:nvSpPr>
        <p:spPr>
          <a:xfrm>
            <a:off x="2082800" y="2311400"/>
            <a:ext cx="1962150" cy="22352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A65400"/>
                </a:solidFill>
                <a:latin typeface="IBM Plex Sans" pitchFamily="34" charset="0"/>
                <a:ea typeface="IBM Plex Sans" pitchFamily="34" charset="-122"/>
                <a:cs typeface="IBM Plex Sans" pitchFamily="34" charset="-120"/>
              </a:rPr>
              <a:t>À la demande</a:t>
            </a:r>
            <a:endParaRPr lang="en-US" sz="1200" dirty="0"/>
          </a:p>
        </p:txBody>
      </p:sp>
      <p:sp>
        <p:nvSpPr>
          <p:cNvPr id="7" name="Text 4"/>
          <p:cNvSpPr/>
          <p:nvPr/>
        </p:nvSpPr>
        <p:spPr>
          <a:xfrm>
            <a:off x="2082800" y="3327400"/>
            <a:ext cx="2354580" cy="22352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5B2E9E"/>
                </a:solidFill>
                <a:latin typeface="IBM Plex Sans" pitchFamily="34" charset="0"/>
                <a:ea typeface="IBM Plex Sans" pitchFamily="34" charset="-122"/>
                <a:cs typeface="IBM Plex Sans" pitchFamily="34" charset="-120"/>
              </a:rPr>
              <a:t>Réservé (engagement)</a:t>
            </a:r>
            <a:endParaRPr lang="en-US" sz="1200" dirty="0"/>
          </a:p>
        </p:txBody>
      </p:sp>
      <p:sp>
        <p:nvSpPr>
          <p:cNvPr id="8" name="Text 5"/>
          <p:cNvSpPr/>
          <p:nvPr/>
        </p:nvSpPr>
        <p:spPr>
          <a:xfrm>
            <a:off x="2908300" y="4279900"/>
            <a:ext cx="1447800" cy="22352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37485"/>
                </a:solidFill>
                <a:latin typeface="IBM Plex Sans" pitchFamily="34" charset="0"/>
                <a:ea typeface="IBM Plex Sans" pitchFamily="34" charset="-122"/>
                <a:cs typeface="IBM Plex Sans" pitchFamily="34" charset="-120"/>
              </a:rPr>
              <a:t>Spot / préemptible</a:t>
            </a:r>
            <a:endParaRPr lang="en-US" sz="1200" dirty="0"/>
          </a:p>
        </p:txBody>
      </p:sp>
      <p:sp>
        <p:nvSpPr>
          <p:cNvPr id="9" name="Text 6"/>
          <p:cNvSpPr/>
          <p:nvPr/>
        </p:nvSpPr>
        <p:spPr>
          <a:xfrm>
            <a:off x="2717800" y="4876800"/>
            <a:ext cx="261620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585"/>
                </a:solidFill>
                <a:latin typeface="IBM Plex Sans" pitchFamily="34" charset="0"/>
                <a:ea typeface="IBM Plex Sans" pitchFamily="34" charset="-122"/>
                <a:cs typeface="IBM Plex Sans" pitchFamily="34" charset="-120"/>
              </a:rPr>
              <a:t>Risque d’interruption</a:t>
            </a:r>
            <a:endParaRPr lang="en-US" sz="1200" dirty="0"/>
          </a:p>
        </p:txBody>
      </p:sp>
      <p:sp>
        <p:nvSpPr>
          <p:cNvPr id="10" name="Shape 7"/>
          <p:cNvSpPr/>
          <p:nvPr/>
        </p:nvSpPr>
        <p:spPr>
          <a:xfrm>
            <a:off x="5740400" y="1727200"/>
            <a:ext cx="5638800" cy="1005840"/>
          </a:xfrm>
          <a:prstGeom prst="roundRect">
            <a:avLst>
              <a:gd name="adj" fmla="val 10101"/>
            </a:avLst>
          </a:prstGeom>
          <a:solidFill>
            <a:srgbClr val="FBE5CF"/>
          </a:solidFill>
          <a:ln/>
        </p:spPr>
        <p:txBody>
          <a:bodyPr/>
          <a:lstStyle/>
          <a:p>
            <a:endParaRPr lang="fr-FR"/>
          </a:p>
        </p:txBody>
      </p:sp>
      <p:sp>
        <p:nvSpPr>
          <p:cNvPr id="11" name="Text 8"/>
          <p:cNvSpPr/>
          <p:nvPr/>
        </p:nvSpPr>
        <p:spPr>
          <a:xfrm>
            <a:off x="5892800" y="1879600"/>
            <a:ext cx="549402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65400"/>
                </a:solidFill>
                <a:latin typeface="IBM Plex Sans" pitchFamily="34" charset="0"/>
                <a:ea typeface="IBM Plex Sans" pitchFamily="34" charset="-122"/>
                <a:cs typeface="IBM Plex Sans" pitchFamily="34" charset="-120"/>
              </a:rPr>
              <a:t>À la demande</a:t>
            </a:r>
            <a:endParaRPr lang="en-US" sz="1400" dirty="0"/>
          </a:p>
        </p:txBody>
      </p:sp>
      <p:sp>
        <p:nvSpPr>
          <p:cNvPr id="12" name="Text 9"/>
          <p:cNvSpPr/>
          <p:nvPr/>
        </p:nvSpPr>
        <p:spPr>
          <a:xfrm>
            <a:off x="5892800" y="2169158"/>
            <a:ext cx="54940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Tarif plein, sans engagement : flexible mais le plus cher.</a:t>
            </a:r>
            <a:endParaRPr lang="en-US" sz="1200" dirty="0"/>
          </a:p>
        </p:txBody>
      </p:sp>
      <p:sp>
        <p:nvSpPr>
          <p:cNvPr id="13" name="Shape 10"/>
          <p:cNvSpPr/>
          <p:nvPr/>
        </p:nvSpPr>
        <p:spPr>
          <a:xfrm>
            <a:off x="5740400" y="2860042"/>
            <a:ext cx="5638800" cy="1005840"/>
          </a:xfrm>
          <a:prstGeom prst="roundRect">
            <a:avLst>
              <a:gd name="adj" fmla="val 10101"/>
            </a:avLst>
          </a:prstGeom>
          <a:solidFill>
            <a:srgbClr val="ECE7F6"/>
          </a:solidFill>
          <a:ln/>
        </p:spPr>
        <p:txBody>
          <a:bodyPr/>
          <a:lstStyle/>
          <a:p>
            <a:endParaRPr lang="fr-FR"/>
          </a:p>
        </p:txBody>
      </p:sp>
      <p:sp>
        <p:nvSpPr>
          <p:cNvPr id="14" name="Text 11"/>
          <p:cNvSpPr/>
          <p:nvPr/>
        </p:nvSpPr>
        <p:spPr>
          <a:xfrm>
            <a:off x="5892800" y="3012442"/>
            <a:ext cx="5494020" cy="185949"/>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5B2E9E"/>
                </a:solidFill>
                <a:latin typeface="IBM Plex Sans" pitchFamily="34" charset="0"/>
                <a:ea typeface="IBM Plex Sans" pitchFamily="34" charset="-122"/>
                <a:cs typeface="IBM Plex Sans" pitchFamily="34" charset="-120"/>
              </a:rPr>
              <a:t>Réservé</a:t>
            </a:r>
            <a:endParaRPr lang="en-US" sz="1059" dirty="0"/>
          </a:p>
        </p:txBody>
      </p:sp>
      <p:sp>
        <p:nvSpPr>
          <p:cNvPr id="15" name="Text 12"/>
          <p:cNvSpPr/>
          <p:nvPr/>
        </p:nvSpPr>
        <p:spPr>
          <a:xfrm>
            <a:off x="5892800" y="3249191"/>
            <a:ext cx="5494020" cy="489691"/>
          </a:xfrm>
          <a:prstGeom prst="rect">
            <a:avLst/>
          </a:prstGeom>
          <a:noFill/>
          <a:ln/>
        </p:spPr>
        <p:txBody>
          <a:bodyPr wrap="square" lIns="0" tIns="0" rIns="0" bIns="0" rtlCol="0" anchor="t">
            <a:normAutofit/>
          </a:bodyPr>
          <a:lstStyle/>
          <a:p>
            <a:pPr marL="0" indent="0" algn="l">
              <a:lnSpc>
                <a:spcPts val="1559"/>
              </a:lnSpc>
              <a:buNone/>
            </a:pPr>
            <a:r>
              <a:rPr lang="en-US" sz="1155" dirty="0">
                <a:solidFill>
                  <a:srgbClr val="4A4462"/>
                </a:solidFill>
                <a:latin typeface="IBM Plex Sans" pitchFamily="34" charset="0"/>
                <a:ea typeface="IBM Plex Sans" pitchFamily="34" charset="-122"/>
                <a:cs typeface="IBM Plex Sans" pitchFamily="34" charset="-120"/>
              </a:rPr>
              <a:t>Engagement sur 1 à 3 ans contre une réduction significative. Pour un gros entraînement, on peut aussi réserver de la capacité GPU sur une période donnée.</a:t>
            </a:r>
            <a:endParaRPr lang="en-US" sz="1155" dirty="0"/>
          </a:p>
        </p:txBody>
      </p:sp>
      <p:sp>
        <p:nvSpPr>
          <p:cNvPr id="16" name="Shape 13"/>
          <p:cNvSpPr/>
          <p:nvPr/>
        </p:nvSpPr>
        <p:spPr>
          <a:xfrm>
            <a:off x="5740400" y="3992885"/>
            <a:ext cx="5638800" cy="1005840"/>
          </a:xfrm>
          <a:prstGeom prst="roundRect">
            <a:avLst>
              <a:gd name="adj" fmla="val 10101"/>
            </a:avLst>
          </a:prstGeom>
          <a:solidFill>
            <a:srgbClr val="D3EDF1"/>
          </a:solidFill>
          <a:ln/>
        </p:spPr>
        <p:txBody>
          <a:bodyPr/>
          <a:lstStyle/>
          <a:p>
            <a:endParaRPr lang="fr-FR"/>
          </a:p>
        </p:txBody>
      </p:sp>
      <p:sp>
        <p:nvSpPr>
          <p:cNvPr id="17" name="Text 14"/>
          <p:cNvSpPr/>
          <p:nvPr/>
        </p:nvSpPr>
        <p:spPr>
          <a:xfrm>
            <a:off x="5892800" y="4145285"/>
            <a:ext cx="549402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7485"/>
                </a:solidFill>
                <a:latin typeface="IBM Plex Sans" pitchFamily="34" charset="0"/>
                <a:ea typeface="IBM Plex Sans" pitchFamily="34" charset="-122"/>
                <a:cs typeface="IBM Plex Sans" pitchFamily="34" charset="-120"/>
              </a:rPr>
              <a:t>Spot</a:t>
            </a:r>
            <a:endParaRPr lang="en-US" sz="1400" dirty="0"/>
          </a:p>
        </p:txBody>
      </p:sp>
      <p:sp>
        <p:nvSpPr>
          <p:cNvPr id="18" name="Text 15"/>
          <p:cNvSpPr/>
          <p:nvPr/>
        </p:nvSpPr>
        <p:spPr>
          <a:xfrm>
            <a:off x="5892800" y="4434842"/>
            <a:ext cx="549402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Capacité inutilisée du fournisseur, souvent 60 à 90 % moins chère, mais reprise à tout moment. Les GPU spot sont parfois rares.</a:t>
            </a:r>
            <a:endParaRPr lang="en-US" sz="1200" dirty="0"/>
          </a:p>
        </p:txBody>
      </p:sp>
      <p:sp>
        <p:nvSpPr>
          <p:cNvPr id="19" name="Text 16"/>
          <p:cNvSpPr/>
          <p:nvPr/>
        </p:nvSpPr>
        <p:spPr>
          <a:xfrm>
            <a:off x="5740400" y="5125715"/>
            <a:ext cx="5807964"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Règle :</a:t>
            </a:r>
            <a:r>
              <a:rPr lang="en-US" sz="1200" dirty="0">
                <a:solidFill>
                  <a:srgbClr val="231B3A"/>
                </a:solidFill>
                <a:latin typeface="IBM Plex Sans" pitchFamily="34" charset="0"/>
                <a:ea typeface="IBM Plex Sans" pitchFamily="34" charset="-122"/>
                <a:cs typeface="IBM Plex Sans" pitchFamily="34" charset="-120"/>
              </a:rPr>
              <a:t> entraînement avec points de sauvegarde réguliers → spot. Inférence en production → à la demande ou réservé.</a:t>
            </a:r>
            <a:endParaRPr lang="en-US" sz="1200" dirty="0"/>
          </a:p>
        </p:txBody>
      </p:sp>
      <p:sp>
        <p:nvSpPr>
          <p:cNvPr id="20" name="Text 17"/>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6 · L’IA DANS LE CLOUD</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Quel provider pour quel besoin ?</a:t>
            </a:r>
            <a:endParaRPr lang="en-US" sz="3200" dirty="0"/>
          </a:p>
        </p:txBody>
      </p:sp>
      <p:sp>
        <p:nvSpPr>
          <p:cNvPr id="4" name="Shape 2"/>
          <p:cNvSpPr/>
          <p:nvPr/>
        </p:nvSpPr>
        <p:spPr>
          <a:xfrm>
            <a:off x="11376025" y="1727200"/>
            <a:ext cx="0" cy="2948940"/>
          </a:xfrm>
          <a:prstGeom prst="line">
            <a:avLst/>
          </a:prstGeom>
          <a:noFill/>
          <a:ln w="6350">
            <a:solidFill>
              <a:srgbClr val="E4E2EA"/>
            </a:solidFill>
            <a:prstDash val="solid"/>
          </a:ln>
        </p:spPr>
        <p:txBody>
          <a:bodyPr/>
          <a:lstStyle/>
          <a:p>
            <a:endParaRPr lang="fr-FR"/>
          </a:p>
        </p:txBody>
      </p:sp>
      <p:sp>
        <p:nvSpPr>
          <p:cNvPr id="5" name="Shape 3"/>
          <p:cNvSpPr/>
          <p:nvPr/>
        </p:nvSpPr>
        <p:spPr>
          <a:xfrm>
            <a:off x="812800" y="4672965"/>
            <a:ext cx="10566400" cy="0"/>
          </a:xfrm>
          <a:prstGeom prst="line">
            <a:avLst/>
          </a:prstGeom>
          <a:noFill/>
          <a:ln w="6350">
            <a:solidFill>
              <a:srgbClr val="E4E2EA"/>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51160" cy="2933700"/>
        </p:xfrm>
        <a:graphic>
          <a:graphicData uri="http://schemas.openxmlformats.org/drawingml/2006/table">
            <a:tbl>
              <a:tblPr/>
              <a:tblGrid>
                <a:gridCol w="5486603">
                  <a:extLst>
                    <a:ext uri="{9D8B030D-6E8A-4147-A177-3AD203B41FA5}">
                      <a16:colId xmlns:a16="http://schemas.microsoft.com/office/drawing/2014/main" val="20000"/>
                    </a:ext>
                  </a:extLst>
                </a:gridCol>
                <a:gridCol w="5064557">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F4F1FA"/>
                          </a:solidFill>
                          <a:latin typeface="IBM Plex Sans" pitchFamily="34" charset="0"/>
                          <a:ea typeface="IBM Plex Sans" pitchFamily="34" charset="-122"/>
                          <a:cs typeface="IBM Plex Sans" pitchFamily="34" charset="-120"/>
                        </a:rPr>
                        <a:t>Votre besoin</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960"/>
                        </a:lnSpc>
                        <a:buNone/>
                      </a:pPr>
                      <a:r>
                        <a:rPr lang="en-US" sz="1400" b="1" dirty="0">
                          <a:solidFill>
                            <a:srgbClr val="F4F1FA"/>
                          </a:solidFill>
                          <a:latin typeface="IBM Plex Sans" pitchFamily="34" charset="0"/>
                          <a:ea typeface="IBM Plex Sans" pitchFamily="34" charset="-122"/>
                          <a:cs typeface="IBM Plex Sans" pitchFamily="34" charset="-120"/>
                        </a:rPr>
                        <a:t>Une piste</a:t>
                      </a:r>
                      <a:endParaRPr lang="en-US" sz="1400" dirty="0">
                        <a:latin typeface="IBM Plex Sans" charset="0"/>
                        <a:ea typeface="IBM Plex Sans" charset="0"/>
                        <a:cs typeface="IBM Plex Sans" charset="0"/>
                      </a:endParaRPr>
                    </a:p>
                  </a:txBody>
                  <a:tcPr marL="62230" marR="62230" marT="62230" marB="62230">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Le catalogue de services le plus large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AWS</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Une intégration avec Microsoft 365 et Entra ID</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Azure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Data et ML historiques, accès aux TPU</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Google Cloud</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3"/>
                  </a:ext>
                </a:extLst>
              </a:tr>
              <a:tr h="63246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Données sensibles, souveraineté</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OVHcloud, Scaleway, Outscale, offres qualifiées SecNumCloud</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Un écosystème déjà en place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Celui que votre entreprise utilise déjà</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231B3A"/>
                          </a:solidFill>
                          <a:latin typeface="IBM Plex Sans" pitchFamily="34" charset="0"/>
                          <a:ea typeface="IBM Plex Sans" pitchFamily="34" charset="-122"/>
                          <a:cs typeface="IBM Plex Sans" pitchFamily="34" charset="-120"/>
                        </a:rPr>
                        <a:t>Débuter sans a priori</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960"/>
                        </a:lnSpc>
                        <a:buNone/>
                      </a:pPr>
                      <a:r>
                        <a:rPr lang="en-US" sz="1400" dirty="0">
                          <a:solidFill>
                            <a:srgbClr val="4A4462"/>
                          </a:solidFill>
                          <a:latin typeface="IBM Plex Sans" pitchFamily="34" charset="0"/>
                          <a:ea typeface="IBM Plex Sans" pitchFamily="34" charset="-122"/>
                          <a:cs typeface="IBM Plex Sans" pitchFamily="34" charset="-120"/>
                        </a:rPr>
                        <a:t>Les trois grands proposent un niveau gratuit (hors GPU)</a:t>
                      </a:r>
                      <a:endParaRPr lang="en-US" sz="1400" dirty="0">
                        <a:latin typeface="IBM Plex Sans" charset="0"/>
                        <a:ea typeface="IBM Plex Sans" charset="0"/>
                        <a:cs typeface="IBM Plex Sans" charset="0"/>
                      </a:endParaRPr>
                    </a:p>
                  </a:txBody>
                  <a:tcPr marL="62230" marR="62230" marT="62230" marB="62230">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4879342"/>
            <a:ext cx="10566400" cy="494030"/>
          </a:xfrm>
          <a:prstGeom prst="roundRect">
            <a:avLst>
              <a:gd name="adj" fmla="val 15424"/>
            </a:avLst>
          </a:prstGeom>
          <a:solidFill>
            <a:srgbClr val="F1EEF7"/>
          </a:solidFill>
          <a:ln/>
        </p:spPr>
        <p:txBody>
          <a:bodyPr wrap="square" lIns="155482" tIns="104682" rIns="0" bIns="79282" rtlCol="0" anchor="t">
            <a:normAutofit/>
          </a:bodyPr>
          <a:lstStyle/>
          <a:p>
            <a:pPr marL="0" indent="0" algn="l">
              <a:lnSpc>
                <a:spcPts val="1890"/>
              </a:lnSpc>
              <a:buNone/>
            </a:pPr>
            <a:r>
              <a:rPr lang="en-US" sz="1400" dirty="0">
                <a:solidFill>
                  <a:srgbClr val="231B3A"/>
                </a:solidFill>
                <a:latin typeface="IBM Plex Sans" pitchFamily="34" charset="0"/>
                <a:ea typeface="IBM Plex Sans" pitchFamily="34" charset="-122"/>
                <a:cs typeface="IBM Plex Sans" pitchFamily="34" charset="-120"/>
              </a:rPr>
              <a:t>Il n’y a pas de « meilleur » fournisseur dans l’absolu, seulement le plus adapté à un contexte, une équipe et un existant donnés.</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153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D3DF"/>
                </a:solidFill>
                <a:latin typeface="IBM Plex Sans" pitchFamily="34" charset="0"/>
                <a:ea typeface="IBM Plex Sans" pitchFamily="34" charset="-122"/>
                <a:cs typeface="IBM Plex Sans" pitchFamily="34" charset="-120"/>
              </a:rPr>
              <a:t>SYNTHÈSE</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1FA"/>
                </a:solidFill>
                <a:latin typeface="IBM Plex Sans" pitchFamily="34" charset="0"/>
                <a:ea typeface="IBM Plex Sans" pitchFamily="34" charset="-122"/>
                <a:cs typeface="IBM Plex Sans" pitchFamily="34" charset="-120"/>
              </a:rPr>
              <a:t>Ce qu’il faut retenir</a:t>
            </a:r>
            <a:endParaRPr lang="en-US" sz="3200" dirty="0"/>
          </a:p>
        </p:txBody>
      </p:sp>
      <p:sp>
        <p:nvSpPr>
          <p:cNvPr id="4" name="Text 2"/>
          <p:cNvSpPr/>
          <p:nvPr/>
        </p:nvSpPr>
        <p:spPr>
          <a:xfrm>
            <a:off x="812800" y="17780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7FD3DF"/>
          </a:solidFill>
          <a:ln/>
        </p:spPr>
        <p:txBody>
          <a:bodyPr wrap="square" lIns="0" tIns="0" rIns="0" bIns="0" rtlCol="0" anchor="t">
            <a:normAutofit/>
          </a:bodyPr>
          <a:lstStyle/>
          <a:p>
            <a:pPr marL="0" indent="0" algn="ctr">
              <a:lnSpc>
                <a:spcPts val="2405"/>
              </a:lnSpc>
              <a:buNone/>
            </a:pPr>
            <a:r>
              <a:rPr lang="en-US" sz="1300" b="1" dirty="0">
                <a:solidFill>
                  <a:srgbClr val="1E1538"/>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70000" y="1810383"/>
            <a:ext cx="10922000"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FA"/>
                </a:solidFill>
                <a:latin typeface="IBM Plex Sans" pitchFamily="34" charset="0"/>
                <a:ea typeface="IBM Plex Sans" pitchFamily="34" charset="-122"/>
                <a:cs typeface="IBM Plex Sans" pitchFamily="34" charset="-120"/>
              </a:rPr>
              <a:t>Le cloud loue du calcul, du stockage et du réseau à la demande, et le paiement à l’usage colle aux besoins ponctuels de l’IA.</a:t>
            </a:r>
            <a:endParaRPr lang="en-US" sz="1400" dirty="0"/>
          </a:p>
        </p:txBody>
      </p:sp>
      <p:sp>
        <p:nvSpPr>
          <p:cNvPr id="6" name="Text 4"/>
          <p:cNvSpPr/>
          <p:nvPr/>
        </p:nvSpPr>
        <p:spPr>
          <a:xfrm>
            <a:off x="812800" y="22225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7FD3DF"/>
          </a:solidFill>
          <a:ln/>
        </p:spPr>
        <p:txBody>
          <a:bodyPr wrap="square" lIns="0" tIns="0" rIns="0" bIns="0" rtlCol="0" anchor="t">
            <a:normAutofit/>
          </a:bodyPr>
          <a:lstStyle/>
          <a:p>
            <a:pPr marL="0" indent="0" algn="ctr">
              <a:lnSpc>
                <a:spcPts val="2405"/>
              </a:lnSpc>
              <a:buNone/>
            </a:pPr>
            <a:r>
              <a:rPr lang="en-US" sz="1300" b="1" dirty="0">
                <a:solidFill>
                  <a:srgbClr val="1E1538"/>
                </a:solidFill>
                <a:latin typeface="IBM Plex Sans" pitchFamily="34" charset="0"/>
                <a:ea typeface="IBM Plex Sans" pitchFamily="34" charset="-122"/>
                <a:cs typeface="IBM Plex Sans" pitchFamily="34" charset="-120"/>
              </a:rPr>
              <a:t>2</a:t>
            </a:r>
            <a:endParaRPr lang="en-US" sz="1300" dirty="0"/>
          </a:p>
        </p:txBody>
      </p:sp>
      <p:sp>
        <p:nvSpPr>
          <p:cNvPr id="7" name="Text 5"/>
          <p:cNvSpPr/>
          <p:nvPr/>
        </p:nvSpPr>
        <p:spPr>
          <a:xfrm>
            <a:off x="1270000" y="2254883"/>
            <a:ext cx="1041247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FA"/>
                </a:solidFill>
                <a:latin typeface="IBM Plex Sans" pitchFamily="34" charset="0"/>
                <a:ea typeface="IBM Plex Sans" pitchFamily="34" charset="-122"/>
                <a:cs typeface="IBM Plex Sans" pitchFamily="34" charset="-120"/>
              </a:rPr>
              <a:t>IaaS, PaaS, SaaS : plus on délègue, moins on gère, et moins on contrôle. Vos données restent toujours votre responsabilité.</a:t>
            </a:r>
            <a:endParaRPr lang="en-US" sz="1400" dirty="0"/>
          </a:p>
        </p:txBody>
      </p:sp>
      <p:sp>
        <p:nvSpPr>
          <p:cNvPr id="8" name="Text 6"/>
          <p:cNvSpPr/>
          <p:nvPr/>
        </p:nvSpPr>
        <p:spPr>
          <a:xfrm>
            <a:off x="812800" y="26670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7FD3DF"/>
          </a:solidFill>
          <a:ln/>
        </p:spPr>
        <p:txBody>
          <a:bodyPr wrap="square" lIns="0" tIns="0" rIns="0" bIns="0" rtlCol="0" anchor="t">
            <a:normAutofit/>
          </a:bodyPr>
          <a:lstStyle/>
          <a:p>
            <a:pPr marL="0" indent="0" algn="ctr">
              <a:lnSpc>
                <a:spcPts val="2405"/>
              </a:lnSpc>
              <a:buNone/>
            </a:pPr>
            <a:r>
              <a:rPr lang="en-US" sz="1300" b="1" dirty="0">
                <a:solidFill>
                  <a:srgbClr val="1E1538"/>
                </a:solidFill>
                <a:latin typeface="IBM Plex Sans" pitchFamily="34" charset="0"/>
                <a:ea typeface="IBM Plex Sans" pitchFamily="34" charset="-122"/>
                <a:cs typeface="IBM Plex Sans" pitchFamily="34" charset="-120"/>
              </a:rPr>
              <a:t>3</a:t>
            </a:r>
            <a:endParaRPr lang="en-US" sz="1300" dirty="0"/>
          </a:p>
        </p:txBody>
      </p:sp>
      <p:sp>
        <p:nvSpPr>
          <p:cNvPr id="9" name="Text 7"/>
          <p:cNvSpPr/>
          <p:nvPr/>
        </p:nvSpPr>
        <p:spPr>
          <a:xfrm>
            <a:off x="1270000" y="2699383"/>
            <a:ext cx="1041247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FA"/>
                </a:solidFill>
                <a:latin typeface="IBM Plex Sans" pitchFamily="34" charset="0"/>
                <a:ea typeface="IBM Plex Sans" pitchFamily="34" charset="-122"/>
                <a:cs typeface="IBM Plex Sans" pitchFamily="34" charset="-120"/>
              </a:rPr>
              <a:t>AWS, Azure et Google Cloud dominent ; des alternatives européennes répondent aux enjeux de souveraineté.</a:t>
            </a:r>
            <a:endParaRPr lang="en-US" sz="1400" dirty="0"/>
          </a:p>
        </p:txBody>
      </p:sp>
      <p:sp>
        <p:nvSpPr>
          <p:cNvPr id="10" name="Text 8"/>
          <p:cNvSpPr/>
          <p:nvPr/>
        </p:nvSpPr>
        <p:spPr>
          <a:xfrm>
            <a:off x="812800" y="31115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7FD3DF"/>
          </a:solidFill>
          <a:ln/>
        </p:spPr>
        <p:txBody>
          <a:bodyPr wrap="square" lIns="0" tIns="0" rIns="0" bIns="0" rtlCol="0" anchor="t">
            <a:normAutofit/>
          </a:bodyPr>
          <a:lstStyle/>
          <a:p>
            <a:pPr marL="0" indent="0" algn="ctr">
              <a:lnSpc>
                <a:spcPts val="2405"/>
              </a:lnSpc>
              <a:buNone/>
            </a:pPr>
            <a:r>
              <a:rPr lang="en-US" sz="1300" b="1" dirty="0">
                <a:solidFill>
                  <a:srgbClr val="1E1538"/>
                </a:solidFill>
                <a:latin typeface="IBM Plex Sans" pitchFamily="34" charset="0"/>
                <a:ea typeface="IBM Plex Sans" pitchFamily="34" charset="-122"/>
                <a:cs typeface="IBM Plex Sans" pitchFamily="34" charset="-120"/>
              </a:rPr>
              <a:t>4</a:t>
            </a:r>
            <a:endParaRPr lang="en-US" sz="1300" dirty="0"/>
          </a:p>
        </p:txBody>
      </p:sp>
      <p:sp>
        <p:nvSpPr>
          <p:cNvPr id="11" name="Text 9"/>
          <p:cNvSpPr/>
          <p:nvPr/>
        </p:nvSpPr>
        <p:spPr>
          <a:xfrm>
            <a:off x="1270000" y="3143883"/>
            <a:ext cx="1041247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FA"/>
                </a:solidFill>
                <a:latin typeface="IBM Plex Sans" pitchFamily="34" charset="0"/>
                <a:ea typeface="IBM Plex Sans" pitchFamily="34" charset="-122"/>
                <a:cs typeface="IBM Plex Sans" pitchFamily="34" charset="-120"/>
              </a:rPr>
              <a:t>VM et conteneurs se combinent ; le choix du service de calcul dépend du contrôle dont on a besoin.</a:t>
            </a:r>
            <a:endParaRPr lang="en-US" sz="1400" dirty="0"/>
          </a:p>
        </p:txBody>
      </p:sp>
      <p:sp>
        <p:nvSpPr>
          <p:cNvPr id="12" name="Text 10"/>
          <p:cNvSpPr/>
          <p:nvPr/>
        </p:nvSpPr>
        <p:spPr>
          <a:xfrm>
            <a:off x="812800" y="35560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7FD3DF"/>
          </a:solidFill>
          <a:ln/>
        </p:spPr>
        <p:txBody>
          <a:bodyPr wrap="square" lIns="0" tIns="0" rIns="0" bIns="0" rtlCol="0" anchor="t">
            <a:normAutofit/>
          </a:bodyPr>
          <a:lstStyle/>
          <a:p>
            <a:pPr marL="0" indent="0" algn="ctr">
              <a:lnSpc>
                <a:spcPts val="2405"/>
              </a:lnSpc>
              <a:buNone/>
            </a:pPr>
            <a:r>
              <a:rPr lang="en-US" sz="1300" b="1" dirty="0">
                <a:solidFill>
                  <a:srgbClr val="1E1538"/>
                </a:solidFill>
                <a:latin typeface="IBM Plex Sans" pitchFamily="34" charset="0"/>
                <a:ea typeface="IBM Plex Sans" pitchFamily="34" charset="-122"/>
                <a:cs typeface="IBM Plex Sans" pitchFamily="34" charset="-120"/>
              </a:rPr>
              <a:t>5</a:t>
            </a:r>
            <a:endParaRPr lang="en-US" sz="1300" dirty="0"/>
          </a:p>
        </p:txBody>
      </p:sp>
      <p:sp>
        <p:nvSpPr>
          <p:cNvPr id="13" name="Text 11"/>
          <p:cNvSpPr/>
          <p:nvPr/>
        </p:nvSpPr>
        <p:spPr>
          <a:xfrm>
            <a:off x="1270000" y="3588383"/>
            <a:ext cx="1041247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FA"/>
                </a:solidFill>
                <a:latin typeface="IBM Plex Sans" pitchFamily="34" charset="0"/>
                <a:ea typeface="IBM Plex Sans" pitchFamily="34" charset="-122"/>
                <a:cs typeface="IBM Plex Sans" pitchFamily="34" charset="-120"/>
              </a:rPr>
              <a:t>Un VPC avec des subnets publics et privés, et l’IAM au moindre privilège : la sécurité se conçoit dès le départ.</a:t>
            </a:r>
            <a:endParaRPr lang="en-US" sz="1400" dirty="0"/>
          </a:p>
        </p:txBody>
      </p:sp>
      <p:sp>
        <p:nvSpPr>
          <p:cNvPr id="14" name="Text 12"/>
          <p:cNvSpPr/>
          <p:nvPr/>
        </p:nvSpPr>
        <p:spPr>
          <a:xfrm>
            <a:off x="812800" y="40005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7FD3DF"/>
          </a:solidFill>
          <a:ln/>
        </p:spPr>
        <p:txBody>
          <a:bodyPr wrap="square" lIns="0" tIns="0" rIns="0" bIns="0" rtlCol="0" anchor="t">
            <a:normAutofit/>
          </a:bodyPr>
          <a:lstStyle/>
          <a:p>
            <a:pPr marL="0" indent="0" algn="ctr">
              <a:lnSpc>
                <a:spcPts val="2405"/>
              </a:lnSpc>
              <a:buNone/>
            </a:pPr>
            <a:r>
              <a:rPr lang="en-US" sz="1300" b="1" dirty="0">
                <a:solidFill>
                  <a:srgbClr val="1E1538"/>
                </a:solidFill>
                <a:latin typeface="IBM Plex Sans" pitchFamily="34" charset="0"/>
                <a:ea typeface="IBM Plex Sans" pitchFamily="34" charset="-122"/>
                <a:cs typeface="IBM Plex Sans" pitchFamily="34" charset="-120"/>
              </a:rPr>
              <a:t>6</a:t>
            </a:r>
            <a:endParaRPr lang="en-US" sz="1300" dirty="0"/>
          </a:p>
        </p:txBody>
      </p:sp>
      <p:sp>
        <p:nvSpPr>
          <p:cNvPr id="15" name="Text 13"/>
          <p:cNvSpPr/>
          <p:nvPr/>
        </p:nvSpPr>
        <p:spPr>
          <a:xfrm>
            <a:off x="1270000" y="4032883"/>
            <a:ext cx="1041247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FA"/>
                </a:solidFill>
                <a:latin typeface="IBM Plex Sans" pitchFamily="34" charset="0"/>
                <a:ea typeface="IBM Plex Sans" pitchFamily="34" charset="-122"/>
                <a:cs typeface="IBM Plex Sans" pitchFamily="34" charset="-120"/>
              </a:rPr>
              <a:t>Bloc, fichier, objet : un usage chacun. Et la réplication n’est pas une sauvegarde.</a:t>
            </a:r>
            <a:endParaRPr lang="en-US" sz="1400" dirty="0"/>
          </a:p>
        </p:txBody>
      </p:sp>
      <p:sp>
        <p:nvSpPr>
          <p:cNvPr id="16" name="Text 14"/>
          <p:cNvSpPr/>
          <p:nvPr/>
        </p:nvSpPr>
        <p:spPr>
          <a:xfrm>
            <a:off x="812800" y="44450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7FD3DF"/>
          </a:solidFill>
          <a:ln/>
        </p:spPr>
        <p:txBody>
          <a:bodyPr wrap="square" lIns="0" tIns="0" rIns="0" bIns="0" rtlCol="0" anchor="t">
            <a:normAutofit/>
          </a:bodyPr>
          <a:lstStyle/>
          <a:p>
            <a:pPr marL="0" indent="0" algn="ctr">
              <a:lnSpc>
                <a:spcPts val="2405"/>
              </a:lnSpc>
              <a:buNone/>
            </a:pPr>
            <a:r>
              <a:rPr lang="en-US" sz="1300" b="1" dirty="0">
                <a:solidFill>
                  <a:srgbClr val="1E1538"/>
                </a:solidFill>
                <a:latin typeface="IBM Plex Sans" pitchFamily="34" charset="0"/>
                <a:ea typeface="IBM Plex Sans" pitchFamily="34" charset="-122"/>
                <a:cs typeface="IBM Plex Sans" pitchFamily="34" charset="-120"/>
              </a:rPr>
              <a:t>7</a:t>
            </a:r>
            <a:endParaRPr lang="en-US" sz="1300" dirty="0"/>
          </a:p>
        </p:txBody>
      </p:sp>
      <p:sp>
        <p:nvSpPr>
          <p:cNvPr id="17" name="Text 15"/>
          <p:cNvSpPr/>
          <p:nvPr/>
        </p:nvSpPr>
        <p:spPr>
          <a:xfrm>
            <a:off x="1270000" y="4477383"/>
            <a:ext cx="10412476"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FA"/>
                </a:solidFill>
                <a:latin typeface="IBM Plex Sans" pitchFamily="34" charset="0"/>
                <a:ea typeface="IBM Plex Sans" pitchFamily="34" charset="-122"/>
                <a:cs typeface="IBM Plex Sans" pitchFamily="34" charset="-120"/>
              </a:rPr>
              <a:t>Pour le GPU, le mode de facturation se choisit selon la tolérance à l’interruption.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EXERCICE DE RECHERCHE DOCUMENTAIRE</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Présentez un fournisseur cloud</a:t>
            </a:r>
            <a:endParaRPr lang="en-US" sz="3200" dirty="0"/>
          </a:p>
        </p:txBody>
      </p:sp>
      <p:sp>
        <p:nvSpPr>
          <p:cNvPr id="4" name="Text 2"/>
          <p:cNvSpPr/>
          <p:nvPr/>
        </p:nvSpPr>
        <p:spPr>
          <a:xfrm>
            <a:off x="812800" y="1727200"/>
            <a:ext cx="366268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31B3A"/>
                </a:solidFill>
                <a:latin typeface="IBM Plex Sans" pitchFamily="34" charset="0"/>
                <a:ea typeface="IBM Plex Sans" pitchFamily="34" charset="-122"/>
                <a:cs typeface="IBM Plex Sans" pitchFamily="34" charset="-120"/>
              </a:rPr>
              <a:t>Par groupes de 3, choisissez un fournisseur et préparez une présentation d’environ 15 minutes.</a:t>
            </a:r>
            <a:endParaRPr lang="en-US" sz="1300" dirty="0"/>
          </a:p>
        </p:txBody>
      </p:sp>
      <p:sp>
        <p:nvSpPr>
          <p:cNvPr id="5" name="Text 3"/>
          <p:cNvSpPr/>
          <p:nvPr/>
        </p:nvSpPr>
        <p:spPr>
          <a:xfrm>
            <a:off x="812800" y="2497460"/>
            <a:ext cx="1739900" cy="434340"/>
          </a:xfrm>
          <a:custGeom>
            <a:avLst/>
            <a:gdLst/>
            <a:ahLst/>
            <a:cxnLst/>
            <a:rect l="l" t="t" r="r" b="b"/>
            <a:pathLst>
              <a:path w="1739900" h="434340">
                <a:moveTo>
                  <a:pt x="63500" y="0"/>
                </a:moveTo>
                <a:lnTo>
                  <a:pt x="1676400" y="0"/>
                </a:lnTo>
                <a:arcTo wR="63500" hR="63500" stAng="16200000" swAng="5400000"/>
                <a:lnTo>
                  <a:pt x="1739900" y="370840"/>
                </a:lnTo>
                <a:arcTo wR="63500" hR="63500" stAng="0" swAng="5400000"/>
                <a:lnTo>
                  <a:pt x="63500" y="434340"/>
                </a:lnTo>
                <a:arcTo wR="63500" hR="63500" stAng="5400000" swAng="5400000"/>
                <a:lnTo>
                  <a:pt x="0" y="63500"/>
                </a:lnTo>
                <a:arcTo wR="63500" hR="63500" stAng="10800000" swAng="5400000"/>
                <a:close/>
              </a:path>
            </a:pathLst>
          </a:custGeom>
          <a:solidFill>
            <a:srgbClr val="FBE5CF"/>
          </a:solidFill>
          <a:ln/>
        </p:spPr>
        <p:txBody>
          <a:bodyPr wrap="square" lIns="25400" tIns="101600" rIns="25400" bIns="76200" rtlCol="0" anchor="t">
            <a:normAutofit/>
          </a:bodyPr>
          <a:lstStyle/>
          <a:p>
            <a:pPr marL="0" indent="0" algn="ctr">
              <a:lnSpc>
                <a:spcPts val="1820"/>
              </a:lnSpc>
              <a:buNone/>
            </a:pPr>
            <a:r>
              <a:rPr lang="en-US" sz="1300" b="1" dirty="0">
                <a:solidFill>
                  <a:srgbClr val="231B3A"/>
                </a:solidFill>
                <a:latin typeface="IBM Plex Sans" pitchFamily="34" charset="0"/>
                <a:ea typeface="IBM Plex Sans" pitchFamily="34" charset="-122"/>
                <a:cs typeface="IBM Plex Sans" pitchFamily="34" charset="-120"/>
              </a:rPr>
              <a:t>AWS</a:t>
            </a:r>
            <a:endParaRPr lang="en-US" sz="1300" dirty="0"/>
          </a:p>
        </p:txBody>
      </p:sp>
      <p:sp>
        <p:nvSpPr>
          <p:cNvPr id="6" name="Text 4"/>
          <p:cNvSpPr/>
          <p:nvPr/>
        </p:nvSpPr>
        <p:spPr>
          <a:xfrm>
            <a:off x="2628900" y="2497460"/>
            <a:ext cx="1739900" cy="434340"/>
          </a:xfrm>
          <a:custGeom>
            <a:avLst/>
            <a:gdLst/>
            <a:ahLst/>
            <a:cxnLst/>
            <a:rect l="l" t="t" r="r" b="b"/>
            <a:pathLst>
              <a:path w="1739900" h="434340">
                <a:moveTo>
                  <a:pt x="63500" y="0"/>
                </a:moveTo>
                <a:lnTo>
                  <a:pt x="1676400" y="0"/>
                </a:lnTo>
                <a:arcTo wR="63500" hR="63500" stAng="16200000" swAng="5400000"/>
                <a:lnTo>
                  <a:pt x="1739900" y="370840"/>
                </a:lnTo>
                <a:arcTo wR="63500" hR="63500" stAng="0" swAng="5400000"/>
                <a:lnTo>
                  <a:pt x="63500" y="434340"/>
                </a:lnTo>
                <a:arcTo wR="63500" hR="63500" stAng="5400000" swAng="5400000"/>
                <a:lnTo>
                  <a:pt x="0" y="63500"/>
                </a:lnTo>
                <a:arcTo wR="63500" hR="63500" stAng="10800000" swAng="5400000"/>
                <a:close/>
              </a:path>
            </a:pathLst>
          </a:custGeom>
          <a:solidFill>
            <a:srgbClr val="ECE7F6"/>
          </a:solidFill>
          <a:ln/>
        </p:spPr>
        <p:txBody>
          <a:bodyPr wrap="square" lIns="25400" tIns="101600" rIns="25400" bIns="76200" rtlCol="0" anchor="t">
            <a:normAutofit/>
          </a:bodyPr>
          <a:lstStyle/>
          <a:p>
            <a:pPr marL="0" indent="0" algn="ctr">
              <a:lnSpc>
                <a:spcPts val="1820"/>
              </a:lnSpc>
              <a:buNone/>
            </a:pPr>
            <a:r>
              <a:rPr lang="en-US" sz="1300" b="1" dirty="0">
                <a:solidFill>
                  <a:srgbClr val="231B3A"/>
                </a:solidFill>
                <a:latin typeface="IBM Plex Sans" pitchFamily="34" charset="0"/>
                <a:ea typeface="IBM Plex Sans" pitchFamily="34" charset="-122"/>
                <a:cs typeface="IBM Plex Sans" pitchFamily="34" charset="-120"/>
              </a:rPr>
              <a:t>Azure</a:t>
            </a:r>
            <a:endParaRPr lang="en-US" sz="1300" dirty="0"/>
          </a:p>
        </p:txBody>
      </p:sp>
      <p:sp>
        <p:nvSpPr>
          <p:cNvPr id="7" name="Text 5"/>
          <p:cNvSpPr/>
          <p:nvPr/>
        </p:nvSpPr>
        <p:spPr>
          <a:xfrm>
            <a:off x="812800" y="3007990"/>
            <a:ext cx="1739900" cy="434340"/>
          </a:xfrm>
          <a:custGeom>
            <a:avLst/>
            <a:gdLst/>
            <a:ahLst/>
            <a:cxnLst/>
            <a:rect l="l" t="t" r="r" b="b"/>
            <a:pathLst>
              <a:path w="1739900" h="434340">
                <a:moveTo>
                  <a:pt x="63500" y="0"/>
                </a:moveTo>
                <a:lnTo>
                  <a:pt x="1676400" y="0"/>
                </a:lnTo>
                <a:arcTo wR="63500" hR="63500" stAng="16200000" swAng="5400000"/>
                <a:lnTo>
                  <a:pt x="1739900" y="370840"/>
                </a:lnTo>
                <a:arcTo wR="63500" hR="63500" stAng="0" swAng="5400000"/>
                <a:lnTo>
                  <a:pt x="63500" y="434340"/>
                </a:lnTo>
                <a:arcTo wR="63500" hR="63500" stAng="5400000" swAng="5400000"/>
                <a:lnTo>
                  <a:pt x="0" y="63500"/>
                </a:lnTo>
                <a:arcTo wR="63500" hR="63500" stAng="10800000" swAng="5400000"/>
                <a:close/>
              </a:path>
            </a:pathLst>
          </a:custGeom>
          <a:solidFill>
            <a:srgbClr val="D3EDF1"/>
          </a:solidFill>
          <a:ln/>
        </p:spPr>
        <p:txBody>
          <a:bodyPr wrap="square" lIns="25400" tIns="101600" rIns="25400" bIns="76200" rtlCol="0" anchor="t">
            <a:normAutofit/>
          </a:bodyPr>
          <a:lstStyle/>
          <a:p>
            <a:pPr marL="0" indent="0" algn="ctr">
              <a:lnSpc>
                <a:spcPts val="1820"/>
              </a:lnSpc>
              <a:buNone/>
            </a:pPr>
            <a:r>
              <a:rPr lang="en-US" sz="1300" b="1" dirty="0">
                <a:solidFill>
                  <a:srgbClr val="231B3A"/>
                </a:solidFill>
                <a:latin typeface="IBM Plex Sans" pitchFamily="34" charset="0"/>
                <a:ea typeface="IBM Plex Sans" pitchFamily="34" charset="-122"/>
                <a:cs typeface="IBM Plex Sans" pitchFamily="34" charset="-120"/>
              </a:rPr>
              <a:t>Google Cloud</a:t>
            </a:r>
            <a:endParaRPr lang="en-US" sz="1300" dirty="0"/>
          </a:p>
        </p:txBody>
      </p:sp>
      <p:sp>
        <p:nvSpPr>
          <p:cNvPr id="8" name="Text 6"/>
          <p:cNvSpPr/>
          <p:nvPr/>
        </p:nvSpPr>
        <p:spPr>
          <a:xfrm>
            <a:off x="2628900" y="3007990"/>
            <a:ext cx="1739900" cy="434340"/>
          </a:xfrm>
          <a:custGeom>
            <a:avLst/>
            <a:gdLst/>
            <a:ahLst/>
            <a:cxnLst/>
            <a:rect l="l" t="t" r="r" b="b"/>
            <a:pathLst>
              <a:path w="1739900" h="434340">
                <a:moveTo>
                  <a:pt x="63500" y="0"/>
                </a:moveTo>
                <a:lnTo>
                  <a:pt x="1676400" y="0"/>
                </a:lnTo>
                <a:arcTo wR="63500" hR="63500" stAng="16200000" swAng="5400000"/>
                <a:lnTo>
                  <a:pt x="1739900" y="370840"/>
                </a:lnTo>
                <a:arcTo wR="63500" hR="63500" stAng="0" swAng="5400000"/>
                <a:lnTo>
                  <a:pt x="63500" y="434340"/>
                </a:lnTo>
                <a:arcTo wR="63500" hR="63500" stAng="5400000" swAng="5400000"/>
                <a:lnTo>
                  <a:pt x="0" y="63500"/>
                </a:lnTo>
                <a:arcTo wR="63500" hR="63500" stAng="10800000" swAng="5400000"/>
                <a:close/>
              </a:path>
            </a:pathLst>
          </a:custGeom>
          <a:solidFill>
            <a:srgbClr val="ECE7F6"/>
          </a:solidFill>
          <a:ln/>
        </p:spPr>
        <p:txBody>
          <a:bodyPr wrap="square" lIns="25400" tIns="101600" rIns="25400" bIns="76200" rtlCol="0" anchor="t">
            <a:normAutofit/>
          </a:bodyPr>
          <a:lstStyle/>
          <a:p>
            <a:pPr marL="0" indent="0" algn="ctr">
              <a:lnSpc>
                <a:spcPts val="1820"/>
              </a:lnSpc>
              <a:buNone/>
            </a:pPr>
            <a:r>
              <a:rPr lang="en-US" sz="1300" b="1" dirty="0">
                <a:solidFill>
                  <a:srgbClr val="231B3A"/>
                </a:solidFill>
                <a:latin typeface="IBM Plex Sans" pitchFamily="34" charset="0"/>
                <a:ea typeface="IBM Plex Sans" pitchFamily="34" charset="-122"/>
                <a:cs typeface="IBM Plex Sans" pitchFamily="34" charset="-120"/>
              </a:rPr>
              <a:t>OVHcloud</a:t>
            </a:r>
            <a:endParaRPr lang="en-US" sz="1300" dirty="0"/>
          </a:p>
        </p:txBody>
      </p:sp>
      <p:sp>
        <p:nvSpPr>
          <p:cNvPr id="9" name="Text 7"/>
          <p:cNvSpPr/>
          <p:nvPr/>
        </p:nvSpPr>
        <p:spPr>
          <a:xfrm>
            <a:off x="812800" y="3518533"/>
            <a:ext cx="1739900" cy="434340"/>
          </a:xfrm>
          <a:custGeom>
            <a:avLst/>
            <a:gdLst/>
            <a:ahLst/>
            <a:cxnLst/>
            <a:rect l="l" t="t" r="r" b="b"/>
            <a:pathLst>
              <a:path w="1739900" h="434340">
                <a:moveTo>
                  <a:pt x="63500" y="0"/>
                </a:moveTo>
                <a:lnTo>
                  <a:pt x="1676400" y="0"/>
                </a:lnTo>
                <a:arcTo wR="63500" hR="63500" stAng="16200000" swAng="5400000"/>
                <a:lnTo>
                  <a:pt x="1739900" y="370840"/>
                </a:lnTo>
                <a:arcTo wR="63500" hR="63500" stAng="0" swAng="5400000"/>
                <a:lnTo>
                  <a:pt x="63500" y="434340"/>
                </a:lnTo>
                <a:arcTo wR="63500" hR="63500" stAng="5400000" swAng="5400000"/>
                <a:lnTo>
                  <a:pt x="0" y="63500"/>
                </a:lnTo>
                <a:arcTo wR="63500" hR="63500" stAng="10800000" swAng="5400000"/>
                <a:close/>
              </a:path>
            </a:pathLst>
          </a:custGeom>
          <a:solidFill>
            <a:srgbClr val="D3EDF1"/>
          </a:solidFill>
          <a:ln/>
        </p:spPr>
        <p:txBody>
          <a:bodyPr wrap="square" lIns="25400" tIns="101600" rIns="25400" bIns="76200" rtlCol="0" anchor="t">
            <a:normAutofit/>
          </a:bodyPr>
          <a:lstStyle/>
          <a:p>
            <a:pPr marL="0" indent="0" algn="ctr">
              <a:lnSpc>
                <a:spcPts val="1820"/>
              </a:lnSpc>
              <a:buNone/>
            </a:pPr>
            <a:r>
              <a:rPr lang="en-US" sz="1300" b="1" dirty="0">
                <a:solidFill>
                  <a:srgbClr val="231B3A"/>
                </a:solidFill>
                <a:latin typeface="IBM Plex Sans" pitchFamily="34" charset="0"/>
                <a:ea typeface="IBM Plex Sans" pitchFamily="34" charset="-122"/>
                <a:cs typeface="IBM Plex Sans" pitchFamily="34" charset="-120"/>
              </a:rPr>
              <a:t>Scaleway</a:t>
            </a:r>
            <a:endParaRPr lang="en-US" sz="1300" dirty="0"/>
          </a:p>
        </p:txBody>
      </p:sp>
      <p:sp>
        <p:nvSpPr>
          <p:cNvPr id="10" name="Text 8"/>
          <p:cNvSpPr/>
          <p:nvPr/>
        </p:nvSpPr>
        <p:spPr>
          <a:xfrm>
            <a:off x="2628900" y="3518533"/>
            <a:ext cx="1739900" cy="434340"/>
          </a:xfrm>
          <a:custGeom>
            <a:avLst/>
            <a:gdLst/>
            <a:ahLst/>
            <a:cxnLst/>
            <a:rect l="l" t="t" r="r" b="b"/>
            <a:pathLst>
              <a:path w="1739900" h="434340">
                <a:moveTo>
                  <a:pt x="63500" y="0"/>
                </a:moveTo>
                <a:lnTo>
                  <a:pt x="1676400" y="0"/>
                </a:lnTo>
                <a:arcTo wR="63500" hR="63500" stAng="16200000" swAng="5400000"/>
                <a:lnTo>
                  <a:pt x="1739900" y="370840"/>
                </a:lnTo>
                <a:arcTo wR="63500" hR="63500" stAng="0" swAng="5400000"/>
                <a:lnTo>
                  <a:pt x="63500" y="434340"/>
                </a:lnTo>
                <a:arcTo wR="63500" hR="63500" stAng="5400000" swAng="5400000"/>
                <a:lnTo>
                  <a:pt x="0" y="63500"/>
                </a:lnTo>
                <a:arcTo wR="63500" hR="63500" stAng="10800000" swAng="5400000"/>
                <a:close/>
              </a:path>
            </a:pathLst>
          </a:custGeom>
          <a:solidFill>
            <a:srgbClr val="FBE5CF"/>
          </a:solidFill>
          <a:ln/>
        </p:spPr>
        <p:txBody>
          <a:bodyPr wrap="square" lIns="25400" tIns="101600" rIns="25400" bIns="76200" rtlCol="0" anchor="t">
            <a:normAutofit/>
          </a:bodyPr>
          <a:lstStyle/>
          <a:p>
            <a:pPr marL="0" indent="0" algn="ctr">
              <a:lnSpc>
                <a:spcPts val="1820"/>
              </a:lnSpc>
              <a:buNone/>
            </a:pPr>
            <a:r>
              <a:rPr lang="en-US" sz="1300" b="1" dirty="0">
                <a:solidFill>
                  <a:srgbClr val="231B3A"/>
                </a:solidFill>
                <a:latin typeface="IBM Plex Sans" pitchFamily="34" charset="0"/>
                <a:ea typeface="IBM Plex Sans" pitchFamily="34" charset="-122"/>
                <a:cs typeface="IBM Plex Sans" pitchFamily="34" charset="-120"/>
              </a:rPr>
              <a:t>IBM Cloud</a:t>
            </a:r>
            <a:endParaRPr lang="en-US" sz="1300" dirty="0"/>
          </a:p>
        </p:txBody>
      </p:sp>
      <p:sp>
        <p:nvSpPr>
          <p:cNvPr id="11" name="Text 9"/>
          <p:cNvSpPr/>
          <p:nvPr/>
        </p:nvSpPr>
        <p:spPr>
          <a:xfrm>
            <a:off x="812800" y="4054475"/>
            <a:ext cx="3662680"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231B3A"/>
                </a:solidFill>
                <a:latin typeface="IBM Plex Sans" pitchFamily="34" charset="0"/>
                <a:ea typeface="IBM Plex Sans" pitchFamily="34" charset="-122"/>
                <a:cs typeface="IBM Plex Sans" pitchFamily="34" charset="-120"/>
              </a:rPr>
              <a:t>Livrable :</a:t>
            </a:r>
            <a:r>
              <a:rPr lang="en-US" sz="1300" dirty="0">
                <a:solidFill>
                  <a:srgbClr val="231B3A"/>
                </a:solidFill>
                <a:latin typeface="IBM Plex Sans" pitchFamily="34" charset="0"/>
                <a:ea typeface="IBM Plex Sans" pitchFamily="34" charset="-122"/>
                <a:cs typeface="IBM Plex Sans" pitchFamily="34" charset="-120"/>
              </a:rPr>
              <a:t> slides à déposer sur Teams.</a:t>
            </a:r>
            <a:endParaRPr lang="en-US" sz="1300" dirty="0"/>
          </a:p>
        </p:txBody>
      </p:sp>
      <p:sp>
        <p:nvSpPr>
          <p:cNvPr id="12" name="Text 10"/>
          <p:cNvSpPr/>
          <p:nvPr/>
        </p:nvSpPr>
        <p:spPr>
          <a:xfrm>
            <a:off x="4724400" y="1727200"/>
            <a:ext cx="685444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B2E9E"/>
                </a:solidFill>
                <a:latin typeface="IBM Plex Sans" pitchFamily="34" charset="0"/>
                <a:ea typeface="IBM Plex Sans" pitchFamily="34" charset="-122"/>
                <a:cs typeface="IBM Plex Sans" pitchFamily="34" charset="-120"/>
              </a:rPr>
              <a:t>Ce qui est attendu</a:t>
            </a:r>
            <a:endParaRPr lang="en-US" sz="1600" dirty="0"/>
          </a:p>
        </p:txBody>
      </p:sp>
      <p:pic>
        <p:nvPicPr>
          <p:cNvPr id="13" name="Image 0" descr="CheckCircle"/>
          <p:cNvPicPr>
            <a:picLocks noChangeAspect="1"/>
          </p:cNvPicPr>
          <p:nvPr/>
        </p:nvPicPr>
        <p:blipFill>
          <a:blip r:embed="rId3"/>
          <a:srcRect/>
          <a:stretch/>
        </p:blipFill>
        <p:spPr>
          <a:xfrm>
            <a:off x="4724400" y="2072642"/>
            <a:ext cx="228600" cy="228600"/>
          </a:xfrm>
          <a:prstGeom prst="rect">
            <a:avLst/>
          </a:prstGeom>
        </p:spPr>
      </p:pic>
      <p:sp>
        <p:nvSpPr>
          <p:cNvPr id="14" name="Text 11"/>
          <p:cNvSpPr/>
          <p:nvPr/>
        </p:nvSpPr>
        <p:spPr>
          <a:xfrm>
            <a:off x="5054600" y="2072642"/>
            <a:ext cx="651433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Couvrir le calcul, le réseau et la sécurité, le stockage, et ce qui distingue le provider des concepts du cours.</a:t>
            </a:r>
            <a:endParaRPr lang="en-US" sz="1300" dirty="0"/>
          </a:p>
        </p:txBody>
      </p:sp>
      <p:pic>
        <p:nvPicPr>
          <p:cNvPr id="15" name="Image 1" descr="CheckCircle"/>
          <p:cNvPicPr>
            <a:picLocks noChangeAspect="1"/>
          </p:cNvPicPr>
          <p:nvPr/>
        </p:nvPicPr>
        <p:blipFill>
          <a:blip r:embed="rId3"/>
          <a:srcRect/>
          <a:stretch/>
        </p:blipFill>
        <p:spPr>
          <a:xfrm>
            <a:off x="4724400" y="2620008"/>
            <a:ext cx="228600" cy="228600"/>
          </a:xfrm>
          <a:prstGeom prst="rect">
            <a:avLst/>
          </a:prstGeom>
        </p:spPr>
      </p:pic>
      <p:sp>
        <p:nvSpPr>
          <p:cNvPr id="16" name="Text 12"/>
          <p:cNvSpPr/>
          <p:nvPr/>
        </p:nvSpPr>
        <p:spPr>
          <a:xfrm>
            <a:off x="5054600" y="2620008"/>
            <a:ext cx="651433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Estimer le coût d’entraînement d’un modèle pendant 10 heures sur une instance GPU (région Europe, gamme de GPU comparable d’un groupe à l’autre).</a:t>
            </a:r>
            <a:endParaRPr lang="en-US" sz="1300" dirty="0"/>
          </a:p>
        </p:txBody>
      </p:sp>
      <p:pic>
        <p:nvPicPr>
          <p:cNvPr id="17" name="Image 2" descr="CheckCircle"/>
          <p:cNvPicPr>
            <a:picLocks noChangeAspect="1"/>
          </p:cNvPicPr>
          <p:nvPr/>
        </p:nvPicPr>
        <p:blipFill>
          <a:blip r:embed="rId3"/>
          <a:srcRect/>
          <a:stretch/>
        </p:blipFill>
        <p:spPr>
          <a:xfrm>
            <a:off x="4724400" y="3167385"/>
            <a:ext cx="228600" cy="228600"/>
          </a:xfrm>
          <a:prstGeom prst="rect">
            <a:avLst/>
          </a:prstGeom>
        </p:spPr>
      </p:pic>
      <p:sp>
        <p:nvSpPr>
          <p:cNvPr id="18" name="Text 13"/>
          <p:cNvSpPr/>
          <p:nvPr/>
        </p:nvSpPr>
        <p:spPr>
          <a:xfrm>
            <a:off x="5054600" y="3167385"/>
            <a:ext cx="651433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Analyser les enjeux réglementaires : localisation des données, Cloud Act, SecNumCloud.</a:t>
            </a:r>
            <a:endParaRPr lang="en-US" sz="1300" dirty="0"/>
          </a:p>
        </p:txBody>
      </p:sp>
      <p:pic>
        <p:nvPicPr>
          <p:cNvPr id="19" name="Image 3" descr="CheckCircle"/>
          <p:cNvPicPr>
            <a:picLocks noChangeAspect="1"/>
          </p:cNvPicPr>
          <p:nvPr/>
        </p:nvPicPr>
        <p:blipFill>
          <a:blip r:embed="rId3"/>
          <a:srcRect/>
          <a:stretch/>
        </p:blipFill>
        <p:spPr>
          <a:xfrm>
            <a:off x="4724400" y="3714750"/>
            <a:ext cx="228600" cy="228600"/>
          </a:xfrm>
          <a:prstGeom prst="rect">
            <a:avLst/>
          </a:prstGeom>
        </p:spPr>
      </p:pic>
      <p:sp>
        <p:nvSpPr>
          <p:cNvPr id="20" name="Text 14"/>
          <p:cNvSpPr/>
          <p:nvPr/>
        </p:nvSpPr>
        <p:spPr>
          <a:xfrm>
            <a:off x="5054600" y="3714750"/>
            <a:ext cx="651433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462"/>
                </a:solidFill>
                <a:latin typeface="IBM Plex Sans" pitchFamily="34" charset="0"/>
                <a:ea typeface="IBM Plex Sans" pitchFamily="34" charset="-122"/>
                <a:cs typeface="IBM Plex Sans" pitchFamily="34" charset="-120"/>
              </a:rPr>
              <a:t>Présenter les services ML et IA disponibles : infrastructures, plateformes, API, monitoring.</a:t>
            </a:r>
            <a:endParaRPr lang="en-US" sz="1300" dirty="0"/>
          </a:p>
        </p:txBody>
      </p:sp>
      <p:sp>
        <p:nvSpPr>
          <p:cNvPr id="21" name="Text 1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EXERCICE · PROJET FIL ROUGE</a:t>
            </a:r>
            <a:endParaRPr lang="en-US" sz="1200" dirty="0"/>
          </a:p>
        </p:txBody>
      </p:sp>
      <p:sp>
        <p:nvSpPr>
          <p:cNvPr id="3" name="Text 1"/>
          <p:cNvSpPr>
            <a:spLocks noGrp="1"/>
          </p:cNvSpPr>
          <p:nvPr>
            <p:ph type="title"/>
          </p:nvPr>
        </p:nvSpPr>
        <p:spPr>
          <a:xfrm>
            <a:off x="812800" y="10769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Proposez l'architecture cloud du fil rouge</a:t>
            </a:r>
            <a:endParaRPr lang="en-US" sz="3200" dirty="0"/>
          </a:p>
        </p:txBody>
      </p:sp>
      <p:sp>
        <p:nvSpPr>
          <p:cNvPr id="4" name="Text 2"/>
          <p:cNvSpPr/>
          <p:nvPr/>
        </p:nvSpPr>
        <p:spPr>
          <a:xfrm>
            <a:off x="812800" y="1727200"/>
            <a:ext cx="2565400" cy="558800"/>
          </a:xfrm>
          <a:prstGeom prst="roundRect">
            <a:avLst>
              <a:gd name="adj" fmla="val 27273"/>
            </a:avLst>
          </a:prstGeom>
          <a:solidFill>
            <a:srgbClr val="FBE5CF"/>
          </a:solidFill>
          <a:ln/>
        </p:spPr>
        <p:txBody>
          <a:bodyPr wrap="square" lIns="21531" tIns="44264" rIns="21531" bIns="18864"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Souveraineté : aucune API externe</a:t>
            </a:r>
            <a:endParaRPr lang="en-US" sz="1200" dirty="0"/>
          </a:p>
        </p:txBody>
      </p:sp>
      <p:sp>
        <p:nvSpPr>
          <p:cNvPr id="5" name="Text 3"/>
          <p:cNvSpPr/>
          <p:nvPr/>
        </p:nvSpPr>
        <p:spPr>
          <a:xfrm>
            <a:off x="3479800" y="1727200"/>
            <a:ext cx="2565400" cy="558800"/>
          </a:xfrm>
          <a:prstGeom prst="roundRect">
            <a:avLst>
              <a:gd name="adj" fmla="val 27273"/>
            </a:avLst>
          </a:prstGeom>
          <a:solidFill>
            <a:srgbClr val="ECE7F6"/>
          </a:solidFill>
          <a:ln/>
        </p:spPr>
        <p:txBody>
          <a:bodyPr wrap="square" lIns="21531" tIns="44264" rIns="21531" bIns="18864"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Délai &lt; durée du média</a:t>
            </a:r>
            <a:endParaRPr lang="en-US" sz="1200" dirty="0"/>
          </a:p>
        </p:txBody>
      </p:sp>
      <p:sp>
        <p:nvSpPr>
          <p:cNvPr id="6" name="Text 4"/>
          <p:cNvSpPr/>
          <p:nvPr/>
        </p:nvSpPr>
        <p:spPr>
          <a:xfrm>
            <a:off x="6146800" y="1727200"/>
            <a:ext cx="2565400" cy="558800"/>
          </a:xfrm>
          <a:prstGeom prst="roundRect">
            <a:avLst>
              <a:gd name="adj" fmla="val 27273"/>
            </a:avLst>
          </a:prstGeom>
          <a:solidFill>
            <a:srgbClr val="D3EDF1"/>
          </a:solidFill>
          <a:ln/>
        </p:spPr>
        <p:txBody>
          <a:bodyPr wrap="square" lIns="21531" tIns="44264" rIns="21531" bIns="18864"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10 traitements en parallèle</a:t>
            </a:r>
            <a:endParaRPr lang="en-US" sz="1200" dirty="0"/>
          </a:p>
        </p:txBody>
      </p:sp>
      <p:sp>
        <p:nvSpPr>
          <p:cNvPr id="7" name="Text 5"/>
          <p:cNvSpPr/>
          <p:nvPr/>
        </p:nvSpPr>
        <p:spPr>
          <a:xfrm>
            <a:off x="8813800" y="1727200"/>
            <a:ext cx="2565400" cy="558800"/>
          </a:xfrm>
          <a:prstGeom prst="roundRect">
            <a:avLst>
              <a:gd name="adj" fmla="val 27273"/>
            </a:avLst>
          </a:prstGeom>
          <a:solidFill>
            <a:srgbClr val="E4E2EA"/>
          </a:solidFill>
          <a:ln/>
        </p:spPr>
        <p:txBody>
          <a:bodyPr wrap="square" lIns="21531" tIns="44264" rIns="21531" bIns="18864" rtlCol="0" anchor="t">
            <a:normAutofit/>
          </a:bodyPr>
          <a:lstStyle/>
          <a:p>
            <a:pPr marL="0" indent="0" algn="ctr">
              <a:lnSpc>
                <a:spcPts val="1500"/>
              </a:lnSpc>
              <a:buNone/>
            </a:pPr>
            <a:r>
              <a:rPr lang="en-US" sz="1200" b="1" dirty="0">
                <a:solidFill>
                  <a:srgbClr val="231B3A"/>
                </a:solidFill>
                <a:latin typeface="IBM Plex Sans" pitchFamily="34" charset="0"/>
                <a:ea typeface="IBM Plex Sans" pitchFamily="34" charset="-122"/>
                <a:cs typeface="IBM Plex Sans" pitchFamily="34" charset="-120"/>
              </a:rPr>
              <a:t>≤ 10 000 € par an</a:t>
            </a:r>
            <a:endParaRPr lang="en-US" sz="1200" dirty="0"/>
          </a:p>
        </p:txBody>
      </p:sp>
      <p:sp>
        <p:nvSpPr>
          <p:cNvPr id="8" name="Shape 6"/>
          <p:cNvSpPr/>
          <p:nvPr/>
        </p:nvSpPr>
        <p:spPr>
          <a:xfrm>
            <a:off x="822325" y="2498725"/>
            <a:ext cx="10547350" cy="1783715"/>
          </a:xfrm>
          <a:prstGeom prst="roundRect">
            <a:avLst>
              <a:gd name="adj" fmla="val 5162"/>
            </a:avLst>
          </a:prstGeom>
          <a:solidFill>
            <a:srgbClr val="F1EEF7"/>
          </a:solidFill>
          <a:ln w="19050">
            <a:solidFill>
              <a:srgbClr val="137485"/>
            </a:solidFill>
            <a:prstDash val="dash"/>
          </a:ln>
        </p:spPr>
        <p:txBody>
          <a:bodyPr/>
          <a:lstStyle/>
          <a:p>
            <a:endParaRPr lang="fr-FR"/>
          </a:p>
        </p:txBody>
      </p:sp>
      <p:sp>
        <p:nvSpPr>
          <p:cNvPr id="9" name="Text 7"/>
          <p:cNvSpPr/>
          <p:nvPr/>
        </p:nvSpPr>
        <p:spPr>
          <a:xfrm>
            <a:off x="980440" y="2631430"/>
            <a:ext cx="10538053"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37485"/>
                </a:solidFill>
                <a:latin typeface="IBM Plex Sans" pitchFamily="34" charset="0"/>
                <a:ea typeface="IBM Plex Sans" pitchFamily="34" charset="-122"/>
                <a:cs typeface="IBM Plex Sans" pitchFamily="34" charset="-120"/>
              </a:rPr>
              <a:t>Fournisseur : ? · Région : ? · Réseau et sécurité : VPC, subnets, IAM ?</a:t>
            </a:r>
            <a:endParaRPr lang="en-US" sz="1300" dirty="0"/>
          </a:p>
        </p:txBody>
      </p:sp>
      <p:sp>
        <p:nvSpPr>
          <p:cNvPr id="10" name="Text 8"/>
          <p:cNvSpPr/>
          <p:nvPr/>
        </p:nvSpPr>
        <p:spPr>
          <a:xfrm>
            <a:off x="986790" y="3227710"/>
            <a:ext cx="1066800" cy="637540"/>
          </a:xfrm>
          <a:custGeom>
            <a:avLst/>
            <a:gdLst/>
            <a:ahLst/>
            <a:cxnLst/>
            <a:rect l="l" t="t" r="r" b="b"/>
            <a:pathLst>
              <a:path w="1066800" h="637540">
                <a:moveTo>
                  <a:pt x="69850" y="0"/>
                </a:moveTo>
                <a:lnTo>
                  <a:pt x="996950" y="0"/>
                </a:lnTo>
                <a:arcTo wR="69850" hR="69850" stAng="16200000" swAng="5400000"/>
                <a:lnTo>
                  <a:pt x="1066800" y="567690"/>
                </a:lnTo>
                <a:arcTo wR="69850" hR="69850" stAng="0" swAng="5400000"/>
                <a:lnTo>
                  <a:pt x="69850" y="637540"/>
                </a:lnTo>
                <a:arcTo wR="69850" hR="69850" stAng="5400000" swAng="5400000"/>
                <a:lnTo>
                  <a:pt x="0" y="69850"/>
                </a:lnTo>
                <a:arcTo wR="69850" hR="69850" stAng="10800000" swAng="5400000"/>
                <a:close/>
              </a:path>
            </a:pathLst>
          </a:custGeom>
          <a:solidFill>
            <a:srgbClr val="E4E2EA"/>
          </a:solidFill>
          <a:ln w="12700">
            <a:solidFill>
              <a:srgbClr val="6B6585"/>
            </a:solidFill>
            <a:prstDash val="solid"/>
          </a:ln>
        </p:spPr>
        <p:txBody>
          <a:bodyPr wrap="square" lIns="29210" tIns="105410" rIns="29210" bIns="80010" rtlCol="0" anchor="t">
            <a:normAutofit/>
          </a:bodyPr>
          <a:lstStyle/>
          <a:p>
            <a:pPr marL="0" indent="0" algn="ctr">
              <a:lnSpc>
                <a:spcPts val="1680"/>
              </a:lnSpc>
              <a:buNone/>
            </a:pPr>
            <a:r>
              <a:rPr lang="en-US" sz="1200" b="1" dirty="0">
                <a:solidFill>
                  <a:srgbClr val="231B3A"/>
                </a:solidFill>
                <a:latin typeface="IBM Plex Sans" pitchFamily="34" charset="0"/>
                <a:ea typeface="IBM Plex Sans" pitchFamily="34" charset="-122"/>
                <a:cs typeface="IBM Plex Sans" pitchFamily="34" charset="-120"/>
              </a:rPr>
              <a:t>Utilisateur (mp4, wav)</a:t>
            </a:r>
            <a:endParaRPr lang="en-US" sz="1200" dirty="0"/>
          </a:p>
        </p:txBody>
      </p:sp>
      <p:pic>
        <p:nvPicPr>
          <p:cNvPr id="11" name="Image 0" descr="connector"/>
          <p:cNvPicPr>
            <a:picLocks noChangeAspect="1"/>
          </p:cNvPicPr>
          <p:nvPr/>
        </p:nvPicPr>
        <p:blipFill>
          <a:blip r:embed="rId3"/>
          <a:srcRect/>
          <a:stretch/>
        </p:blipFill>
        <p:spPr>
          <a:xfrm>
            <a:off x="2098040" y="3495675"/>
            <a:ext cx="228600" cy="101600"/>
          </a:xfrm>
          <a:prstGeom prst="rect">
            <a:avLst/>
          </a:prstGeom>
        </p:spPr>
      </p:pic>
      <p:sp>
        <p:nvSpPr>
          <p:cNvPr id="12" name="Shape 9"/>
          <p:cNvSpPr/>
          <p:nvPr/>
        </p:nvSpPr>
        <p:spPr>
          <a:xfrm>
            <a:off x="2374265" y="2952750"/>
            <a:ext cx="1506432" cy="1187450"/>
          </a:xfrm>
          <a:prstGeom prst="roundRect">
            <a:avLst>
              <a:gd name="adj" fmla="val 6684"/>
            </a:avLst>
          </a:prstGeom>
          <a:solidFill>
            <a:srgbClr val="FDFCFE"/>
          </a:solidFill>
          <a:ln w="19050">
            <a:solidFill>
              <a:srgbClr val="5B2E9E"/>
            </a:solidFill>
            <a:prstDash val="dash"/>
          </a:ln>
        </p:spPr>
        <p:txBody>
          <a:bodyPr/>
          <a:lstStyle/>
          <a:p>
            <a:endParaRPr lang="fr-FR"/>
          </a:p>
        </p:txBody>
      </p:sp>
      <p:sp>
        <p:nvSpPr>
          <p:cNvPr id="13" name="Text 10"/>
          <p:cNvSpPr/>
          <p:nvPr/>
        </p:nvSpPr>
        <p:spPr>
          <a:xfrm>
            <a:off x="2456180" y="3060055"/>
            <a:ext cx="1342602" cy="304800"/>
          </a:xfrm>
          <a:prstGeom prst="rect">
            <a:avLst/>
          </a:prstGeom>
          <a:noFill/>
          <a:ln/>
        </p:spPr>
        <p:txBody>
          <a:bodyPr wrap="square" lIns="0" tIns="0" rIns="0" bIns="0" rtlCol="0" anchor="t">
            <a:normAutofit/>
          </a:bodyPr>
          <a:lstStyle/>
          <a:p>
            <a:pPr marL="0" indent="0" algn="ctr">
              <a:lnSpc>
                <a:spcPts val="2200"/>
              </a:lnSpc>
              <a:buNone/>
            </a:pPr>
            <a:r>
              <a:rPr lang="en-US" sz="2200" b="1" dirty="0">
                <a:solidFill>
                  <a:srgbClr val="5B2E9E"/>
                </a:solidFill>
                <a:latin typeface="IBM Plex Sans" pitchFamily="34" charset="0"/>
                <a:ea typeface="IBM Plex Sans" pitchFamily="34" charset="-122"/>
                <a:cs typeface="IBM Plex Sans" pitchFamily="34" charset="-120"/>
              </a:rPr>
              <a:t>?</a:t>
            </a:r>
            <a:endParaRPr lang="en-US" sz="2200" dirty="0"/>
          </a:p>
        </p:txBody>
      </p:sp>
      <p:sp>
        <p:nvSpPr>
          <p:cNvPr id="14" name="Text 11"/>
          <p:cNvSpPr/>
          <p:nvPr/>
        </p:nvSpPr>
        <p:spPr>
          <a:xfrm>
            <a:off x="2456180" y="3377555"/>
            <a:ext cx="1342602"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Interface et API</a:t>
            </a:r>
            <a:endParaRPr lang="en-US" sz="1200" dirty="0"/>
          </a:p>
        </p:txBody>
      </p:sp>
      <p:sp>
        <p:nvSpPr>
          <p:cNvPr id="15" name="Text 12"/>
          <p:cNvSpPr/>
          <p:nvPr/>
        </p:nvSpPr>
        <p:spPr>
          <a:xfrm>
            <a:off x="2456180" y="3621410"/>
            <a:ext cx="1342602" cy="4368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web, et API pour la traduction</a:t>
            </a:r>
            <a:endParaRPr lang="en-US" sz="1200" dirty="0"/>
          </a:p>
        </p:txBody>
      </p:sp>
      <p:pic>
        <p:nvPicPr>
          <p:cNvPr id="16" name="Image 1" descr="connector"/>
          <p:cNvPicPr>
            <a:picLocks noChangeAspect="1"/>
          </p:cNvPicPr>
          <p:nvPr/>
        </p:nvPicPr>
        <p:blipFill>
          <a:blip r:embed="rId3"/>
          <a:srcRect/>
          <a:stretch/>
        </p:blipFill>
        <p:spPr>
          <a:xfrm>
            <a:off x="3928321" y="3495675"/>
            <a:ext cx="228600" cy="101600"/>
          </a:xfrm>
          <a:prstGeom prst="rect">
            <a:avLst/>
          </a:prstGeom>
        </p:spPr>
      </p:pic>
      <p:sp>
        <p:nvSpPr>
          <p:cNvPr id="17" name="Shape 13"/>
          <p:cNvSpPr/>
          <p:nvPr/>
        </p:nvSpPr>
        <p:spPr>
          <a:xfrm>
            <a:off x="4204546" y="2952750"/>
            <a:ext cx="1506538" cy="1187450"/>
          </a:xfrm>
          <a:prstGeom prst="roundRect">
            <a:avLst>
              <a:gd name="adj" fmla="val 6684"/>
            </a:avLst>
          </a:prstGeom>
          <a:solidFill>
            <a:srgbClr val="FDFCFE"/>
          </a:solidFill>
          <a:ln w="19050">
            <a:solidFill>
              <a:srgbClr val="5B2E9E"/>
            </a:solidFill>
            <a:prstDash val="dash"/>
          </a:ln>
        </p:spPr>
        <p:txBody>
          <a:bodyPr/>
          <a:lstStyle/>
          <a:p>
            <a:endParaRPr lang="fr-FR"/>
          </a:p>
        </p:txBody>
      </p:sp>
      <p:sp>
        <p:nvSpPr>
          <p:cNvPr id="18" name="Text 14"/>
          <p:cNvSpPr/>
          <p:nvPr/>
        </p:nvSpPr>
        <p:spPr>
          <a:xfrm>
            <a:off x="4286462" y="3060055"/>
            <a:ext cx="1342707" cy="304800"/>
          </a:xfrm>
          <a:prstGeom prst="rect">
            <a:avLst/>
          </a:prstGeom>
          <a:noFill/>
          <a:ln/>
        </p:spPr>
        <p:txBody>
          <a:bodyPr wrap="square" lIns="0" tIns="0" rIns="0" bIns="0" rtlCol="0" anchor="t">
            <a:normAutofit/>
          </a:bodyPr>
          <a:lstStyle/>
          <a:p>
            <a:pPr marL="0" indent="0" algn="ctr">
              <a:lnSpc>
                <a:spcPts val="2200"/>
              </a:lnSpc>
              <a:buNone/>
            </a:pPr>
            <a:r>
              <a:rPr lang="en-US" sz="2200" b="1" dirty="0">
                <a:solidFill>
                  <a:srgbClr val="5B2E9E"/>
                </a:solidFill>
                <a:latin typeface="IBM Plex Sans" pitchFamily="34" charset="0"/>
                <a:ea typeface="IBM Plex Sans" pitchFamily="34" charset="-122"/>
                <a:cs typeface="IBM Plex Sans" pitchFamily="34" charset="-120"/>
              </a:rPr>
              <a:t>?</a:t>
            </a:r>
            <a:endParaRPr lang="en-US" sz="2200" dirty="0"/>
          </a:p>
        </p:txBody>
      </p:sp>
      <p:sp>
        <p:nvSpPr>
          <p:cNvPr id="19" name="Text 15"/>
          <p:cNvSpPr/>
          <p:nvPr/>
        </p:nvSpPr>
        <p:spPr>
          <a:xfrm>
            <a:off x="4286462" y="3377555"/>
            <a:ext cx="1342707"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Stockage</a:t>
            </a:r>
            <a:endParaRPr lang="en-US" sz="1200" dirty="0"/>
          </a:p>
        </p:txBody>
      </p:sp>
      <p:sp>
        <p:nvSpPr>
          <p:cNvPr id="20" name="Text 16"/>
          <p:cNvSpPr/>
          <p:nvPr/>
        </p:nvSpPr>
        <p:spPr>
          <a:xfrm>
            <a:off x="4286462" y="3621410"/>
            <a:ext cx="1342707" cy="4368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où, et combien de temps ?</a:t>
            </a:r>
            <a:endParaRPr lang="en-US" sz="1200" dirty="0"/>
          </a:p>
        </p:txBody>
      </p:sp>
      <p:pic>
        <p:nvPicPr>
          <p:cNvPr id="21" name="Image 2" descr="connector"/>
          <p:cNvPicPr>
            <a:picLocks noChangeAspect="1"/>
          </p:cNvPicPr>
          <p:nvPr/>
        </p:nvPicPr>
        <p:blipFill>
          <a:blip r:embed="rId3"/>
          <a:srcRect/>
          <a:stretch/>
        </p:blipFill>
        <p:spPr>
          <a:xfrm>
            <a:off x="5758709" y="3495675"/>
            <a:ext cx="228600" cy="101600"/>
          </a:xfrm>
          <a:prstGeom prst="rect">
            <a:avLst/>
          </a:prstGeom>
        </p:spPr>
      </p:pic>
      <p:sp>
        <p:nvSpPr>
          <p:cNvPr id="22" name="Shape 17"/>
          <p:cNvSpPr/>
          <p:nvPr/>
        </p:nvSpPr>
        <p:spPr>
          <a:xfrm>
            <a:off x="6034934" y="2952750"/>
            <a:ext cx="1506432" cy="1187450"/>
          </a:xfrm>
          <a:prstGeom prst="roundRect">
            <a:avLst>
              <a:gd name="adj" fmla="val 6684"/>
            </a:avLst>
          </a:prstGeom>
          <a:solidFill>
            <a:srgbClr val="FDFCFE"/>
          </a:solidFill>
          <a:ln w="19050">
            <a:solidFill>
              <a:srgbClr val="5B2E9E"/>
            </a:solidFill>
            <a:prstDash val="dash"/>
          </a:ln>
        </p:spPr>
        <p:txBody>
          <a:bodyPr/>
          <a:lstStyle/>
          <a:p>
            <a:endParaRPr lang="fr-FR"/>
          </a:p>
        </p:txBody>
      </p:sp>
      <p:sp>
        <p:nvSpPr>
          <p:cNvPr id="23" name="Text 18"/>
          <p:cNvSpPr/>
          <p:nvPr/>
        </p:nvSpPr>
        <p:spPr>
          <a:xfrm>
            <a:off x="6116849" y="3060055"/>
            <a:ext cx="1342602" cy="304800"/>
          </a:xfrm>
          <a:prstGeom prst="rect">
            <a:avLst/>
          </a:prstGeom>
          <a:noFill/>
          <a:ln/>
        </p:spPr>
        <p:txBody>
          <a:bodyPr wrap="square" lIns="0" tIns="0" rIns="0" bIns="0" rtlCol="0" anchor="t">
            <a:normAutofit/>
          </a:bodyPr>
          <a:lstStyle/>
          <a:p>
            <a:pPr marL="0" indent="0" algn="ctr">
              <a:lnSpc>
                <a:spcPts val="2200"/>
              </a:lnSpc>
              <a:buNone/>
            </a:pPr>
            <a:r>
              <a:rPr lang="en-US" sz="2200" b="1" dirty="0">
                <a:solidFill>
                  <a:srgbClr val="5B2E9E"/>
                </a:solidFill>
                <a:latin typeface="IBM Plex Sans" pitchFamily="34" charset="0"/>
                <a:ea typeface="IBM Plex Sans" pitchFamily="34" charset="-122"/>
                <a:cs typeface="IBM Plex Sans" pitchFamily="34" charset="-120"/>
              </a:rPr>
              <a:t>?</a:t>
            </a:r>
            <a:endParaRPr lang="en-US" sz="2200" dirty="0"/>
          </a:p>
        </p:txBody>
      </p:sp>
      <p:sp>
        <p:nvSpPr>
          <p:cNvPr id="24" name="Text 19"/>
          <p:cNvSpPr/>
          <p:nvPr/>
        </p:nvSpPr>
        <p:spPr>
          <a:xfrm>
            <a:off x="6116849" y="3377555"/>
            <a:ext cx="1342602"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Orchestration</a:t>
            </a:r>
            <a:endParaRPr lang="en-US" sz="1200" dirty="0"/>
          </a:p>
        </p:txBody>
      </p:sp>
      <p:sp>
        <p:nvSpPr>
          <p:cNvPr id="25" name="Text 20"/>
          <p:cNvSpPr/>
          <p:nvPr/>
        </p:nvSpPr>
        <p:spPr>
          <a:xfrm>
            <a:off x="6116849" y="3621410"/>
            <a:ext cx="1342602" cy="4368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file d'attente, statuts</a:t>
            </a:r>
            <a:endParaRPr lang="en-US" sz="1200" dirty="0"/>
          </a:p>
        </p:txBody>
      </p:sp>
      <p:pic>
        <p:nvPicPr>
          <p:cNvPr id="26" name="Image 3" descr="connector"/>
          <p:cNvPicPr>
            <a:picLocks noChangeAspect="1"/>
          </p:cNvPicPr>
          <p:nvPr/>
        </p:nvPicPr>
        <p:blipFill>
          <a:blip r:embed="rId3"/>
          <a:srcRect/>
          <a:stretch/>
        </p:blipFill>
        <p:spPr>
          <a:xfrm>
            <a:off x="7588991" y="3495675"/>
            <a:ext cx="228600" cy="101600"/>
          </a:xfrm>
          <a:prstGeom prst="rect">
            <a:avLst/>
          </a:prstGeom>
        </p:spPr>
      </p:pic>
      <p:sp>
        <p:nvSpPr>
          <p:cNvPr id="27" name="Shape 21"/>
          <p:cNvSpPr/>
          <p:nvPr/>
        </p:nvSpPr>
        <p:spPr>
          <a:xfrm>
            <a:off x="7865216" y="2952750"/>
            <a:ext cx="1506538" cy="1187450"/>
          </a:xfrm>
          <a:prstGeom prst="roundRect">
            <a:avLst>
              <a:gd name="adj" fmla="val 6684"/>
            </a:avLst>
          </a:prstGeom>
          <a:solidFill>
            <a:srgbClr val="FDFCFE"/>
          </a:solidFill>
          <a:ln w="19050">
            <a:solidFill>
              <a:srgbClr val="5B2E9E"/>
            </a:solidFill>
            <a:prstDash val="dash"/>
          </a:ln>
        </p:spPr>
        <p:txBody>
          <a:bodyPr/>
          <a:lstStyle/>
          <a:p>
            <a:endParaRPr lang="fr-FR"/>
          </a:p>
        </p:txBody>
      </p:sp>
      <p:sp>
        <p:nvSpPr>
          <p:cNvPr id="28" name="Text 22"/>
          <p:cNvSpPr/>
          <p:nvPr/>
        </p:nvSpPr>
        <p:spPr>
          <a:xfrm>
            <a:off x="7947130" y="3060055"/>
            <a:ext cx="1342707" cy="304800"/>
          </a:xfrm>
          <a:prstGeom prst="rect">
            <a:avLst/>
          </a:prstGeom>
          <a:noFill/>
          <a:ln/>
        </p:spPr>
        <p:txBody>
          <a:bodyPr wrap="square" lIns="0" tIns="0" rIns="0" bIns="0" rtlCol="0" anchor="t">
            <a:normAutofit/>
          </a:bodyPr>
          <a:lstStyle/>
          <a:p>
            <a:pPr marL="0" indent="0" algn="ctr">
              <a:lnSpc>
                <a:spcPts val="2200"/>
              </a:lnSpc>
              <a:buNone/>
            </a:pPr>
            <a:r>
              <a:rPr lang="en-US" sz="2200" b="1" dirty="0">
                <a:solidFill>
                  <a:srgbClr val="5B2E9E"/>
                </a:solidFill>
                <a:latin typeface="IBM Plex Sans" pitchFamily="34" charset="0"/>
                <a:ea typeface="IBM Plex Sans" pitchFamily="34" charset="-122"/>
                <a:cs typeface="IBM Plex Sans" pitchFamily="34" charset="-120"/>
              </a:rPr>
              <a:t>?</a:t>
            </a:r>
            <a:endParaRPr lang="en-US" sz="2200" dirty="0"/>
          </a:p>
        </p:txBody>
      </p:sp>
      <p:sp>
        <p:nvSpPr>
          <p:cNvPr id="29" name="Text 23"/>
          <p:cNvSpPr/>
          <p:nvPr/>
        </p:nvSpPr>
        <p:spPr>
          <a:xfrm>
            <a:off x="7947130" y="3377555"/>
            <a:ext cx="1342707"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Transcription</a:t>
            </a:r>
            <a:endParaRPr lang="en-US" sz="1200" dirty="0"/>
          </a:p>
        </p:txBody>
      </p:sp>
      <p:sp>
        <p:nvSpPr>
          <p:cNvPr id="30" name="Text 24"/>
          <p:cNvSpPr/>
          <p:nvPr/>
        </p:nvSpPr>
        <p:spPr>
          <a:xfrm>
            <a:off x="7947130" y="3621410"/>
            <a:ext cx="1342707" cy="4368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CPU ou GPU ? combien ?</a:t>
            </a:r>
            <a:endParaRPr lang="en-US" sz="1200" dirty="0"/>
          </a:p>
        </p:txBody>
      </p:sp>
      <p:pic>
        <p:nvPicPr>
          <p:cNvPr id="31" name="Image 4" descr="connector"/>
          <p:cNvPicPr>
            <a:picLocks noChangeAspect="1"/>
          </p:cNvPicPr>
          <p:nvPr/>
        </p:nvPicPr>
        <p:blipFill>
          <a:blip r:embed="rId3"/>
          <a:srcRect/>
          <a:stretch/>
        </p:blipFill>
        <p:spPr>
          <a:xfrm>
            <a:off x="9419379" y="3495675"/>
            <a:ext cx="228600" cy="101600"/>
          </a:xfrm>
          <a:prstGeom prst="rect">
            <a:avLst/>
          </a:prstGeom>
        </p:spPr>
      </p:pic>
      <p:sp>
        <p:nvSpPr>
          <p:cNvPr id="32" name="Shape 25"/>
          <p:cNvSpPr/>
          <p:nvPr/>
        </p:nvSpPr>
        <p:spPr>
          <a:xfrm>
            <a:off x="9695604" y="2952750"/>
            <a:ext cx="1506432" cy="1187450"/>
          </a:xfrm>
          <a:prstGeom prst="roundRect">
            <a:avLst>
              <a:gd name="adj" fmla="val 6684"/>
            </a:avLst>
          </a:prstGeom>
          <a:solidFill>
            <a:srgbClr val="FDFCFE"/>
          </a:solidFill>
          <a:ln w="19050">
            <a:solidFill>
              <a:srgbClr val="5B2E9E"/>
            </a:solidFill>
            <a:prstDash val="dash"/>
          </a:ln>
        </p:spPr>
        <p:txBody>
          <a:bodyPr/>
          <a:lstStyle/>
          <a:p>
            <a:endParaRPr lang="fr-FR"/>
          </a:p>
        </p:txBody>
      </p:sp>
      <p:sp>
        <p:nvSpPr>
          <p:cNvPr id="33" name="Text 26"/>
          <p:cNvSpPr/>
          <p:nvPr/>
        </p:nvSpPr>
        <p:spPr>
          <a:xfrm>
            <a:off x="9777518" y="3060055"/>
            <a:ext cx="1342602" cy="304800"/>
          </a:xfrm>
          <a:prstGeom prst="rect">
            <a:avLst/>
          </a:prstGeom>
          <a:noFill/>
          <a:ln/>
        </p:spPr>
        <p:txBody>
          <a:bodyPr wrap="square" lIns="0" tIns="0" rIns="0" bIns="0" rtlCol="0" anchor="t">
            <a:normAutofit/>
          </a:bodyPr>
          <a:lstStyle/>
          <a:p>
            <a:pPr marL="0" indent="0" algn="ctr">
              <a:lnSpc>
                <a:spcPts val="2200"/>
              </a:lnSpc>
              <a:buNone/>
            </a:pPr>
            <a:r>
              <a:rPr lang="en-US" sz="2200" b="1" dirty="0">
                <a:solidFill>
                  <a:srgbClr val="5B2E9E"/>
                </a:solidFill>
                <a:latin typeface="IBM Plex Sans" pitchFamily="34" charset="0"/>
                <a:ea typeface="IBM Plex Sans" pitchFamily="34" charset="-122"/>
                <a:cs typeface="IBM Plex Sans" pitchFamily="34" charset="-120"/>
              </a:rPr>
              <a:t>?</a:t>
            </a:r>
            <a:endParaRPr lang="en-US" sz="2200" dirty="0"/>
          </a:p>
        </p:txBody>
      </p:sp>
      <p:sp>
        <p:nvSpPr>
          <p:cNvPr id="34" name="Text 27"/>
          <p:cNvSpPr/>
          <p:nvPr/>
        </p:nvSpPr>
        <p:spPr>
          <a:xfrm>
            <a:off x="9777518" y="3377555"/>
            <a:ext cx="1342602" cy="23114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31B3A"/>
                </a:solidFill>
                <a:latin typeface="IBM Plex Sans" pitchFamily="34" charset="0"/>
                <a:ea typeface="IBM Plex Sans" pitchFamily="34" charset="-122"/>
                <a:cs typeface="IBM Plex Sans" pitchFamily="34" charset="-120"/>
              </a:rPr>
              <a:t>Supervision</a:t>
            </a:r>
            <a:endParaRPr lang="en-US" sz="1200" dirty="0"/>
          </a:p>
        </p:txBody>
      </p:sp>
      <p:sp>
        <p:nvSpPr>
          <p:cNvPr id="35" name="Text 28"/>
          <p:cNvSpPr/>
          <p:nvPr/>
        </p:nvSpPr>
        <p:spPr>
          <a:xfrm>
            <a:off x="9777518" y="3621410"/>
            <a:ext cx="1342602" cy="43688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6B6585"/>
                </a:solidFill>
                <a:latin typeface="IBM Plex Sans" pitchFamily="34" charset="0"/>
                <a:ea typeface="IBM Plex Sans" pitchFamily="34" charset="-122"/>
                <a:cs typeface="IBM Plex Sans" pitchFamily="34" charset="-120"/>
              </a:rPr>
              <a:t>métriques, redémarrage</a:t>
            </a:r>
            <a:endParaRPr lang="en-US" sz="1200" dirty="0"/>
          </a:p>
        </p:txBody>
      </p:sp>
      <p:sp>
        <p:nvSpPr>
          <p:cNvPr id="36" name="Text 29"/>
          <p:cNvSpPr/>
          <p:nvPr/>
        </p:nvSpPr>
        <p:spPr>
          <a:xfrm>
            <a:off x="812800" y="4495155"/>
            <a:ext cx="1088339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2E9E"/>
                </a:solidFill>
                <a:latin typeface="IBM Plex Sans" pitchFamily="34" charset="0"/>
                <a:ea typeface="IBM Plex Sans" pitchFamily="34" charset="-122"/>
                <a:cs typeface="IBM Plex Sans" pitchFamily="34" charset="-120"/>
              </a:rPr>
              <a:t>Comment procéder</a:t>
            </a:r>
            <a:endParaRPr lang="en-US" sz="1400" dirty="0"/>
          </a:p>
        </p:txBody>
      </p:sp>
      <p:sp>
        <p:nvSpPr>
          <p:cNvPr id="37" name="Text 30"/>
          <p:cNvSpPr/>
          <p:nvPr/>
        </p:nvSpPr>
        <p:spPr>
          <a:xfrm>
            <a:off x="812800" y="4784725"/>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5B2E9E"/>
          </a:solidFill>
          <a:ln/>
        </p:spPr>
        <p:txBody>
          <a:bodyPr wrap="square" lIns="0" tIns="0" rIns="0" bIns="0" rtlCol="0" anchor="t">
            <a:normAutofit/>
          </a:bodyPr>
          <a:lstStyle/>
          <a:p>
            <a:pPr marL="0" indent="0" algn="ctr">
              <a:lnSpc>
                <a:spcPts val="2220"/>
              </a:lnSpc>
              <a:buNone/>
            </a:pPr>
            <a:r>
              <a:rPr lang="en-US" sz="1200" b="1" dirty="0">
                <a:solidFill>
                  <a:srgbClr val="FDFCFE"/>
                </a:solidFill>
                <a:latin typeface="IBM Plex Sans" pitchFamily="34" charset="0"/>
                <a:ea typeface="IBM Plex Sans" pitchFamily="34" charset="-122"/>
                <a:cs typeface="IBM Plex Sans" pitchFamily="34" charset="-120"/>
              </a:rPr>
              <a:t>1</a:t>
            </a:r>
            <a:endParaRPr lang="en-US" sz="1200" dirty="0"/>
          </a:p>
        </p:txBody>
      </p:sp>
      <p:sp>
        <p:nvSpPr>
          <p:cNvPr id="38" name="Text 31"/>
          <p:cNvSpPr/>
          <p:nvPr/>
        </p:nvSpPr>
        <p:spPr>
          <a:xfrm>
            <a:off x="1181100" y="4784725"/>
            <a:ext cx="506234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Partez du schéma « Un projet d’IA de bout en bout » vu en cours.</a:t>
            </a:r>
            <a:endParaRPr lang="en-US" sz="1200" dirty="0"/>
          </a:p>
        </p:txBody>
      </p:sp>
      <p:sp>
        <p:nvSpPr>
          <p:cNvPr id="39" name="Text 32"/>
          <p:cNvSpPr/>
          <p:nvPr/>
        </p:nvSpPr>
        <p:spPr>
          <a:xfrm>
            <a:off x="6096000" y="4784725"/>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137485"/>
          </a:solidFill>
          <a:ln/>
        </p:spPr>
        <p:txBody>
          <a:bodyPr wrap="square" lIns="0" tIns="0" rIns="0" bIns="0" rtlCol="0" anchor="t">
            <a:normAutofit/>
          </a:bodyPr>
          <a:lstStyle/>
          <a:p>
            <a:pPr marL="0" indent="0" algn="ctr">
              <a:lnSpc>
                <a:spcPts val="2220"/>
              </a:lnSpc>
              <a:buNone/>
            </a:pPr>
            <a:r>
              <a:rPr lang="en-US" sz="1200" b="1" dirty="0">
                <a:solidFill>
                  <a:srgbClr val="FDFCFE"/>
                </a:solidFill>
                <a:latin typeface="IBM Plex Sans" pitchFamily="34" charset="0"/>
                <a:ea typeface="IBM Plex Sans" pitchFamily="34" charset="-122"/>
                <a:cs typeface="IBM Plex Sans" pitchFamily="34" charset="-120"/>
              </a:rPr>
              <a:t>2</a:t>
            </a:r>
            <a:endParaRPr lang="en-US" sz="1200" dirty="0"/>
          </a:p>
        </p:txBody>
      </p:sp>
      <p:sp>
        <p:nvSpPr>
          <p:cNvPr id="40" name="Text 33"/>
          <p:cNvSpPr/>
          <p:nvPr/>
        </p:nvSpPr>
        <p:spPr>
          <a:xfrm>
            <a:off x="6464300" y="4784725"/>
            <a:ext cx="5062347"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Remplissez chaque « ? » avec une notion du cours : la slide suivante vous dit où chercher.</a:t>
            </a:r>
            <a:endParaRPr lang="en-US" sz="1200" dirty="0"/>
          </a:p>
        </p:txBody>
      </p:sp>
      <p:sp>
        <p:nvSpPr>
          <p:cNvPr id="41" name="Text 34"/>
          <p:cNvSpPr/>
          <p:nvPr/>
        </p:nvSpPr>
        <p:spPr>
          <a:xfrm>
            <a:off x="812800" y="5196210"/>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5B2E9E"/>
          </a:solidFill>
          <a:ln/>
        </p:spPr>
        <p:txBody>
          <a:bodyPr wrap="square" lIns="0" tIns="0" rIns="0" bIns="0" rtlCol="0" anchor="t">
            <a:normAutofit/>
          </a:bodyPr>
          <a:lstStyle/>
          <a:p>
            <a:pPr marL="0" indent="0" algn="ctr">
              <a:lnSpc>
                <a:spcPts val="2220"/>
              </a:lnSpc>
              <a:buNone/>
            </a:pPr>
            <a:r>
              <a:rPr lang="en-US" sz="1200" b="1" dirty="0">
                <a:solidFill>
                  <a:srgbClr val="FDFCFE"/>
                </a:solidFill>
                <a:latin typeface="IBM Plex Sans" pitchFamily="34" charset="0"/>
                <a:ea typeface="IBM Plex Sans" pitchFamily="34" charset="-122"/>
                <a:cs typeface="IBM Plex Sans" pitchFamily="34" charset="-120"/>
              </a:rPr>
              <a:t>3</a:t>
            </a:r>
            <a:endParaRPr lang="en-US" sz="1200" dirty="0"/>
          </a:p>
        </p:txBody>
      </p:sp>
      <p:sp>
        <p:nvSpPr>
          <p:cNvPr id="42" name="Text 35"/>
          <p:cNvSpPr/>
          <p:nvPr/>
        </p:nvSpPr>
        <p:spPr>
          <a:xfrm>
            <a:off x="1181100" y="5196210"/>
            <a:ext cx="506234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Présentez un schéma et une justification par brique, en 5 minutes.</a:t>
            </a:r>
            <a:endParaRPr lang="en-US" sz="1200" dirty="0"/>
          </a:p>
        </p:txBody>
      </p:sp>
      <p:sp>
        <p:nvSpPr>
          <p:cNvPr id="43" name="Text 36"/>
          <p:cNvSpPr/>
          <p:nvPr/>
        </p:nvSpPr>
        <p:spPr>
          <a:xfrm>
            <a:off x="6096000" y="5196210"/>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137485"/>
          </a:solidFill>
          <a:ln/>
        </p:spPr>
        <p:txBody>
          <a:bodyPr wrap="square" lIns="0" tIns="0" rIns="0" bIns="0" rtlCol="0" anchor="t">
            <a:normAutofit/>
          </a:bodyPr>
          <a:lstStyle/>
          <a:p>
            <a:pPr marL="0" indent="0" algn="ctr">
              <a:lnSpc>
                <a:spcPts val="2220"/>
              </a:lnSpc>
              <a:buNone/>
            </a:pPr>
            <a:r>
              <a:rPr lang="en-US" sz="1200" b="1" dirty="0">
                <a:solidFill>
                  <a:srgbClr val="FDFCFE"/>
                </a:solidFill>
                <a:latin typeface="IBM Plex Sans" pitchFamily="34" charset="0"/>
                <a:ea typeface="IBM Plex Sans" pitchFamily="34" charset="-122"/>
                <a:cs typeface="IBM Plex Sans" pitchFamily="34" charset="-120"/>
              </a:rPr>
              <a:t>4</a:t>
            </a:r>
            <a:endParaRPr lang="en-US" sz="1200" dirty="0"/>
          </a:p>
        </p:txBody>
      </p:sp>
      <p:sp>
        <p:nvSpPr>
          <p:cNvPr id="44" name="Text 37"/>
          <p:cNvSpPr/>
          <p:nvPr/>
        </p:nvSpPr>
        <p:spPr>
          <a:xfrm>
            <a:off x="6464300" y="5196210"/>
            <a:ext cx="5062347"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462"/>
                </a:solidFill>
                <a:latin typeface="IBM Plex Sans" pitchFamily="34" charset="0"/>
                <a:ea typeface="IBM Plex Sans" pitchFamily="34" charset="-122"/>
                <a:cs typeface="IBM Plex Sans" pitchFamily="34" charset="-120"/>
              </a:rPr>
              <a:t>Pas besoin de code ni de mesure à ce stade : des choix argumentés suffisent.</a:t>
            </a:r>
            <a:endParaRPr lang="en-US" sz="1200" dirty="0"/>
          </a:p>
        </p:txBody>
      </p:sp>
      <p:sp>
        <p:nvSpPr>
          <p:cNvPr id="45" name="Text 38"/>
          <p:cNvSpPr/>
          <p:nvPr/>
        </p:nvSpPr>
        <p:spPr>
          <a:xfrm>
            <a:off x="812800" y="623823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485"/>
                </a:solidFill>
                <a:latin typeface="IBM Plex Sans" pitchFamily="34" charset="0"/>
                <a:ea typeface="IBM Plex Sans" pitchFamily="34" charset="-122"/>
                <a:cs typeface="IBM Plex Sans" pitchFamily="34" charset="-120"/>
              </a:rPr>
              <a:t>EXERCICE · PROJET FIL ROUGE</a:t>
            </a:r>
            <a:endParaRPr lang="en-US" sz="1200" dirty="0"/>
          </a:p>
        </p:txBody>
      </p:sp>
      <p:sp>
        <p:nvSpPr>
          <p:cNvPr id="3" name="Text 1"/>
          <p:cNvSpPr>
            <a:spLocks noGrp="1"/>
          </p:cNvSpPr>
          <p:nvPr>
            <p:ph type="title"/>
          </p:nvPr>
        </p:nvSpPr>
        <p:spPr>
          <a:xfrm>
            <a:off x="812800" y="10769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31B3A"/>
                </a:solidFill>
                <a:latin typeface="IBM Plex Sans" pitchFamily="34" charset="0"/>
                <a:ea typeface="IBM Plex Sans" pitchFamily="34" charset="-122"/>
                <a:cs typeface="IBM Plex Sans" pitchFamily="34" charset="-120"/>
              </a:rPr>
              <a:t>Votre boîte à outils : le cours, slide par slide</a:t>
            </a:r>
            <a:endParaRPr lang="en-US" sz="3200" dirty="0"/>
          </a:p>
        </p:txBody>
      </p:sp>
      <p:sp>
        <p:nvSpPr>
          <p:cNvPr id="4" name="Text 2"/>
          <p:cNvSpPr/>
          <p:nvPr/>
        </p:nvSpPr>
        <p:spPr>
          <a:xfrm>
            <a:off x="812800" y="1727200"/>
            <a:ext cx="10883392"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462"/>
                </a:solidFill>
                <a:latin typeface="IBM Plex Sans" pitchFamily="34" charset="0"/>
                <a:ea typeface="IBM Plex Sans" pitchFamily="34" charset="-122"/>
                <a:cs typeface="IBM Plex Sans" pitchFamily="34" charset="-120"/>
              </a:rPr>
              <a:t>Chaque « ? » du schéma correspond à une question. La réponse se construit avec les slides vues en cours.</a:t>
            </a:r>
            <a:endParaRPr lang="en-US" sz="1400" dirty="0"/>
          </a:p>
        </p:txBody>
      </p:sp>
      <p:sp>
        <p:nvSpPr>
          <p:cNvPr id="5" name="Shape 3"/>
          <p:cNvSpPr/>
          <p:nvPr/>
        </p:nvSpPr>
        <p:spPr>
          <a:xfrm>
            <a:off x="11376025" y="2170435"/>
            <a:ext cx="0" cy="2513330"/>
          </a:xfrm>
          <a:prstGeom prst="line">
            <a:avLst/>
          </a:prstGeom>
          <a:noFill/>
          <a:ln w="6350">
            <a:solidFill>
              <a:srgbClr val="E4E2EA"/>
            </a:solidFill>
            <a:prstDash val="solid"/>
          </a:ln>
        </p:spPr>
        <p:txBody>
          <a:bodyPr/>
          <a:lstStyle/>
          <a:p>
            <a:endParaRPr lang="fr-FR"/>
          </a:p>
        </p:txBody>
      </p:sp>
      <p:sp>
        <p:nvSpPr>
          <p:cNvPr id="6" name="Shape 4"/>
          <p:cNvSpPr/>
          <p:nvPr/>
        </p:nvSpPr>
        <p:spPr>
          <a:xfrm>
            <a:off x="812800" y="4680590"/>
            <a:ext cx="10566400" cy="0"/>
          </a:xfrm>
          <a:prstGeom prst="line">
            <a:avLst/>
          </a:prstGeom>
          <a:noFill/>
          <a:ln w="6350">
            <a:solidFill>
              <a:srgbClr val="E4E2EA"/>
            </a:solidFill>
            <a:prstDash val="solid"/>
          </a:ln>
        </p:spPr>
        <p:txBody>
          <a:bodyPr/>
          <a:lstStyle/>
          <a:p>
            <a:endParaRPr lang="fr-F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80595"/>
          <a:ext cx="10551160" cy="2498090"/>
        </p:xfrm>
        <a:graphic>
          <a:graphicData uri="http://schemas.openxmlformats.org/drawingml/2006/table">
            <a:tbl>
              <a:tblPr/>
              <a:tblGrid>
                <a:gridCol w="4642510">
                  <a:extLst>
                    <a:ext uri="{9D8B030D-6E8A-4147-A177-3AD203B41FA5}">
                      <a16:colId xmlns:a16="http://schemas.microsoft.com/office/drawing/2014/main" val="20000"/>
                    </a:ext>
                  </a:extLst>
                </a:gridCol>
                <a:gridCol w="5908650">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La question à vous poser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tc>
                  <a:txBody>
                    <a:bodyPr/>
                    <a:lstStyle/>
                    <a:p>
                      <a:pPr marL="0" indent="0">
                        <a:lnSpc>
                          <a:spcPts val="1820"/>
                        </a:lnSpc>
                        <a:buNone/>
                      </a:pPr>
                      <a:r>
                        <a:rPr lang="en-US" sz="1300" b="1" dirty="0">
                          <a:solidFill>
                            <a:srgbClr val="F4F1FA"/>
                          </a:solidFill>
                          <a:latin typeface="IBM Plex Sans" pitchFamily="34" charset="0"/>
                          <a:ea typeface="IBM Plex Sans" pitchFamily="34" charset="-122"/>
                          <a:cs typeface="IBM Plex Sans" pitchFamily="34" charset="-120"/>
                        </a:rPr>
                        <a:t>Les slides du cours à relire</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8BA"/>
                      </a:solidFill>
                      <a:prstDash val="solid"/>
                      <a:round/>
                      <a:headEnd type="none" w="med" len="med"/>
                      <a:tailEnd type="none" w="med" len="med"/>
                    </a:lnL>
                    <a:lnR w="12700" cap="flat" cmpd="sng" algn="ctr">
                      <a:solidFill>
                        <a:srgbClr val="B9B8BA"/>
                      </a:solidFill>
                      <a:prstDash val="solid"/>
                      <a:round/>
                      <a:headEnd type="none" w="med" len="med"/>
                      <a:tailEnd type="none" w="med" len="med"/>
                    </a:lnR>
                    <a:lnT w="12700" cap="flat" cmpd="sng" algn="ctr">
                      <a:solidFill>
                        <a:srgbClr val="C7C6C9"/>
                      </a:solidFill>
                      <a:prstDash val="solid"/>
                      <a:round/>
                      <a:headEnd type="none" w="med" len="med"/>
                      <a:tailEnd type="none" w="med" len="med"/>
                    </a:lnT>
                    <a:lnB w="12700" cap="flat" cmpd="sng" algn="ctr">
                      <a:solidFill>
                        <a:srgbClr val="B9B8BA"/>
                      </a:solidFill>
                      <a:prstDash val="solid"/>
                      <a:round/>
                      <a:headEnd type="none" w="med" len="med"/>
                      <a:tailEnd type="none" w="med" len="med"/>
                    </a:lnB>
                    <a:solidFill>
                      <a:srgbClr val="E8E6E9"/>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Chez quel fournisseur, dans quelle région ?</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Panorama · Souveraineté et alternatives · Région et zone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B9B8BA"/>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Où tournent l’interface et les traitements ?</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Services de calcul · Du contrôle à la délégation · VM ou conteneur</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CPU ou GPU pour la transcription ?</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Pourquoi l’IA a besoin du cloud · Les familles GPU</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Où ranger les vidéos, les résultats, les statuts ?</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Trois types de stockage · Réplication et sauvegarde · DBaaS</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Qu’est-ce qui est exposé, qui accède à quoi ?</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Le VPC · Les briques du réseau · Firewalls et IAM</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A"/>
                      </a:solidFill>
                      <a:prstDash val="solid"/>
                      <a:round/>
                      <a:headEnd type="none" w="med" len="med"/>
                      <a:tailEnd type="none" w="med" len="med"/>
                    </a:lnL>
                    <a:lnR w="12700" cap="flat" cmpd="sng" algn="ctr">
                      <a:solidFill>
                        <a:srgbClr val="CAC9CA"/>
                      </a:solidFill>
                      <a:prstDash val="solid"/>
                      <a:round/>
                      <a:headEnd type="none" w="med" len="med"/>
                      <a:tailEnd type="none" w="med" len="med"/>
                    </a:lnR>
                    <a:lnT w="12700" cap="flat" cmpd="sng" algn="ctr">
                      <a:solidFill>
                        <a:srgbClr val="C0BEC5"/>
                      </a:solidFill>
                      <a:prstDash val="solid"/>
                      <a:round/>
                      <a:headEnd type="none" w="med" len="med"/>
                      <a:tailEnd type="none" w="med" len="med"/>
                    </a:lnT>
                    <a:lnB w="12700" cap="flat" cmpd="sng" algn="ctr">
                      <a:solidFill>
                        <a:srgbClr val="CAC9CA"/>
                      </a:solidFill>
                      <a:prstDash val="solid"/>
                      <a:round/>
                      <a:headEnd type="none" w="med" len="med"/>
                      <a:tailEnd type="none" w="med" len="med"/>
                    </a:lnB>
                    <a:solidFill>
                      <a:srgbClr val="FDFCFE"/>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231B3A"/>
                          </a:solidFill>
                          <a:latin typeface="IBM Plex Sans" pitchFamily="34" charset="0"/>
                          <a:ea typeface="IBM Plex Sans" pitchFamily="34" charset="-122"/>
                          <a:cs typeface="IBM Plex Sans" pitchFamily="34" charset="-120"/>
                        </a:rPr>
                        <a:t>Combien cela coûte-t-il par an ?</a:t>
                      </a:r>
                      <a:endParaRPr lang="en-US" sz="1300" dirty="0">
                        <a:latin typeface="IBM Plex Sans" charset="0"/>
                        <a:ea typeface="IBM Plex Sans" charset="0"/>
                        <a:cs typeface="IBM Plex Sans" charset="0"/>
                      </a:endParaRPr>
                    </a:p>
                  </a:txBody>
                  <a:tcPr marL="57785" marR="57785" marT="57785" marB="57785">
                    <a:lnL w="12700" cap="flat" cmpd="sng" algn="ctr">
                      <a:solidFill>
                        <a:srgbClr val="C7C6C9"/>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tc>
                  <a:txBody>
                    <a:bodyPr/>
                    <a:lstStyle/>
                    <a:p>
                      <a:pPr marL="0" indent="0">
                        <a:lnSpc>
                          <a:spcPts val="1820"/>
                        </a:lnSpc>
                        <a:buNone/>
                      </a:pPr>
                      <a:r>
                        <a:rPr lang="en-US" sz="1300" dirty="0">
                          <a:solidFill>
                            <a:srgbClr val="4A4462"/>
                          </a:solidFill>
                          <a:latin typeface="IBM Plex Sans" pitchFamily="34" charset="0"/>
                          <a:ea typeface="IBM Plex Sans" pitchFamily="34" charset="-122"/>
                          <a:cs typeface="IBM Plex Sans" pitchFamily="34" charset="-120"/>
                        </a:rPr>
                        <a:t>IaaS, PaaS, SaaS · Maîtriser le coût du GPU</a:t>
                      </a:r>
                      <a:endParaRPr lang="en-US" sz="1300" dirty="0">
                        <a:latin typeface="IBM Plex Sans" charset="0"/>
                        <a:ea typeface="IBM Plex Sans" charset="0"/>
                        <a:cs typeface="IBM Plex Sans" charset="0"/>
                      </a:endParaRPr>
                    </a:p>
                  </a:txBody>
                  <a:tcPr marL="57785" marR="57785" marT="57785" marB="57785">
                    <a:lnL w="12700" cap="flat" cmpd="sng" algn="ctr">
                      <a:solidFill>
                        <a:srgbClr val="C0BEC5"/>
                      </a:solidFill>
                      <a:prstDash val="solid"/>
                      <a:round/>
                      <a:headEnd type="none" w="med" len="med"/>
                      <a:tailEnd type="none" w="med" len="med"/>
                    </a:lnL>
                    <a:lnR w="12700" cap="flat" cmpd="sng" algn="ctr">
                      <a:solidFill>
                        <a:srgbClr val="C0BEC5"/>
                      </a:solidFill>
                      <a:prstDash val="solid"/>
                      <a:round/>
                      <a:headEnd type="none" w="med" len="med"/>
                      <a:tailEnd type="none" w="med" len="med"/>
                    </a:lnR>
                    <a:lnT w="12700" cap="flat" cmpd="sng" algn="ctr">
                      <a:solidFill>
                        <a:srgbClr val="CAC9CA"/>
                      </a:solidFill>
                      <a:prstDash val="solid"/>
                      <a:round/>
                      <a:headEnd type="none" w="med" len="med"/>
                      <a:tailEnd type="none" w="med" len="med"/>
                    </a:lnT>
                    <a:lnB w="12700" cap="flat" cmpd="sng" algn="ctr">
                      <a:solidFill>
                        <a:srgbClr val="C0BEC5"/>
                      </a:solidFill>
                      <a:prstDash val="solid"/>
                      <a:round/>
                      <a:headEnd type="none" w="med" len="med"/>
                      <a:tailEnd type="none" w="med" len="med"/>
                    </a:lnB>
                    <a:solidFill>
                      <a:srgbClr val="F1EEF7"/>
                    </a:solidFill>
                  </a:tcPr>
                </a:tc>
                <a:extLst>
                  <a:ext uri="{0D108BD9-81ED-4DB2-BD59-A6C34878D82A}">
                    <a16:rowId xmlns:a16="http://schemas.microsoft.com/office/drawing/2014/main" val="10006"/>
                  </a:ext>
                </a:extLst>
              </a:tr>
            </a:tbl>
          </a:graphicData>
        </a:graphic>
      </p:graphicFrame>
      <p:sp>
        <p:nvSpPr>
          <p:cNvPr id="8" name="Text 5"/>
          <p:cNvSpPr/>
          <p:nvPr/>
        </p:nvSpPr>
        <p:spPr>
          <a:xfrm>
            <a:off x="812800" y="4886970"/>
            <a:ext cx="10566400" cy="476885"/>
          </a:xfrm>
          <a:prstGeom prst="roundRect">
            <a:avLst>
              <a:gd name="adj" fmla="val 15979"/>
            </a:avLst>
          </a:prstGeom>
          <a:solidFill>
            <a:srgbClr val="D3EDF1"/>
          </a:solidFill>
          <a:ln/>
        </p:spPr>
        <p:txBody>
          <a:bodyPr wrap="square" lIns="155482" tIns="104682" rIns="0" bIns="79282" rtlCol="0" anchor="t">
            <a:normAutofit/>
          </a:bodyPr>
          <a:lstStyle/>
          <a:p>
            <a:pPr marL="0" indent="0" algn="l">
              <a:lnSpc>
                <a:spcPts val="1755"/>
              </a:lnSpc>
              <a:buNone/>
            </a:pPr>
            <a:r>
              <a:rPr lang="en-US" sz="1300" b="1" dirty="0">
                <a:solidFill>
                  <a:srgbClr val="231B3A"/>
                </a:solidFill>
                <a:latin typeface="IBM Plex Sans" pitchFamily="34" charset="0"/>
                <a:ea typeface="IBM Plex Sans" pitchFamily="34" charset="-122"/>
                <a:cs typeface="IBM Plex Sans" pitchFamily="34" charset="-120"/>
              </a:rPr>
              <a:t>Point de départ :</a:t>
            </a:r>
            <a:r>
              <a:rPr lang="en-US" sz="1300" dirty="0">
                <a:solidFill>
                  <a:srgbClr val="231B3A"/>
                </a:solidFill>
                <a:latin typeface="IBM Plex Sans" pitchFamily="34" charset="0"/>
                <a:ea typeface="IBM Plex Sans" pitchFamily="34" charset="-122"/>
                <a:cs typeface="IBM Plex Sans" pitchFamily="34" charset="-120"/>
              </a:rPr>
              <a:t> la slide « Un projet d’IA de bout en bout » donne déjà la forme générale ; il reste à l’adapter au fil rouge.</a:t>
            </a:r>
            <a:endParaRPr lang="en-US" sz="1300" dirty="0"/>
          </a:p>
        </p:txBody>
      </p:sp>
      <p:sp>
        <p:nvSpPr>
          <p:cNvPr id="9" name="Text 6"/>
          <p:cNvSpPr/>
          <p:nvPr/>
        </p:nvSpPr>
        <p:spPr>
          <a:xfrm>
            <a:off x="812800" y="623823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585"/>
                </a:solidFill>
                <a:latin typeface="IBM Plex Sans" pitchFamily="34" charset="0"/>
                <a:ea typeface="IBM Plex Sans" pitchFamily="34" charset="-122"/>
                <a:cs typeface="IBM Plex Sans" pitchFamily="34" charset="-120"/>
              </a:rPr>
              <a:t>Le cloud et ses ressources pour l'IA</a:t>
            </a:r>
            <a:endParaRPr lang="en-US" sz="1200" dirty="0"/>
          </a:p>
        </p:txBody>
      </p:sp>
    </p:spTree>
  </p:cSld>
  <p:clrMapOvr>
    <a:masterClrMapping/>
  </p:clrMapOvr>
</p:sld>
</file>

<file path=ppt/theme/theme1.xml><?xml version="1.0" encoding="utf-8"?>
<a:theme xmlns:a="http://schemas.openxmlformats.org/drawingml/2006/main" name="Le cloud et ses ressources pour l'IA">
  <a:themeElements>
    <a:clrScheme name="Le cloud et ses ressources pour l'IA">
      <a:dk1>
        <a:srgbClr val="231B3A"/>
      </a:dk1>
      <a:lt1>
        <a:srgbClr val="FAF8FC"/>
      </a:lt1>
      <a:dk2>
        <a:srgbClr val="59526B"/>
      </a:dk2>
      <a:lt2>
        <a:srgbClr val="E5E2E9"/>
      </a:lt2>
      <a:accent1>
        <a:srgbClr val="5B2E9E"/>
      </a:accent1>
      <a:accent2>
        <a:srgbClr val="137485"/>
      </a:accent2>
      <a:accent3>
        <a:srgbClr val="FBE5CF"/>
      </a:accent3>
      <a:accent4>
        <a:srgbClr val="A65400"/>
      </a:accent4>
      <a:accent5>
        <a:srgbClr val="7FD3DF"/>
      </a:accent5>
      <a:accent6>
        <a:srgbClr val="4A4462"/>
      </a:accent6>
      <a:hlink>
        <a:srgbClr val="0563C1"/>
      </a:hlink>
      <a:folHlink>
        <a:srgbClr val="954F72"/>
      </a:folHlink>
    </a:clrScheme>
    <a:fontScheme name="Le cloud et ses ressources pour l'I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F07685AB1D6D42B1C8754387C28D03" ma:contentTypeVersion="3" ma:contentTypeDescription="Crée un document." ma:contentTypeScope="" ma:versionID="7ddacc4a3232d172f531f077ad1080b6">
  <xsd:schema xmlns:xsd="http://www.w3.org/2001/XMLSchema" xmlns:xs="http://www.w3.org/2001/XMLSchema" xmlns:p="http://schemas.microsoft.com/office/2006/metadata/properties" xmlns:ns2="4d1d7550-f116-4197-9c89-6add1d81ee4d" targetNamespace="http://schemas.microsoft.com/office/2006/metadata/properties" ma:root="true" ma:fieldsID="7dc006241ae412d4b51568a261a6e937" ns2:_="">
    <xsd:import namespace="4d1d7550-f116-4197-9c89-6add1d81ee4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1d7550-f116-4197-9c89-6add1d81ee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B8F946-21A8-45BE-AA12-65D28B153593}"/>
</file>

<file path=customXml/itemProps2.xml><?xml version="1.0" encoding="utf-8"?>
<ds:datastoreItem xmlns:ds="http://schemas.openxmlformats.org/officeDocument/2006/customXml" ds:itemID="{06C14DC0-4EDE-47AC-9925-0067EA851735}"/>
</file>

<file path=customXml/itemProps3.xml><?xml version="1.0" encoding="utf-8"?>
<ds:datastoreItem xmlns:ds="http://schemas.openxmlformats.org/officeDocument/2006/customXml" ds:itemID="{02D3D4B8-0081-4441-AD89-DF4BD5129A37}"/>
</file>

<file path=docProps/app.xml><?xml version="1.0" encoding="utf-8"?>
<Properties xmlns="http://schemas.openxmlformats.org/officeDocument/2006/extended-properties" xmlns:vt="http://schemas.openxmlformats.org/officeDocument/2006/docPropsVTypes">
  <TotalTime>31</TotalTime>
  <Words>6438</Words>
  <Application>Microsoft Office PowerPoint</Application>
  <PresentationFormat>Grand écran</PresentationFormat>
  <Paragraphs>727</Paragraphs>
  <Slides>32</Slides>
  <Notes>32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32</vt:i4>
      </vt:variant>
    </vt:vector>
  </HeadingPairs>
  <TitlesOfParts>
    <vt:vector size="35" baseType="lpstr">
      <vt:lpstr>Arial</vt:lpstr>
      <vt:lpstr>IBM Plex Sans</vt:lpstr>
      <vt:lpstr>Le cloud et ses ressources pour l'IA</vt:lpstr>
      <vt:lpstr>Le cloud et ses ressources pour l'IA</vt:lpstr>
      <vt:lpstr>Objectifs de la séance</vt:lpstr>
      <vt:lpstr>Sommaire</vt:lpstr>
      <vt:lpstr>Le cloud computing, en une phrase</vt:lpstr>
      <vt:lpstr>Cloud ou on-premise : comment arbitrer ?</vt:lpstr>
      <vt:lpstr>Pourquoi l’IA a particulièrement besoin du cloud</vt:lpstr>
      <vt:lpstr>Les types de cloud : public, privé, hybride</vt:lpstr>
      <vt:lpstr>IaaS, PaaS, SaaS : qui gère quoi ?</vt:lpstr>
      <vt:lpstr>Penser cloud native : monolithe ou micro-services ?</vt:lpstr>
      <vt:lpstr>Panorama des trois grands fournisseurs</vt:lpstr>
      <vt:lpstr>Au-delà des trois grands : souveraineté et alternatives</vt:lpstr>
      <vt:lpstr>Le vocabulaire commun : région et zone de disponibilité</vt:lpstr>
      <vt:lpstr>Machine virtuelle ou conteneur ?</vt:lpstr>
      <vt:lpstr>Hyperviseur et noyau : quelques notions</vt:lpstr>
      <vt:lpstr>Les services de calcul chez les trois fournisseurs</vt:lpstr>
      <vt:lpstr>Où faire tourner ses conteneurs : du contrôle à la délégation</vt:lpstr>
      <vt:lpstr>Le calcul spécialisé pour l’IA : les familles GPU</vt:lpstr>
      <vt:lpstr>Le VPC : votre réseau privé dans le cloud</vt:lpstr>
      <vt:lpstr>Lire le schéma : les briques du réseau</vt:lpstr>
      <vt:lpstr>Sécuriser : firewalls et gestion des accès (IAM)</vt:lpstr>
      <vt:lpstr>Trois types de stockage, un usage chacun</vt:lpstr>
      <vt:lpstr>La réplication n’est pas une sauvegarde</vt:lpstr>
      <vt:lpstr>Base de données : à gérer soi-même ou en service managé ?</vt:lpstr>
      <vt:lpstr>Un projet d’IA de bout en bout dans le cloud</vt:lpstr>
      <vt:lpstr>Entraîner et déployer ses propres modèles</vt:lpstr>
      <vt:lpstr>Consommer un modèle déjà entraîné</vt:lpstr>
      <vt:lpstr>Maîtriser le coût du calcul GPU</vt:lpstr>
      <vt:lpstr>Quel provider pour quel besoin ?</vt:lpstr>
      <vt:lpstr>Ce qu’il faut retenir</vt:lpstr>
      <vt:lpstr>Présentez un fournisseur cloud</vt:lpstr>
      <vt:lpstr>Proposez l'architecture cloud du fil rouge</vt:lpstr>
      <vt:lpstr>Votre boîte à outils : le cours, slide par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cloud et ses ressources pour l'IA</dc:title>
  <dc:subject/>
  <dc:creator/>
  <cp:lastModifiedBy>TOTO Alexandre</cp:lastModifiedBy>
  <cp:revision>2</cp:revision>
  <dcterms:created xsi:type="dcterms:W3CDTF">2026-10-06T13:33:40Z</dcterms:created>
  <dcterms:modified xsi:type="dcterms:W3CDTF">2026-10-07T06:09:05Z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0x01010021F07685AB1D6D42B1C8754387C28D03</vt:lpwstr>
  </property>
</Properties>
</file>